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README.md; docs/methodology.md; docs/internal/auth.md; docs/реальные проверки/ОТЧЁТ.md (20–21.10.2026). Скриншоты профилей и плана показывают демонстрационные данные. A1, B1 и C1 — специально составленные тестовые персоны. Стоимость и повторяемость измерены реальными запросами к ИИ. Расчёт на 10 000 человек не является нагрузочным испытанием. BuildEX и BIU указаны как направления обучения; интеграция с ними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3A487E-C90A-44A2-9BDF-7116E2F935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8E8EC8-E33C-4A70-A5B7-D2EC2E5B5D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21945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A5E3D6-5E32-4B74-911C-93115EBDC61B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ЗАЩИТА ПРОЕКТА · ЗАДАНИЕ BI GROUP</a:t>
            </a:r>
            <a:endParaRPr sz="13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E22D42-992E-4DA0-AA2A-3C147BAB5E5D}"/>
              </a:ext>
            </a:extLst>
          </p:cNvPr>
          <p:cNvSpPr>
            <a:spLocks noGrp="1"/>
          </p:cNvSpPr>
          <p:nvPr/>
        </p:nvSpPr>
        <p:spPr>
          <a:xfrm>
            <a:off x="548640" y="105156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BI Academy</a:t>
            </a:r>
            <a:endParaRPr sz="6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F2DD86-1957-46CB-BCA1-9FE0EAF51847}"/>
              </a:ext>
            </a:extLst>
          </p:cNvPr>
          <p:cNvSpPr>
            <a:spLocks noGrp="1"/>
          </p:cNvSpPr>
          <p:nvPr/>
        </p:nvSpPr>
        <p:spPr>
          <a:xfrm>
            <a:off x="548640" y="2103120"/>
            <a:ext cx="60350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200">
                <a:solidFill>
                  <a:srgbClr val="63B3FF"/>
                </a:solidFill>
                <a:latin typeface="Segoe UI"/>
                <a:ea typeface="Segoe UI"/>
                <a:cs typeface="Segoe UI"/>
              </a:rPr>
              <a:t>15 вопросов о работе на стройке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63B3FF"/>
                </a:solidFill>
                <a:latin typeface="Segoe UI"/>
                <a:ea typeface="Segoe UI"/>
                <a:cs typeface="Segoe UI"/>
              </a:rPr>
              <a:t>4 качества в процентах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63B3FF"/>
                </a:solidFill>
                <a:latin typeface="Segoe UI"/>
                <a:ea typeface="Segoe UI"/>
                <a:cs typeface="Segoe UI"/>
              </a:rPr>
              <a:t>План развития на 30 дней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152AF14-5BB6-4D31-B89F-3074EBCFE8DA}"/>
              </a:ext>
            </a:extLst>
          </p:cNvPr>
          <p:cNvSpPr>
            <a:spLocks noGrp="1"/>
          </p:cNvSpPr>
          <p:nvPr/>
        </p:nvSpPr>
        <p:spPr>
          <a:xfrm>
            <a:off x="548640" y="338328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 dirty="0" err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Сотрудник</a:t>
            </a:r>
            <a:r>
              <a:rPr sz="1500" dirty="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dirty="0" err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получает</a:t>
            </a:r>
            <a:r>
              <a:rPr sz="1500" dirty="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dirty="0" err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оценку</a:t>
            </a:r>
            <a:r>
              <a:rPr sz="1500" dirty="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 с </a:t>
            </a:r>
            <a:r>
              <a:rPr sz="1500" dirty="0" err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объяснением</a:t>
            </a:r>
            <a:r>
              <a:rPr sz="1500" dirty="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.</a:t>
            </a:r>
            <a:endParaRPr sz="1500" dirty="0"/>
          </a:p>
          <a:p>
            <a:pPr marL="0" indent="0">
              <a:buNone/>
            </a:pPr>
            <a:r>
              <a:rPr sz="1500" dirty="0" err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Руководитель</a:t>
            </a:r>
            <a:r>
              <a:rPr sz="1500" dirty="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dirty="0" err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видит</a:t>
            </a:r>
            <a:r>
              <a:rPr sz="1500" dirty="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500" dirty="0" err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кому</a:t>
            </a:r>
            <a:r>
              <a:rPr sz="1500" dirty="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 и в </a:t>
            </a:r>
            <a:r>
              <a:rPr sz="1500" dirty="0" err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чём</a:t>
            </a:r>
            <a:r>
              <a:rPr sz="1500" dirty="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dirty="0" err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нужна</a:t>
            </a:r>
            <a:r>
              <a:rPr sz="1500" dirty="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dirty="0" err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помощь</a:t>
            </a:r>
            <a:r>
              <a:rPr sz="1500" dirty="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.</a:t>
            </a:r>
            <a:endParaRPr lang="ru-RU" sz="1500" dirty="0">
              <a:solidFill>
                <a:srgbClr val="9FB4CC"/>
              </a:solidFill>
              <a:latin typeface="Segoe UI"/>
              <a:ea typeface="Segoe UI"/>
              <a:cs typeface="Segoe UI"/>
            </a:endParaRPr>
          </a:p>
          <a:p>
            <a:pPr marL="0" indent="0">
              <a:buNone/>
            </a:pPr>
            <a:r>
              <a:rPr lang="ru-RU" sz="1500" dirty="0">
                <a:solidFill>
                  <a:srgbClr val="9FB4CC"/>
                </a:solidFill>
                <a:latin typeface="Segoe UI"/>
                <a:cs typeface="Segoe UI"/>
              </a:rPr>
              <a:t>Доступ – </a:t>
            </a:r>
            <a:r>
              <a:rPr lang="en-US" sz="1500">
                <a:solidFill>
                  <a:srgbClr val="9FB4CC"/>
                </a:solidFill>
                <a:latin typeface="Segoe UI"/>
                <a:cs typeface="Segoe UI"/>
              </a:rPr>
              <a:t>bigroup.pin-planet</a:t>
            </a:r>
            <a:r>
              <a:rPr lang="en-US" sz="1500" dirty="0">
                <a:solidFill>
                  <a:srgbClr val="9FB4CC"/>
                </a:solidFill>
                <a:latin typeface="Segoe UI"/>
                <a:cs typeface="Segoe UI"/>
              </a:rPr>
              <a:t>.org</a:t>
            </a:r>
            <a:endParaRPr sz="15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BA86DCF-AE4A-4594-960C-09B06EE7E64A}"/>
              </a:ext>
            </a:extLst>
          </p:cNvPr>
          <p:cNvSpPr>
            <a:spLocks noGrp="1"/>
          </p:cNvSpPr>
          <p:nvPr/>
        </p:nvSpPr>
        <p:spPr>
          <a:xfrm>
            <a:off x="548640" y="4434840"/>
            <a:ext cx="1353312" cy="1188720"/>
          </a:xfrm>
          <a:prstGeom prst="roundRect">
            <a:avLst>
              <a:gd name="adj" fmla="val 6923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AE32A86-B7CF-4F2B-A6F2-DC2600B2AAD8}"/>
              </a:ext>
            </a:extLst>
          </p:cNvPr>
          <p:cNvSpPr>
            <a:spLocks noGrp="1"/>
          </p:cNvSpPr>
          <p:nvPr/>
        </p:nvSpPr>
        <p:spPr>
          <a:xfrm>
            <a:off x="548640" y="4498848"/>
            <a:ext cx="1353312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15</a:t>
            </a:r>
            <a:endParaRPr sz="3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F9320D4-CDA5-4BDC-B7C5-40DA617F332E}"/>
              </a:ext>
            </a:extLst>
          </p:cNvPr>
          <p:cNvSpPr>
            <a:spLocks noGrp="1"/>
          </p:cNvSpPr>
          <p:nvPr/>
        </p:nvSpPr>
        <p:spPr>
          <a:xfrm>
            <a:off x="548640" y="5047488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0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вопросов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о работе</a:t>
            </a:r>
            <a:endParaRPr sz="10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3302EA3-0CBB-4EED-A6C0-FD1BE2C5C8A9}"/>
              </a:ext>
            </a:extLst>
          </p:cNvPr>
          <p:cNvSpPr>
            <a:spLocks noGrp="1"/>
          </p:cNvSpPr>
          <p:nvPr/>
        </p:nvSpPr>
        <p:spPr>
          <a:xfrm>
            <a:off x="2029968" y="4434840"/>
            <a:ext cx="1353312" cy="1188720"/>
          </a:xfrm>
          <a:prstGeom prst="roundRect">
            <a:avLst>
              <a:gd name="adj" fmla="val 6923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F88E5B2-89B1-4497-B010-3D6CCF162E15}"/>
              </a:ext>
            </a:extLst>
          </p:cNvPr>
          <p:cNvSpPr>
            <a:spLocks noGrp="1"/>
          </p:cNvSpPr>
          <p:nvPr/>
        </p:nvSpPr>
        <p:spPr>
          <a:xfrm>
            <a:off x="2029968" y="4498848"/>
            <a:ext cx="1353312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4</a:t>
            </a:r>
            <a:endParaRPr sz="3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95401B2-EAD8-4B0A-BF4F-1467A890E752}"/>
              </a:ext>
            </a:extLst>
          </p:cNvPr>
          <p:cNvSpPr>
            <a:spLocks noGrp="1"/>
          </p:cNvSpPr>
          <p:nvPr/>
        </p:nvSpPr>
        <p:spPr>
          <a:xfrm>
            <a:off x="2029968" y="5047488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0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качества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в процентах</a:t>
            </a:r>
            <a:endParaRPr sz="10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291D25E-23CA-45FB-8814-6C8F1C834C0E}"/>
              </a:ext>
            </a:extLst>
          </p:cNvPr>
          <p:cNvSpPr>
            <a:spLocks noGrp="1"/>
          </p:cNvSpPr>
          <p:nvPr/>
        </p:nvSpPr>
        <p:spPr>
          <a:xfrm>
            <a:off x="3511296" y="4434840"/>
            <a:ext cx="1353312" cy="1188720"/>
          </a:xfrm>
          <a:prstGeom prst="roundRect">
            <a:avLst>
              <a:gd name="adj" fmla="val 6923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516E367-DAC1-4581-8E1B-8B8B5CFB53CB}"/>
              </a:ext>
            </a:extLst>
          </p:cNvPr>
          <p:cNvSpPr>
            <a:spLocks noGrp="1"/>
          </p:cNvSpPr>
          <p:nvPr/>
        </p:nvSpPr>
        <p:spPr>
          <a:xfrm>
            <a:off x="3511296" y="4498848"/>
            <a:ext cx="1353312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16</a:t>
            </a:r>
            <a:endParaRPr sz="3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E2A1302-48F7-471C-A2D5-3614C6697D74}"/>
              </a:ext>
            </a:extLst>
          </p:cNvPr>
          <p:cNvSpPr>
            <a:spLocks noGrp="1"/>
          </p:cNvSpPr>
          <p:nvPr/>
        </p:nvSpPr>
        <p:spPr>
          <a:xfrm>
            <a:off x="3511296" y="5047488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0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рабочих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архетипов</a:t>
            </a:r>
            <a:endParaRPr sz="10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399B5F7-F460-4075-834E-D4E78526C0B7}"/>
              </a:ext>
            </a:extLst>
          </p:cNvPr>
          <p:cNvSpPr>
            <a:spLocks noGrp="1"/>
          </p:cNvSpPr>
          <p:nvPr/>
        </p:nvSpPr>
        <p:spPr>
          <a:xfrm>
            <a:off x="4992624" y="4434840"/>
            <a:ext cx="1353312" cy="1188720"/>
          </a:xfrm>
          <a:prstGeom prst="roundRect">
            <a:avLst>
              <a:gd name="adj" fmla="val 6923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BE9B0C1-9FDC-45A1-9B99-2BC2BB5D644D}"/>
              </a:ext>
            </a:extLst>
          </p:cNvPr>
          <p:cNvSpPr>
            <a:spLocks noGrp="1"/>
          </p:cNvSpPr>
          <p:nvPr/>
        </p:nvSpPr>
        <p:spPr>
          <a:xfrm>
            <a:off x="4992624" y="4498848"/>
            <a:ext cx="1353312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30</a:t>
            </a:r>
            <a:endParaRPr sz="3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702B23D-C430-47C1-B9A2-B974A5D6628D}"/>
              </a:ext>
            </a:extLst>
          </p:cNvPr>
          <p:cNvSpPr>
            <a:spLocks noGrp="1"/>
          </p:cNvSpPr>
          <p:nvPr/>
        </p:nvSpPr>
        <p:spPr>
          <a:xfrm>
            <a:off x="4992624" y="5047488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0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дней плана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развития</a:t>
            </a:r>
            <a:endParaRPr sz="10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5FFEA55-11C7-40E6-BC82-DA7F9AB625A4}"/>
              </a:ext>
            </a:extLst>
          </p:cNvPr>
          <p:cNvSpPr>
            <a:spLocks noGrp="1"/>
          </p:cNvSpPr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Наседкин Максим · Чапанов Альберт · Варварюк Андрей</a:t>
            </a:r>
            <a:endParaRPr sz="13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210273D-AEBE-49D5-9C2E-DD7707ED9222}"/>
              </a:ext>
            </a:extLst>
          </p:cNvPr>
          <p:cNvSpPr>
            <a:spLocks noGrp="1"/>
          </p:cNvSpPr>
          <p:nvPr/>
        </p:nvSpPr>
        <p:spPr>
          <a:xfrm>
            <a:off x="6751015" y="1051560"/>
            <a:ext cx="4937760" cy="3120390"/>
          </a:xfrm>
          <a:prstGeom prst="roundRect">
            <a:avLst>
              <a:gd name="adj" fmla="val 2344"/>
            </a:avLst>
          </a:prstGeom>
          <a:solidFill>
            <a:srgbClr val="0F2240"/>
          </a:solidFill>
          <a:ln w="12700">
            <a:solidFill>
              <a:srgbClr val="24467A"/>
            </a:solidFill>
            <a:prstDash val="solid"/>
          </a:ln>
        </p:spPr>
      </p:sp>
      <p:pic>
        <p:nvPicPr>
          <p:cNvPr id="22" name="Image 0">
            <a:extLst>
              <a:ext uri="{FF2B5EF4-FFF2-40B4-BE49-F238E27FC236}">
                <a16:creationId xmlns:a16="http://schemas.microsoft.com/office/drawing/2014/main" id="{BE336E79-4AC1-4940-A0C7-A99C82467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735" y="1097280"/>
            <a:ext cx="4846320" cy="3028950"/>
          </a:xfrm>
          <a:prstGeom prst="rect">
            <a:avLst/>
          </a:prstGeom>
        </p:spPr>
      </p:pic>
      <p:sp>
        <p:nvSpPr>
          <p:cNvPr id="23" name="Text 20">
            <a:extLst>
              <a:ext uri="{FF2B5EF4-FFF2-40B4-BE49-F238E27FC236}">
                <a16:creationId xmlns:a16="http://schemas.microsoft.com/office/drawing/2014/main" id="{7A53E705-AE66-4847-9768-660AF0C4129C}"/>
              </a:ext>
            </a:extLst>
          </p:cNvPr>
          <p:cNvSpPr>
            <a:spLocks noGrp="1"/>
          </p:cNvSpPr>
          <p:nvPr/>
        </p:nvSpPr>
        <p:spPr>
          <a:xfrm>
            <a:off x="6796735" y="423595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Работающий продукт: русский, казахский и английский интерфейс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647636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ADF02A-1AC6-49B7-811E-B71F041A2E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56E1A5-30E0-439E-8900-B3929BC4E8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BAA22D-C6BC-43DA-B976-79FD8EC17BDA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ЗАДАНИЕ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C2C48AC-2590-457E-AAD4-777A01A146DD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Что реализовано по заданию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272221-4D08-4350-ACB2-BCD6C3DBA4A5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spc="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BI ACADEMY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E3FA333-4230-4818-A306-EB5F8FDB354C}"/>
              </a:ext>
            </a:extLst>
          </p:cNvPr>
          <p:cNvSpPr>
            <a:spLocks noGrp="1"/>
          </p:cNvSpPr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FB4CC"/>
                </a:solidFill>
                <a:latin typeface="Consolas"/>
                <a:ea typeface="Consolas"/>
                <a:cs typeface="Consolas"/>
              </a:rPr>
              <a:t>02</a:t>
            </a:r>
            <a:endParaRPr sz="10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72082F-8272-4A46-8F46-0CEF3D0FA8B3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3749040" cy="640080"/>
          </a:xfrm>
          <a:prstGeom prst="roundRect">
            <a:avLst>
              <a:gd name="adj" fmla="val 12857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9924648-774F-4329-AB22-B39514DDD066}"/>
              </a:ext>
            </a:extLst>
          </p:cNvPr>
          <p:cNvSpPr>
            <a:spLocks noGrp="1"/>
          </p:cNvSpPr>
          <p:nvPr/>
        </p:nvSpPr>
        <p:spPr>
          <a:xfrm>
            <a:off x="685800" y="1865376"/>
            <a:ext cx="329184" cy="329184"/>
          </a:xfrm>
          <a:prstGeom prst="ellipse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5A2F0FC-2970-4DF3-A64C-7446DDEEDCB9}"/>
              </a:ext>
            </a:extLst>
          </p:cNvPr>
          <p:cNvSpPr>
            <a:spLocks noGrp="1"/>
          </p:cNvSpPr>
          <p:nvPr/>
        </p:nvSpPr>
        <p:spPr>
          <a:xfrm>
            <a:off x="685800" y="18653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0A1A30"/>
                </a:solidFill>
                <a:latin typeface="Segoe UI Semibold"/>
                <a:ea typeface="Segoe UI Semibold"/>
                <a:cs typeface="Segoe UI Semibold"/>
              </a:rPr>
              <a:t>✓</a:t>
            </a:r>
            <a:endParaRPr sz="14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B36B5BE-40A4-4256-9D9D-7FB667214A3E}"/>
              </a:ext>
            </a:extLst>
          </p:cNvPr>
          <p:cNvSpPr>
            <a:spLocks noGrp="1"/>
          </p:cNvSpPr>
          <p:nvPr/>
        </p:nvSpPr>
        <p:spPr>
          <a:xfrm>
            <a:off x="1143000" y="169164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Тест из 15 вопросов</a:t>
            </a:r>
            <a:endParaRPr sz="14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9813973-D2B5-4B2E-999F-0B7BE67A1FF5}"/>
              </a:ext>
            </a:extLst>
          </p:cNvPr>
          <p:cNvSpPr>
            <a:spLocks noGrp="1"/>
          </p:cNvSpPr>
          <p:nvPr/>
        </p:nvSpPr>
        <p:spPr>
          <a:xfrm>
            <a:off x="4389120" y="1691640"/>
            <a:ext cx="7253935" cy="640080"/>
          </a:xfrm>
          <a:prstGeom prst="roundRect">
            <a:avLst>
              <a:gd name="adj" fmla="val 12857"/>
            </a:avLst>
          </a:prstGeom>
          <a:solidFill>
            <a:srgbClr val="0F2240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4E3B379-00BD-4A3E-9F2D-6FD032EAAE73}"/>
              </a:ext>
            </a:extLst>
          </p:cNvPr>
          <p:cNvSpPr>
            <a:spLocks noGrp="1"/>
          </p:cNvSpPr>
          <p:nvPr/>
        </p:nvSpPr>
        <p:spPr>
          <a:xfrm>
            <a:off x="4553712" y="1691640"/>
            <a:ext cx="693389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10 ситуаций с выбором + 5 открытых вопросов. Итог — один из 16 рабочих архетипов (код из 4 букв)</a:t>
            </a:r>
            <a:endParaRPr sz="13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75848F7-6D55-4857-8166-B343BF9238C4}"/>
              </a:ext>
            </a:extLst>
          </p:cNvPr>
          <p:cNvSpPr>
            <a:spLocks noGrp="1"/>
          </p:cNvSpPr>
          <p:nvPr/>
        </p:nvSpPr>
        <p:spPr>
          <a:xfrm>
            <a:off x="548640" y="2423160"/>
            <a:ext cx="3749040" cy="640080"/>
          </a:xfrm>
          <a:prstGeom prst="roundRect">
            <a:avLst>
              <a:gd name="adj" fmla="val 12857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C35CEC87-52DC-42AF-A8CC-A62FEDF67CFC}"/>
              </a:ext>
            </a:extLst>
          </p:cNvPr>
          <p:cNvSpPr>
            <a:spLocks noGrp="1"/>
          </p:cNvSpPr>
          <p:nvPr/>
        </p:nvSpPr>
        <p:spPr>
          <a:xfrm>
            <a:off x="685800" y="2596896"/>
            <a:ext cx="329184" cy="329184"/>
          </a:xfrm>
          <a:prstGeom prst="ellipse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F8BE692-AC48-4B05-BF3C-B552308C19B6}"/>
              </a:ext>
            </a:extLst>
          </p:cNvPr>
          <p:cNvSpPr>
            <a:spLocks noGrp="1"/>
          </p:cNvSpPr>
          <p:nvPr/>
        </p:nvSpPr>
        <p:spPr>
          <a:xfrm>
            <a:off x="685800" y="259689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0A1A30"/>
                </a:solidFill>
                <a:latin typeface="Segoe UI Semibold"/>
                <a:ea typeface="Segoe UI Semibold"/>
                <a:cs typeface="Segoe UI Semibold"/>
              </a:rPr>
              <a:t>✓</a:t>
            </a:r>
            <a:endParaRPr sz="14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0CB64F3-12CF-41B6-AFD5-370AE5980C46}"/>
              </a:ext>
            </a:extLst>
          </p:cNvPr>
          <p:cNvSpPr>
            <a:spLocks noGrp="1"/>
          </p:cNvSpPr>
          <p:nvPr/>
        </p:nvSpPr>
        <p:spPr>
          <a:xfrm>
            <a:off x="1143000" y="242316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Четыре качества в процентах</a:t>
            </a:r>
            <a:endParaRPr sz="140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924A8D4D-046C-4229-9CA9-3FC010ABF37C}"/>
              </a:ext>
            </a:extLst>
          </p:cNvPr>
          <p:cNvSpPr>
            <a:spLocks noGrp="1"/>
          </p:cNvSpPr>
          <p:nvPr/>
        </p:nvSpPr>
        <p:spPr>
          <a:xfrm>
            <a:off x="4389120" y="2423160"/>
            <a:ext cx="7253935" cy="640080"/>
          </a:xfrm>
          <a:prstGeom prst="roundRect">
            <a:avLst>
              <a:gd name="adj" fmla="val 12857"/>
            </a:avLst>
          </a:prstGeom>
          <a:solidFill>
            <a:srgbClr val="0F2240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ECB738E-555A-4208-AC66-1E6969475986}"/>
              </a:ext>
            </a:extLst>
          </p:cNvPr>
          <p:cNvSpPr>
            <a:spLocks noGrp="1"/>
          </p:cNvSpPr>
          <p:nvPr/>
        </p:nvSpPr>
        <p:spPr>
          <a:xfrm>
            <a:off x="4553712" y="2423160"/>
            <a:ext cx="693389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Критическое мышление, уверенность, дисциплина, вовлечённость: радар, 4 шкалы, объяснение каждого процента</a:t>
            </a:r>
            <a:endParaRPr sz="130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9D077F7-79E0-476B-A8D9-D393A197D774}"/>
              </a:ext>
            </a:extLst>
          </p:cNvPr>
          <p:cNvSpPr>
            <a:spLocks noGrp="1"/>
          </p:cNvSpPr>
          <p:nvPr/>
        </p:nvSpPr>
        <p:spPr>
          <a:xfrm>
            <a:off x="548640" y="3154680"/>
            <a:ext cx="3749040" cy="640080"/>
          </a:xfrm>
          <a:prstGeom prst="roundRect">
            <a:avLst>
              <a:gd name="adj" fmla="val 12857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141480EB-167B-4B66-84BE-69F2923A07DB}"/>
              </a:ext>
            </a:extLst>
          </p:cNvPr>
          <p:cNvSpPr>
            <a:spLocks noGrp="1"/>
          </p:cNvSpPr>
          <p:nvPr/>
        </p:nvSpPr>
        <p:spPr>
          <a:xfrm>
            <a:off x="685800" y="3328416"/>
            <a:ext cx="329184" cy="329184"/>
          </a:xfrm>
          <a:prstGeom prst="ellipse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3046AED-90E4-4988-9BC4-22F5F9B79859}"/>
              </a:ext>
            </a:extLst>
          </p:cNvPr>
          <p:cNvSpPr>
            <a:spLocks noGrp="1"/>
          </p:cNvSpPr>
          <p:nvPr/>
        </p:nvSpPr>
        <p:spPr>
          <a:xfrm>
            <a:off x="685800" y="33284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0A1A30"/>
                </a:solidFill>
                <a:latin typeface="Segoe UI Semibold"/>
                <a:ea typeface="Segoe UI Semibold"/>
                <a:cs typeface="Segoe UI Semibold"/>
              </a:rPr>
              <a:t>✓</a:t>
            </a:r>
            <a:endParaRPr sz="14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CE0AB91-CDE0-4820-894D-4AE335AB96A6}"/>
              </a:ext>
            </a:extLst>
          </p:cNvPr>
          <p:cNvSpPr>
            <a:spLocks noGrp="1"/>
          </p:cNvSpPr>
          <p:nvPr/>
        </p:nvSpPr>
        <p:spPr>
          <a:xfrm>
            <a:off x="1143000" y="31546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Реальные рабочие ситуации стройки</a:t>
            </a:r>
            <a:endParaRPr sz="140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FF0EFF2E-879B-4D4C-8DB6-58E1AEE0AB97}"/>
              </a:ext>
            </a:extLst>
          </p:cNvPr>
          <p:cNvSpPr>
            <a:spLocks noGrp="1"/>
          </p:cNvSpPr>
          <p:nvPr/>
        </p:nvSpPr>
        <p:spPr>
          <a:xfrm>
            <a:off x="4389120" y="3154680"/>
            <a:ext cx="7253935" cy="640080"/>
          </a:xfrm>
          <a:prstGeom prst="roundRect">
            <a:avLst>
              <a:gd name="adj" fmla="val 12857"/>
            </a:avLst>
          </a:prstGeom>
          <a:solidFill>
            <a:srgbClr val="0F2240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880B1397-2ED2-4AC2-8676-80DAC5643CE1}"/>
              </a:ext>
            </a:extLst>
          </p:cNvPr>
          <p:cNvSpPr>
            <a:spLocks noGrp="1"/>
          </p:cNvSpPr>
          <p:nvPr/>
        </p:nvSpPr>
        <p:spPr>
          <a:xfrm>
            <a:off x="4553712" y="3154680"/>
            <a:ext cx="693389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Ситуации по 12 должностям: бетонирование, распалубка, работа на высоте и взаимодействие бригад</a:t>
            </a:r>
            <a:endParaRPr sz="130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EE4E074B-8EBB-48CB-A66F-4371DDF16ECE}"/>
              </a:ext>
            </a:extLst>
          </p:cNvPr>
          <p:cNvSpPr>
            <a:spLocks noGrp="1"/>
          </p:cNvSpPr>
          <p:nvPr/>
        </p:nvSpPr>
        <p:spPr>
          <a:xfrm>
            <a:off x="548640" y="3886200"/>
            <a:ext cx="3749040" cy="640080"/>
          </a:xfrm>
          <a:prstGeom prst="roundRect">
            <a:avLst>
              <a:gd name="adj" fmla="val 12857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AAFE5B29-7A35-4161-8F09-34A8922124BB}"/>
              </a:ext>
            </a:extLst>
          </p:cNvPr>
          <p:cNvSpPr>
            <a:spLocks noGrp="1"/>
          </p:cNvSpPr>
          <p:nvPr/>
        </p:nvSpPr>
        <p:spPr>
          <a:xfrm>
            <a:off x="685800" y="4059936"/>
            <a:ext cx="329184" cy="329184"/>
          </a:xfrm>
          <a:prstGeom prst="ellipse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3A154533-CFE0-4E27-B109-89ECB3812B57}"/>
              </a:ext>
            </a:extLst>
          </p:cNvPr>
          <p:cNvSpPr>
            <a:spLocks noGrp="1"/>
          </p:cNvSpPr>
          <p:nvPr/>
        </p:nvSpPr>
        <p:spPr>
          <a:xfrm>
            <a:off x="685800" y="405993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0A1A30"/>
                </a:solidFill>
                <a:latin typeface="Segoe UI Semibold"/>
                <a:ea typeface="Segoe UI Semibold"/>
                <a:cs typeface="Segoe UI Semibold"/>
              </a:rPr>
              <a:t>✓</a:t>
            </a:r>
            <a:endParaRPr sz="14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DCB3B8D3-F019-4564-8FFE-D2DC4D65F015}"/>
              </a:ext>
            </a:extLst>
          </p:cNvPr>
          <p:cNvSpPr>
            <a:spLocks noGrp="1"/>
          </p:cNvSpPr>
          <p:nvPr/>
        </p:nvSpPr>
        <p:spPr>
          <a:xfrm>
            <a:off x="1143000" y="388620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Сильные и слабые стороны</a:t>
            </a:r>
            <a:endParaRPr sz="140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A4DB0612-CCCD-4CAA-A98A-50E838111C46}"/>
              </a:ext>
            </a:extLst>
          </p:cNvPr>
          <p:cNvSpPr>
            <a:spLocks noGrp="1"/>
          </p:cNvSpPr>
          <p:nvPr/>
        </p:nvSpPr>
        <p:spPr>
          <a:xfrm>
            <a:off x="4389120" y="3886200"/>
            <a:ext cx="7253935" cy="640080"/>
          </a:xfrm>
          <a:prstGeom prst="roundRect">
            <a:avLst>
              <a:gd name="adj" fmla="val 12857"/>
            </a:avLst>
          </a:prstGeom>
          <a:solidFill>
            <a:srgbClr val="0F2240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8544225-44C1-44EA-B3C6-0CFFD79E9827}"/>
              </a:ext>
            </a:extLst>
          </p:cNvPr>
          <p:cNvSpPr>
            <a:spLocks noGrp="1"/>
          </p:cNvSpPr>
          <p:nvPr/>
        </p:nvSpPr>
        <p:spPr>
          <a:xfrm>
            <a:off x="4553712" y="3886200"/>
            <a:ext cx="693389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Уровни «сильная сторона / можно укрепить / приоритет развития» + дословные цитаты из ответов</a:t>
            </a:r>
            <a:endParaRPr sz="130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12BEB57C-376E-4879-AEB6-030C3CD5B6DD}"/>
              </a:ext>
            </a:extLst>
          </p:cNvPr>
          <p:cNvSpPr>
            <a:spLocks noGrp="1"/>
          </p:cNvSpPr>
          <p:nvPr/>
        </p:nvSpPr>
        <p:spPr>
          <a:xfrm>
            <a:off x="548640" y="4617720"/>
            <a:ext cx="3749040" cy="640080"/>
          </a:xfrm>
          <a:prstGeom prst="roundRect">
            <a:avLst>
              <a:gd name="adj" fmla="val 12857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CFBB237F-50EE-49F7-A042-36FEE17BB7BB}"/>
              </a:ext>
            </a:extLst>
          </p:cNvPr>
          <p:cNvSpPr>
            <a:spLocks noGrp="1"/>
          </p:cNvSpPr>
          <p:nvPr/>
        </p:nvSpPr>
        <p:spPr>
          <a:xfrm>
            <a:off x="685800" y="4791456"/>
            <a:ext cx="329184" cy="329184"/>
          </a:xfrm>
          <a:prstGeom prst="ellipse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4ACB6066-B329-401D-9638-7C13FB9049FA}"/>
              </a:ext>
            </a:extLst>
          </p:cNvPr>
          <p:cNvSpPr>
            <a:spLocks noGrp="1"/>
          </p:cNvSpPr>
          <p:nvPr/>
        </p:nvSpPr>
        <p:spPr>
          <a:xfrm>
            <a:off x="685800" y="47914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0A1A30"/>
                </a:solidFill>
                <a:latin typeface="Segoe UI Semibold"/>
                <a:ea typeface="Segoe UI Semibold"/>
                <a:cs typeface="Segoe UI Semibold"/>
              </a:rPr>
              <a:t>✓</a:t>
            </a:r>
            <a:endParaRPr sz="140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EB99179A-77D7-4E19-A655-65374354D339}"/>
              </a:ext>
            </a:extLst>
          </p:cNvPr>
          <p:cNvSpPr>
            <a:spLocks noGrp="1"/>
          </p:cNvSpPr>
          <p:nvPr/>
        </p:nvSpPr>
        <p:spPr>
          <a:xfrm>
            <a:off x="1143000" y="46177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Автоматические рекомендации</a:t>
            </a:r>
            <a:endParaRPr sz="140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B21C228-F0D6-497D-8359-F55F45998EE0}"/>
              </a:ext>
            </a:extLst>
          </p:cNvPr>
          <p:cNvSpPr>
            <a:spLocks noGrp="1"/>
          </p:cNvSpPr>
          <p:nvPr/>
        </p:nvSpPr>
        <p:spPr>
          <a:xfrm>
            <a:off x="4389120" y="4617720"/>
            <a:ext cx="7253935" cy="640080"/>
          </a:xfrm>
          <a:prstGeom prst="roundRect">
            <a:avLst>
              <a:gd name="adj" fmla="val 12857"/>
            </a:avLst>
          </a:prstGeom>
          <a:solidFill>
            <a:srgbClr val="0F2240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B1621E44-7AF5-477C-9DC1-647AA52D55D4}"/>
              </a:ext>
            </a:extLst>
          </p:cNvPr>
          <p:cNvSpPr>
            <a:spLocks noGrp="1"/>
          </p:cNvSpPr>
          <p:nvPr/>
        </p:nvSpPr>
        <p:spPr>
          <a:xfrm>
            <a:off x="4553712" y="4617720"/>
            <a:ext cx="693389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План на 30 дней: 4 практики со сроками и критерием успеха + темы для изучения в BuildEX / BIU</a:t>
            </a:r>
            <a:endParaRPr sz="130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93E57868-804E-4655-B0BD-EE7C230E3669}"/>
              </a:ext>
            </a:extLst>
          </p:cNvPr>
          <p:cNvSpPr>
            <a:spLocks noGrp="1"/>
          </p:cNvSpPr>
          <p:nvPr/>
        </p:nvSpPr>
        <p:spPr>
          <a:xfrm>
            <a:off x="548640" y="5349240"/>
            <a:ext cx="3749040" cy="640080"/>
          </a:xfrm>
          <a:prstGeom prst="roundRect">
            <a:avLst>
              <a:gd name="adj" fmla="val 12857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70BC9802-EE27-4F03-8A52-2A4C2E2C327F}"/>
              </a:ext>
            </a:extLst>
          </p:cNvPr>
          <p:cNvSpPr>
            <a:spLocks noGrp="1"/>
          </p:cNvSpPr>
          <p:nvPr/>
        </p:nvSpPr>
        <p:spPr>
          <a:xfrm>
            <a:off x="685800" y="5522976"/>
            <a:ext cx="329184" cy="329184"/>
          </a:xfrm>
          <a:prstGeom prst="ellipse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FB56EE01-E32A-471C-A03D-AE159B4138BF}"/>
              </a:ext>
            </a:extLst>
          </p:cNvPr>
          <p:cNvSpPr>
            <a:spLocks noGrp="1"/>
          </p:cNvSpPr>
          <p:nvPr/>
        </p:nvSpPr>
        <p:spPr>
          <a:xfrm>
            <a:off x="685800" y="55229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0A1A30"/>
                </a:solidFill>
                <a:latin typeface="Segoe UI Semibold"/>
                <a:ea typeface="Segoe UI Semibold"/>
                <a:cs typeface="Segoe UI Semibold"/>
              </a:rPr>
              <a:t>✓</a:t>
            </a:r>
            <a:endParaRPr sz="140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E26A777B-D65E-4854-ABEA-07BE1F217AC3}"/>
              </a:ext>
            </a:extLst>
          </p:cNvPr>
          <p:cNvSpPr>
            <a:spLocks noGrp="1"/>
          </p:cNvSpPr>
          <p:nvPr/>
        </p:nvSpPr>
        <p:spPr>
          <a:xfrm>
            <a:off x="1143000" y="534924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Персонализация обучения</a:t>
            </a:r>
            <a:endParaRPr sz="1400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CC8AE4D3-23D6-4B6F-B910-7B61C8435572}"/>
              </a:ext>
            </a:extLst>
          </p:cNvPr>
          <p:cNvSpPr>
            <a:spLocks noGrp="1"/>
          </p:cNvSpPr>
          <p:nvPr/>
        </p:nvSpPr>
        <p:spPr>
          <a:xfrm>
            <a:off x="4389120" y="5349240"/>
            <a:ext cx="7253935" cy="640080"/>
          </a:xfrm>
          <a:prstGeom prst="roundRect">
            <a:avLst>
              <a:gd name="adj" fmla="val 12857"/>
            </a:avLst>
          </a:prstGeom>
          <a:solidFill>
            <a:srgbClr val="0F2240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BF4C76F5-3ED2-41BB-8A9C-8484AF3A1B59}"/>
              </a:ext>
            </a:extLst>
          </p:cNvPr>
          <p:cNvSpPr>
            <a:spLocks noGrp="1"/>
          </p:cNvSpPr>
          <p:nvPr/>
        </p:nvSpPr>
        <p:spPr>
          <a:xfrm>
            <a:off x="4553712" y="5349240"/>
            <a:ext cx="6933895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Вопросы с учётом должности и ответов. Повторный тест через месяц и сравнение результатов</a:t>
            </a:r>
            <a:endParaRPr sz="130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7BE87813-3B63-49F2-B153-15D4EFCC9192}"/>
              </a:ext>
            </a:extLst>
          </p:cNvPr>
          <p:cNvSpPr>
            <a:spLocks noGrp="1"/>
          </p:cNvSpPr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Сверх задания:  аватар-герой (7 вопросов)  ·  кабинет руководителя  ·  3 языка  ·  мобильная версия  ·  согласие на передачу данных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138615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57A42B-1F25-4986-A3C6-42D1018D02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C44AA2-3D58-459E-A176-15036EC451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DB7862-7A62-42DC-8B08-6C6375D2C051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ПОЛЬЗА ПРОДУКТА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99AFE6-0DAE-4832-BFDA-988E94856989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Что получают руководитель и сотрудник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875058D-1E40-4695-9473-64D9A39BF8D9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spc="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BI ACADEMY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E9D0B6-6363-4062-AD0F-47A95A766B31}"/>
              </a:ext>
            </a:extLst>
          </p:cNvPr>
          <p:cNvSpPr>
            <a:spLocks noGrp="1"/>
          </p:cNvSpPr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FB4CC"/>
                </a:solidFill>
                <a:latin typeface="Consolas"/>
                <a:ea typeface="Consolas"/>
                <a:cs typeface="Consolas"/>
              </a:rPr>
              <a:t>03</a:t>
            </a:r>
            <a:endParaRPr sz="1000"/>
          </a:p>
        </p:txBody>
      </p:sp>
      <p:sp>
        <p:nvSpPr>
          <p:cNvPr id="8" name="Руководителю">
            <a:extLst>
              <a:ext uri="{FF2B5EF4-FFF2-40B4-BE49-F238E27FC236}">
                <a16:creationId xmlns:a16="http://schemas.microsoft.com/office/drawing/2014/main" id="{D6E5CD46-013C-454C-A1DA-A0BAE64CD33A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5191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rPr>
              <a:t>Руководителю</a:t>
            </a:r>
          </a:p>
        </p:txBody>
      </p:sp>
      <p:sp>
        <p:nvSpPr>
          <p:cNvPr id="9" name="Сотруднику">
            <a:extLst>
              <a:ext uri="{FF2B5EF4-FFF2-40B4-BE49-F238E27FC236}">
                <a16:creationId xmlns:a16="http://schemas.microsoft.com/office/drawing/2014/main" id="{82366126-1623-48E9-8C2F-162BB7A0C8D1}"/>
              </a:ext>
            </a:extLst>
          </p:cNvPr>
          <p:cNvSpPr>
            <a:spLocks noGrp="1"/>
          </p:cNvSpPr>
          <p:nvPr/>
        </p:nvSpPr>
        <p:spPr>
          <a:xfrm>
            <a:off x="6429375" y="1714500"/>
            <a:ext cx="5191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17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rPr>
              <a:t>Сотруднику</a:t>
            </a:r>
          </a:p>
        </p:txBody>
      </p:sp>
      <p:sp>
        <p:nvSpPr>
          <p:cNvPr id="10" name="Темы для обучения">
            <a:extLst>
              <a:ext uri="{FF2B5EF4-FFF2-40B4-BE49-F238E27FC236}">
                <a16:creationId xmlns:a16="http://schemas.microsoft.com/office/drawing/2014/main" id="{285CB586-6EC1-480A-AC92-05D0D3250BB9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5191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rPr>
              <a:t>Темы для обучения</a:t>
            </a:r>
          </a:p>
        </p:txBody>
      </p:sp>
      <p:sp>
        <p:nvSpPr>
          <p:cNvPr id="11" name="Результаты команды помогают выбрать,&#10;какие ра">
            <a:extLst>
              <a:ext uri="{FF2B5EF4-FFF2-40B4-BE49-F238E27FC236}">
                <a16:creationId xmlns:a16="http://schemas.microsoft.com/office/drawing/2014/main" id="{15DEEE4A-E521-4C38-9AF0-E1CBF1E5BD9C}"/>
              </a:ext>
            </a:extLst>
          </p:cNvPr>
          <p:cNvSpPr>
            <a:spLocks noGrp="1"/>
          </p:cNvSpPr>
          <p:nvPr/>
        </p:nvSpPr>
        <p:spPr>
          <a:xfrm>
            <a:off x="552450" y="2647950"/>
            <a:ext cx="519112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Результаты команды помогают выбрать,</a:t>
            </a:r>
          </a:p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какие рабочие ситуации стоит разобрать.</a:t>
            </a:r>
          </a:p>
        </p:txBody>
      </p:sp>
      <p:sp>
        <p:nvSpPr>
          <p:cNvPr id="12" name="План и обратная связь">
            <a:extLst>
              <a:ext uri="{FF2B5EF4-FFF2-40B4-BE49-F238E27FC236}">
                <a16:creationId xmlns:a16="http://schemas.microsoft.com/office/drawing/2014/main" id="{D300C4AA-C8DE-442E-B38E-63634D47A0B7}"/>
              </a:ext>
            </a:extLst>
          </p:cNvPr>
          <p:cNvSpPr>
            <a:spLocks noGrp="1"/>
          </p:cNvSpPr>
          <p:nvPr/>
        </p:nvSpPr>
        <p:spPr>
          <a:xfrm>
            <a:off x="552450" y="3181350"/>
            <a:ext cx="5191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rPr>
              <a:t>План и обратная связь</a:t>
            </a:r>
          </a:p>
        </p:txBody>
      </p:sp>
      <p:sp>
        <p:nvSpPr>
          <p:cNvPr id="13" name="Практики на 30 дней, отметки выполнения&#10;и ком">
            <a:extLst>
              <a:ext uri="{FF2B5EF4-FFF2-40B4-BE49-F238E27FC236}">
                <a16:creationId xmlns:a16="http://schemas.microsoft.com/office/drawing/2014/main" id="{F0863EBC-3A8B-4A4F-B8A3-0011453F9DDD}"/>
              </a:ext>
            </a:extLst>
          </p:cNvPr>
          <p:cNvSpPr>
            <a:spLocks noGrp="1"/>
          </p:cNvSpPr>
          <p:nvPr/>
        </p:nvSpPr>
        <p:spPr>
          <a:xfrm>
            <a:off x="552450" y="3524250"/>
            <a:ext cx="519112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Практики на 30 дней, отметки выполнения</a:t>
            </a:r>
          </a:p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и комментарии руководителя.</a:t>
            </a:r>
          </a:p>
        </p:txBody>
      </p:sp>
      <p:sp>
        <p:nvSpPr>
          <p:cNvPr id="14" name="Беседа по конкретным ответам">
            <a:extLst>
              <a:ext uri="{FF2B5EF4-FFF2-40B4-BE49-F238E27FC236}">
                <a16:creationId xmlns:a16="http://schemas.microsoft.com/office/drawing/2014/main" id="{613C1E23-A116-43D9-82D4-A3B42AEE85AD}"/>
              </a:ext>
            </a:extLst>
          </p:cNvPr>
          <p:cNvSpPr>
            <a:spLocks noGrp="1"/>
          </p:cNvSpPr>
          <p:nvPr/>
        </p:nvSpPr>
        <p:spPr>
          <a:xfrm>
            <a:off x="552450" y="4057650"/>
            <a:ext cx="5191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rPr>
              <a:t>Беседа по конкретным ответам</a:t>
            </a:r>
          </a:p>
        </p:txBody>
      </p:sp>
      <p:sp>
        <p:nvSpPr>
          <p:cNvPr id="15" name="Можно открыть профиль сотрудника&#10;и назначить ">
            <a:extLst>
              <a:ext uri="{FF2B5EF4-FFF2-40B4-BE49-F238E27FC236}">
                <a16:creationId xmlns:a16="http://schemas.microsoft.com/office/drawing/2014/main" id="{C78FE73C-F620-40B8-AAE7-D99D5D150B5C}"/>
              </a:ext>
            </a:extLst>
          </p:cNvPr>
          <p:cNvSpPr>
            <a:spLocks noGrp="1"/>
          </p:cNvSpPr>
          <p:nvPr/>
        </p:nvSpPr>
        <p:spPr>
          <a:xfrm>
            <a:off x="552450" y="4400550"/>
            <a:ext cx="519112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Можно открыть профиль сотрудника</a:t>
            </a:r>
          </a:p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и назначить встречу.</a:t>
            </a:r>
          </a:p>
        </p:txBody>
      </p:sp>
      <p:sp>
        <p:nvSpPr>
          <p:cNvPr id="16" name="Сравнение результатов">
            <a:extLst>
              <a:ext uri="{FF2B5EF4-FFF2-40B4-BE49-F238E27FC236}">
                <a16:creationId xmlns:a16="http://schemas.microsoft.com/office/drawing/2014/main" id="{6A74E40C-EA97-4819-9624-8EDA3A2B5DC5}"/>
              </a:ext>
            </a:extLst>
          </p:cNvPr>
          <p:cNvSpPr>
            <a:spLocks noGrp="1"/>
          </p:cNvSpPr>
          <p:nvPr/>
        </p:nvSpPr>
        <p:spPr>
          <a:xfrm>
            <a:off x="552450" y="4933950"/>
            <a:ext cx="5191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rPr>
              <a:t>Сравнение результатов</a:t>
            </a:r>
          </a:p>
        </p:txBody>
      </p:sp>
      <p:sp>
        <p:nvSpPr>
          <p:cNvPr id="17" name="Первый и повторный тесты показывают,&#10;как изме">
            <a:extLst>
              <a:ext uri="{FF2B5EF4-FFF2-40B4-BE49-F238E27FC236}">
                <a16:creationId xmlns:a16="http://schemas.microsoft.com/office/drawing/2014/main" id="{2CD19F42-C692-422D-85F2-3DF0FE8FED12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519112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Первый и повторный тесты показывают,</a:t>
            </a:r>
          </a:p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как изменились ответы и оценки.</a:t>
            </a:r>
          </a:p>
        </p:txBody>
      </p:sp>
      <p:sp>
        <p:nvSpPr>
          <p:cNvPr id="18" name="Оценка с объяснением">
            <a:extLst>
              <a:ext uri="{FF2B5EF4-FFF2-40B4-BE49-F238E27FC236}">
                <a16:creationId xmlns:a16="http://schemas.microsoft.com/office/drawing/2014/main" id="{322B0728-6AE2-4F36-9352-DA7DE2CB6336}"/>
              </a:ext>
            </a:extLst>
          </p:cNvPr>
          <p:cNvSpPr>
            <a:spLocks noGrp="1"/>
          </p:cNvSpPr>
          <p:nvPr/>
        </p:nvSpPr>
        <p:spPr>
          <a:xfrm>
            <a:off x="6429375" y="2305050"/>
            <a:ext cx="5191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rPr>
              <a:t>Оценка с объяснением</a:t>
            </a:r>
          </a:p>
        </p:txBody>
      </p:sp>
      <p:sp>
        <p:nvSpPr>
          <p:cNvPr id="19" name="Итоговые проценты и основания&#10;по собственным ">
            <a:extLst>
              <a:ext uri="{FF2B5EF4-FFF2-40B4-BE49-F238E27FC236}">
                <a16:creationId xmlns:a16="http://schemas.microsoft.com/office/drawing/2014/main" id="{AF2D4ED6-5665-45DF-8338-F8EB1D514D94}"/>
              </a:ext>
            </a:extLst>
          </p:cNvPr>
          <p:cNvSpPr>
            <a:spLocks noGrp="1"/>
          </p:cNvSpPr>
          <p:nvPr/>
        </p:nvSpPr>
        <p:spPr>
          <a:xfrm>
            <a:off x="6429375" y="2647950"/>
            <a:ext cx="519112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Итоговые проценты и основания</a:t>
            </a:r>
          </a:p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по собственным ответам.</a:t>
            </a:r>
          </a:p>
        </p:txBody>
      </p:sp>
      <p:sp>
        <p:nvSpPr>
          <p:cNvPr id="20" name="Можно продолжить позже">
            <a:extLst>
              <a:ext uri="{FF2B5EF4-FFF2-40B4-BE49-F238E27FC236}">
                <a16:creationId xmlns:a16="http://schemas.microsoft.com/office/drawing/2014/main" id="{CF53BA47-E209-4ADC-86E9-97F34892C95B}"/>
              </a:ext>
            </a:extLst>
          </p:cNvPr>
          <p:cNvSpPr>
            <a:spLocks noGrp="1"/>
          </p:cNvSpPr>
          <p:nvPr/>
        </p:nvSpPr>
        <p:spPr>
          <a:xfrm>
            <a:off x="6429375" y="3181350"/>
            <a:ext cx="5191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rPr>
              <a:t>Можно продолжить позже</a:t>
            </a:r>
          </a:p>
        </p:txBody>
      </p:sp>
      <p:sp>
        <p:nvSpPr>
          <p:cNvPr id="21" name="Ответы и черновик сохраняются.">
            <a:extLst>
              <a:ext uri="{FF2B5EF4-FFF2-40B4-BE49-F238E27FC236}">
                <a16:creationId xmlns:a16="http://schemas.microsoft.com/office/drawing/2014/main" id="{5E2849EB-D411-4B65-BC76-7403FA9F7E04}"/>
              </a:ext>
            </a:extLst>
          </p:cNvPr>
          <p:cNvSpPr>
            <a:spLocks noGrp="1"/>
          </p:cNvSpPr>
          <p:nvPr/>
        </p:nvSpPr>
        <p:spPr>
          <a:xfrm>
            <a:off x="6429375" y="3524250"/>
            <a:ext cx="519112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Ответы и черновик сохраняются.</a:t>
            </a:r>
          </a:p>
        </p:txBody>
      </p:sp>
      <p:sp>
        <p:nvSpPr>
          <p:cNvPr id="22" name="Три языка и телефон">
            <a:extLst>
              <a:ext uri="{FF2B5EF4-FFF2-40B4-BE49-F238E27FC236}">
                <a16:creationId xmlns:a16="http://schemas.microsoft.com/office/drawing/2014/main" id="{C51FCD42-4937-4460-B3DD-E922607B09D7}"/>
              </a:ext>
            </a:extLst>
          </p:cNvPr>
          <p:cNvSpPr>
            <a:spLocks noGrp="1"/>
          </p:cNvSpPr>
          <p:nvPr/>
        </p:nvSpPr>
        <p:spPr>
          <a:xfrm>
            <a:off x="6429375" y="4057650"/>
            <a:ext cx="5191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rPr>
              <a:t>Три языка и телефон</a:t>
            </a:r>
          </a:p>
        </p:txBody>
      </p:sp>
      <p:sp>
        <p:nvSpPr>
          <p:cNvPr id="23" name="Русский, казахский и английский.&#10;Интерфейс по">
            <a:extLst>
              <a:ext uri="{FF2B5EF4-FFF2-40B4-BE49-F238E27FC236}">
                <a16:creationId xmlns:a16="http://schemas.microsoft.com/office/drawing/2014/main" id="{39A773DD-C417-4C70-84D9-7DC63C0BC853}"/>
              </a:ext>
            </a:extLst>
          </p:cNvPr>
          <p:cNvSpPr>
            <a:spLocks noGrp="1"/>
          </p:cNvSpPr>
          <p:nvPr/>
        </p:nvSpPr>
        <p:spPr>
          <a:xfrm>
            <a:off x="6429375" y="4400550"/>
            <a:ext cx="519112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Русский, казахский и английский.</a:t>
            </a:r>
          </a:p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Интерфейс подходит для телефона.</a:t>
            </a:r>
          </a:p>
        </p:txBody>
      </p:sp>
      <p:sp>
        <p:nvSpPr>
          <p:cNvPr id="24" name="Доступ по согласию">
            <a:extLst>
              <a:ext uri="{FF2B5EF4-FFF2-40B4-BE49-F238E27FC236}">
                <a16:creationId xmlns:a16="http://schemas.microsoft.com/office/drawing/2014/main" id="{B6387B11-C4F1-4831-8F8B-6A3C6FA8234F}"/>
              </a:ext>
            </a:extLst>
          </p:cNvPr>
          <p:cNvSpPr>
            <a:spLocks noGrp="1"/>
          </p:cNvSpPr>
          <p:nvPr/>
        </p:nvSpPr>
        <p:spPr>
          <a:xfrm>
            <a:off x="6429375" y="4933950"/>
            <a:ext cx="5191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>
                <a:solidFill>
                  <a:srgbClr val="42DFA1"/>
                </a:solidFill>
                <a:latin typeface="Segoe UI Semibold"/>
                <a:ea typeface="Segoe UI Semibold"/>
                <a:cs typeface="Segoe UI Semibold"/>
              </a:rPr>
              <a:t>Доступ по согласию</a:t>
            </a:r>
          </a:p>
        </p:txBody>
      </p:sp>
      <p:sp>
        <p:nvSpPr>
          <p:cNvPr id="25" name="Руководитель получает результат&#10;после согласи">
            <a:extLst>
              <a:ext uri="{FF2B5EF4-FFF2-40B4-BE49-F238E27FC236}">
                <a16:creationId xmlns:a16="http://schemas.microsoft.com/office/drawing/2014/main" id="{497F243B-F3BF-4555-9B78-AC57D54C7CF6}"/>
              </a:ext>
            </a:extLst>
          </p:cNvPr>
          <p:cNvSpPr>
            <a:spLocks noGrp="1"/>
          </p:cNvSpPr>
          <p:nvPr/>
        </p:nvSpPr>
        <p:spPr>
          <a:xfrm>
            <a:off x="6429375" y="5276850"/>
            <a:ext cx="5191125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Руководитель получает результат</a:t>
            </a:r>
          </a:p>
          <a:p>
            <a:pPr>
              <a:defRPr sz="15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после согласия сотрудника.</a:t>
            </a:r>
          </a:p>
        </p:txBody>
      </p:sp>
      <p:sp>
        <p:nvSpPr>
          <p:cNvPr id="26" name="Влияние на производительность и затраты компа">
            <a:extLst>
              <a:ext uri="{FF2B5EF4-FFF2-40B4-BE49-F238E27FC236}">
                <a16:creationId xmlns:a16="http://schemas.microsoft.com/office/drawing/2014/main" id="{AAFE2CD4-632D-487D-8721-337306A781B8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1109662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Влияние на производительность и затраты компании предстоит проверить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355590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9B3E14-98CD-4A63-A72C-61610BA5DB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BDA4516-5780-4EC1-833F-05E1C324EE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B6AD57D-D9B7-4BA1-9887-236AA5D151A4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ТЕСТ НА РАБОЧИХ СИТУАЦИЯХ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FA91B7-27D1-4003-A427-808FA923E998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Вопросы учитывают должность и предыдущие ответы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F0E4B1-4165-4BE3-9A46-BF52D13D2AAF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spc="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BI ACADEMY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3CD9AE0-FC88-4F11-9E75-54253A9F4718}"/>
              </a:ext>
            </a:extLst>
          </p:cNvPr>
          <p:cNvSpPr>
            <a:spLocks noGrp="1"/>
          </p:cNvSpPr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FB4CC"/>
                </a:solidFill>
                <a:latin typeface="Consolas"/>
                <a:ea typeface="Consolas"/>
                <a:cs typeface="Consolas"/>
              </a:rPr>
              <a:t>04</a:t>
            </a:r>
            <a:endParaRPr sz="100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7B84465-9B7C-4FFA-8D7A-412D4D377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972955"/>
            <a:ext cx="11096625" cy="2426316"/>
          </a:xfrm>
          <a:prstGeom prst="rect">
            <a:avLst/>
          </a:prstGeom>
        </p:spPr>
      </p:pic>
      <p:sp>
        <p:nvSpPr>
          <p:cNvPr id="9" name="10 ситуаций с выбором ответа">
            <a:extLst>
              <a:ext uri="{FF2B5EF4-FFF2-40B4-BE49-F238E27FC236}">
                <a16:creationId xmlns:a16="http://schemas.microsoft.com/office/drawing/2014/main" id="{9DDA6476-74DB-4EDE-8DC7-31921AE8DF9C}"/>
              </a:ext>
            </a:extLst>
          </p:cNvPr>
          <p:cNvSpPr>
            <a:spLocks noGrp="1"/>
          </p:cNvSpPr>
          <p:nvPr/>
        </p:nvSpPr>
        <p:spPr>
          <a:xfrm>
            <a:off x="552450" y="4810125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202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202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202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202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202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202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202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202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202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202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025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rPr>
              <a:t>10 ситуаций с выбором ответа</a:t>
            </a:r>
          </a:p>
        </p:txBody>
      </p:sp>
      <p:sp>
        <p:nvSpPr>
          <p:cNvPr id="10" name="Затем 5 открытых вопросов. Каждый учитывает&#10;т">
            <a:extLst>
              <a:ext uri="{FF2B5EF4-FFF2-40B4-BE49-F238E27FC236}">
                <a16:creationId xmlns:a16="http://schemas.microsoft.com/office/drawing/2014/main" id="{43A2B948-7062-4DD3-B554-77A605E170F3}"/>
              </a:ext>
            </a:extLst>
          </p:cNvPr>
          <p:cNvSpPr>
            <a:spLocks noGrp="1"/>
          </p:cNvSpPr>
          <p:nvPr/>
        </p:nvSpPr>
        <p:spPr>
          <a:xfrm>
            <a:off x="552450" y="5286375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Затем 5 открытых вопросов. Каждый учитывает</a:t>
            </a:r>
          </a:p>
          <a:p>
            <a: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то, что сотрудник уже ответил.</a:t>
            </a:r>
          </a:p>
        </p:txBody>
      </p:sp>
      <p:sp>
        <p:nvSpPr>
          <p:cNvPr id="11" name="«Я так 20 лет делаю»&#10;тоже придётся объяснить.">
            <a:extLst>
              <a:ext uri="{FF2B5EF4-FFF2-40B4-BE49-F238E27FC236}">
                <a16:creationId xmlns:a16="http://schemas.microsoft.com/office/drawing/2014/main" id="{C8C733CB-470B-4FDC-9583-96D76A2E73DF}"/>
              </a:ext>
            </a:extLst>
          </p:cNvPr>
          <p:cNvSpPr>
            <a:spLocks noGrp="1"/>
          </p:cNvSpPr>
          <p:nvPr/>
        </p:nvSpPr>
        <p:spPr>
          <a:xfrm>
            <a:off x="7524750" y="5010150"/>
            <a:ext cx="414337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rPr>
              <a:t>«Я так 20 лет делаю»</a:t>
            </a:r>
          </a:p>
          <a:p>
            <a:pPr>
              <a:def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10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rPr>
              <a:t>тоже придётся объяснить.</a:t>
            </a:r>
          </a:p>
        </p:txBody>
      </p:sp>
      <p:sp>
        <p:nvSpPr>
          <p:cNvPr id="12" name="Работающий интерфейс. Ответы составлены для т">
            <a:extLst>
              <a:ext uri="{FF2B5EF4-FFF2-40B4-BE49-F238E27FC236}">
                <a16:creationId xmlns:a16="http://schemas.microsoft.com/office/drawing/2014/main" id="{6DA57652-D8DD-4152-AA68-01273F96A0B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10966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200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Работающий интерфейс. Ответы составлены для тестовой персоны A1.</a:t>
            </a:r>
          </a:p>
        </p:txBody>
      </p:sp>
    </p:spTree>
    <p:extLst>
      <p:ext uri="{BB962C8B-B14F-4D97-AF65-F5344CB8AC3E}">
        <p14:creationId xmlns:p14="http://schemas.microsoft.com/office/powerpoint/2010/main" val="1191519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2F5A1D-7864-40B4-B9CD-C3B7CE107F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BD29C95-77BA-430D-ACD9-AB65596356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F67153-E068-4C16-9312-98E7FA47B922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ТЕСТ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DE81D9-DA9E-4CDD-A5D9-9CB4D04FB97D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Варианты показывают разные рабочие подходы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2F2FB7-9AE6-4B17-9948-FD2574BA844C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spc="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BI ACADEMY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282B82-FDBA-48EC-A6F5-6F9181800523}"/>
              </a:ext>
            </a:extLst>
          </p:cNvPr>
          <p:cNvSpPr>
            <a:spLocks noGrp="1"/>
          </p:cNvSpPr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FB4CC"/>
                </a:solidFill>
                <a:latin typeface="Consolas"/>
                <a:ea typeface="Consolas"/>
                <a:cs typeface="Consolas"/>
              </a:rPr>
              <a:t>05</a:t>
            </a:r>
            <a:endParaRPr sz="10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B408C36-CE93-4DA8-90EC-66D8AA36D370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6675120" cy="1005840"/>
          </a:xfrm>
          <a:prstGeom prst="roundRect">
            <a:avLst>
              <a:gd name="adj" fmla="val 8182"/>
            </a:avLst>
          </a:prstGeom>
          <a:solidFill>
            <a:srgbClr val="006ACB"/>
          </a:solidFill>
          <a:ln w="12700">
            <a:solidFill>
              <a:srgbClr val="63B3FF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D6ED0B1-ED51-4D84-980A-99AF79E5FA29}"/>
              </a:ext>
            </a:extLst>
          </p:cNvPr>
          <p:cNvSpPr>
            <a:spLocks noGrp="1"/>
          </p:cNvSpPr>
          <p:nvPr/>
        </p:nvSpPr>
        <p:spPr>
          <a:xfrm>
            <a:off x="777240" y="17830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СИТУАЦИЯ</a:t>
            </a:r>
            <a:endParaRPr sz="10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68C9E6E-BC07-4DEA-8644-EBB1DF4ECA7F}"/>
              </a:ext>
            </a:extLst>
          </p:cNvPr>
          <p:cNvSpPr>
            <a:spLocks noGrp="1"/>
          </p:cNvSpPr>
          <p:nvPr/>
        </p:nvSpPr>
        <p:spPr>
          <a:xfrm>
            <a:off x="777240" y="2011680"/>
            <a:ext cx="62636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Опытный прораб предлагает снять опалубку перекрытия на два дня раньше срока: «Бетон уже набрал». Как поступите?</a:t>
            </a:r>
            <a:endParaRPr sz="14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7E55E94-1E0F-4D07-8AC0-B6BAD2A90ABF}"/>
              </a:ext>
            </a:extLst>
          </p:cNvPr>
          <p:cNvSpPr>
            <a:spLocks noGrp="1"/>
          </p:cNvSpPr>
          <p:nvPr/>
        </p:nvSpPr>
        <p:spPr>
          <a:xfrm>
            <a:off x="548640" y="2834640"/>
            <a:ext cx="6675120" cy="694944"/>
          </a:xfrm>
          <a:prstGeom prst="roundRect">
            <a:avLst>
              <a:gd name="adj" fmla="val 11842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118CD7D-EE4D-4AC0-B689-DB769F396E0A}"/>
              </a:ext>
            </a:extLst>
          </p:cNvPr>
          <p:cNvSpPr>
            <a:spLocks noGrp="1"/>
          </p:cNvSpPr>
          <p:nvPr/>
        </p:nvSpPr>
        <p:spPr>
          <a:xfrm>
            <a:off x="685800" y="2834640"/>
            <a:ext cx="36576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A</a:t>
            </a:r>
            <a:endParaRPr sz="16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0DAF5E4-37C3-4C16-9C99-BD43230AD751}"/>
              </a:ext>
            </a:extLst>
          </p:cNvPr>
          <p:cNvSpPr>
            <a:spLocks noGrp="1"/>
          </p:cNvSpPr>
          <p:nvPr/>
        </p:nvSpPr>
        <p:spPr>
          <a:xfrm>
            <a:off x="1097280" y="2834640"/>
            <a:ext cx="512064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Скажу прямо, что не согласен: сроки распалубки нарушать нельзя, и снятие я не подпишу.</a:t>
            </a:r>
            <a:endParaRPr sz="12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D0A4E96-E3C0-48D5-BC7D-25540148B7F1}"/>
              </a:ext>
            </a:extLst>
          </p:cNvPr>
          <p:cNvSpPr>
            <a:spLocks noGrp="1"/>
          </p:cNvSpPr>
          <p:nvPr/>
        </p:nvSpPr>
        <p:spPr>
          <a:xfrm>
            <a:off x="6217920" y="2834640"/>
            <a:ext cx="91440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4ADE9A"/>
                </a:solidFill>
                <a:latin typeface="Consolas"/>
                <a:ea typeface="Consolas"/>
                <a:cs typeface="Consolas"/>
              </a:rPr>
              <a:t>1 · 3</a:t>
            </a:r>
            <a:endParaRPr sz="14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7347AB8-8088-4001-A822-DFB4CE370956}"/>
              </a:ext>
            </a:extLst>
          </p:cNvPr>
          <p:cNvSpPr>
            <a:spLocks noGrp="1"/>
          </p:cNvSpPr>
          <p:nvPr/>
        </p:nvSpPr>
        <p:spPr>
          <a:xfrm>
            <a:off x="548640" y="3621024"/>
            <a:ext cx="6675120" cy="694944"/>
          </a:xfrm>
          <a:prstGeom prst="roundRect">
            <a:avLst>
              <a:gd name="adj" fmla="val 11842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E7C727E-22B8-4937-BB4A-DF086D9CB5F1}"/>
              </a:ext>
            </a:extLst>
          </p:cNvPr>
          <p:cNvSpPr>
            <a:spLocks noGrp="1"/>
          </p:cNvSpPr>
          <p:nvPr/>
        </p:nvSpPr>
        <p:spPr>
          <a:xfrm>
            <a:off x="685800" y="3621024"/>
            <a:ext cx="36576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B</a:t>
            </a:r>
            <a:endParaRPr sz="16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B8D2B75-C45D-436E-8479-F9EB0E00F2EF}"/>
              </a:ext>
            </a:extLst>
          </p:cNvPr>
          <p:cNvSpPr>
            <a:spLocks noGrp="1"/>
          </p:cNvSpPr>
          <p:nvPr/>
        </p:nvSpPr>
        <p:spPr>
          <a:xfrm>
            <a:off x="1097280" y="3621024"/>
            <a:ext cx="512064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Попрошу результаты испытаний образцов и решу по цифрам, не вступая в спор заранее.</a:t>
            </a:r>
            <a:endParaRPr sz="12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0937767-0F39-413B-8B6F-AC905F78FADC}"/>
              </a:ext>
            </a:extLst>
          </p:cNvPr>
          <p:cNvSpPr>
            <a:spLocks noGrp="1"/>
          </p:cNvSpPr>
          <p:nvPr/>
        </p:nvSpPr>
        <p:spPr>
          <a:xfrm>
            <a:off x="6217920" y="3621024"/>
            <a:ext cx="91440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4ADE9A"/>
                </a:solidFill>
                <a:latin typeface="Consolas"/>
                <a:ea typeface="Consolas"/>
                <a:cs typeface="Consolas"/>
              </a:rPr>
              <a:t>3 · 1</a:t>
            </a:r>
            <a:endParaRPr sz="14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03CB93D-6819-4F23-BF23-D5FA91E8C5FA}"/>
              </a:ext>
            </a:extLst>
          </p:cNvPr>
          <p:cNvSpPr>
            <a:spLocks noGrp="1"/>
          </p:cNvSpPr>
          <p:nvPr/>
        </p:nvSpPr>
        <p:spPr>
          <a:xfrm>
            <a:off x="548640" y="4407408"/>
            <a:ext cx="6675120" cy="694944"/>
          </a:xfrm>
          <a:prstGeom prst="roundRect">
            <a:avLst>
              <a:gd name="adj" fmla="val 11842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095E4D8-3950-4259-A1C0-37A914B7EAD0}"/>
              </a:ext>
            </a:extLst>
          </p:cNvPr>
          <p:cNvSpPr>
            <a:spLocks noGrp="1"/>
          </p:cNvSpPr>
          <p:nvPr/>
        </p:nvSpPr>
        <p:spPr>
          <a:xfrm>
            <a:off x="685800" y="4407408"/>
            <a:ext cx="36576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C</a:t>
            </a:r>
            <a:endParaRPr sz="16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EE5ABD2-5B84-4613-9732-DC48C48A24F4}"/>
              </a:ext>
            </a:extLst>
          </p:cNvPr>
          <p:cNvSpPr>
            <a:spLocks noGrp="1"/>
          </p:cNvSpPr>
          <p:nvPr/>
        </p:nvSpPr>
        <p:spPr>
          <a:xfrm>
            <a:off x="1097280" y="4407408"/>
            <a:ext cx="512064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При бригаде выскажу сомнение и предложу до решения проверить прочность неразрушающим методом.</a:t>
            </a:r>
            <a:endParaRPr sz="12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812683A-D6CD-44A2-A808-6FD4DF666788}"/>
              </a:ext>
            </a:extLst>
          </p:cNvPr>
          <p:cNvSpPr>
            <a:spLocks noGrp="1"/>
          </p:cNvSpPr>
          <p:nvPr/>
        </p:nvSpPr>
        <p:spPr>
          <a:xfrm>
            <a:off x="6217920" y="4407408"/>
            <a:ext cx="91440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4ADE9A"/>
                </a:solidFill>
                <a:latin typeface="Consolas"/>
                <a:ea typeface="Consolas"/>
                <a:cs typeface="Consolas"/>
              </a:rPr>
              <a:t>2 · 2</a:t>
            </a:r>
            <a:endParaRPr sz="140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2FCEC431-0246-497F-9DBD-113E1318C562}"/>
              </a:ext>
            </a:extLst>
          </p:cNvPr>
          <p:cNvSpPr>
            <a:spLocks noGrp="1"/>
          </p:cNvSpPr>
          <p:nvPr/>
        </p:nvSpPr>
        <p:spPr>
          <a:xfrm>
            <a:off x="548640" y="5193792"/>
            <a:ext cx="6675120" cy="694944"/>
          </a:xfrm>
          <a:prstGeom prst="roundRect">
            <a:avLst>
              <a:gd name="adj" fmla="val 11842"/>
            </a:avLst>
          </a:prstGeom>
          <a:solidFill>
            <a:srgbClr val="2A1A2E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F0AAA61-9F9A-4192-9FF0-E7876479A1B5}"/>
              </a:ext>
            </a:extLst>
          </p:cNvPr>
          <p:cNvSpPr>
            <a:spLocks noGrp="1"/>
          </p:cNvSpPr>
          <p:nvPr/>
        </p:nvSpPr>
        <p:spPr>
          <a:xfrm>
            <a:off x="685800" y="5193792"/>
            <a:ext cx="36576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D</a:t>
            </a:r>
            <a:endParaRPr sz="16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9B83EB4-72C5-4E3F-8C13-3C4F487267BD}"/>
              </a:ext>
            </a:extLst>
          </p:cNvPr>
          <p:cNvSpPr>
            <a:spLocks noGrp="1"/>
          </p:cNvSpPr>
          <p:nvPr/>
        </p:nvSpPr>
        <p:spPr>
          <a:xfrm>
            <a:off x="1097280" y="5193792"/>
            <a:ext cx="512064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Соглашусь с прорабом: у него двадцать лет опыта, и такие перекрытия он уже снимал раньше срока.</a:t>
            </a:r>
            <a:endParaRPr sz="12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1265766-75C9-4405-ACD4-93CAA9DAB704}"/>
              </a:ext>
            </a:extLst>
          </p:cNvPr>
          <p:cNvSpPr>
            <a:spLocks noGrp="1"/>
          </p:cNvSpPr>
          <p:nvPr/>
        </p:nvSpPr>
        <p:spPr>
          <a:xfrm>
            <a:off x="6217920" y="5193792"/>
            <a:ext cx="914400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8FA3"/>
                </a:solidFill>
                <a:latin typeface="Consolas"/>
                <a:ea typeface="Consolas"/>
                <a:cs typeface="Consolas"/>
              </a:rPr>
              <a:t>0 · 0</a:t>
            </a:r>
            <a:endParaRPr sz="14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90588E8-38FF-4B13-98EE-FE07140373BA}"/>
              </a:ext>
            </a:extLst>
          </p:cNvPr>
          <p:cNvSpPr>
            <a:spLocks noGrp="1"/>
          </p:cNvSpPr>
          <p:nvPr/>
        </p:nvSpPr>
        <p:spPr>
          <a:xfrm>
            <a:off x="5029200" y="59893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 i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баллы: мышление · уверенность</a:t>
            </a:r>
            <a:endParaRPr sz="9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F02F024D-3E5C-4CD0-A30E-09F3B7EAFAA0}"/>
              </a:ext>
            </a:extLst>
          </p:cNvPr>
          <p:cNvSpPr>
            <a:spLocks noGrp="1"/>
          </p:cNvSpPr>
          <p:nvPr/>
        </p:nvSpPr>
        <p:spPr>
          <a:xfrm>
            <a:off x="7543800" y="1691640"/>
            <a:ext cx="4099255" cy="4434840"/>
          </a:xfrm>
          <a:prstGeom prst="roundRect">
            <a:avLst>
              <a:gd name="adj" fmla="val 2008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58545C40-03C2-42A5-84E6-A4FCFE8C5E3C}"/>
              </a:ext>
            </a:extLst>
          </p:cNvPr>
          <p:cNvSpPr>
            <a:spLocks noGrp="1"/>
          </p:cNvSpPr>
          <p:nvPr/>
        </p:nvSpPr>
        <p:spPr>
          <a:xfrm>
            <a:off x="7772400" y="1810512"/>
            <a:ext cx="364205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Как устроен вопрос</a:t>
            </a:r>
            <a:endParaRPr sz="16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AD6AF466-6CCC-4041-934B-5A10F7212A75}"/>
              </a:ext>
            </a:extLst>
          </p:cNvPr>
          <p:cNvSpPr>
            <a:spLocks noGrp="1"/>
          </p:cNvSpPr>
          <p:nvPr/>
        </p:nvSpPr>
        <p:spPr>
          <a:xfrm>
            <a:off x="7772400" y="2286000"/>
            <a:ext cx="3642055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Каждая ситуация затрагивает два качества</a:t>
            </a:r>
            <a:endParaRPr sz="12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9412B79-EC56-4960-BF41-DB43BE4D2FC9}"/>
              </a:ext>
            </a:extLst>
          </p:cNvPr>
          <p:cNvSpPr>
            <a:spLocks noGrp="1"/>
          </p:cNvSpPr>
          <p:nvPr/>
        </p:nvSpPr>
        <p:spPr>
          <a:xfrm>
            <a:off x="7772400" y="2578608"/>
            <a:ext cx="3642055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основное и дополнительное</a:t>
            </a:r>
            <a:endParaRPr sz="11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6C8694DD-BCAD-45C3-8BB5-948F4BD21EBB}"/>
              </a:ext>
            </a:extLst>
          </p:cNvPr>
          <p:cNvSpPr>
            <a:spLocks noGrp="1"/>
          </p:cNvSpPr>
          <p:nvPr/>
        </p:nvSpPr>
        <p:spPr>
          <a:xfrm>
            <a:off x="7772400" y="3054096"/>
            <a:ext cx="3642055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Три рабочих варианта дают по 4 балла</a:t>
            </a:r>
            <a:endParaRPr sz="125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1C65CCDB-099E-48BF-8886-7BA7A3CF836E}"/>
              </a:ext>
            </a:extLst>
          </p:cNvPr>
          <p:cNvSpPr>
            <a:spLocks noGrp="1"/>
          </p:cNvSpPr>
          <p:nvPr/>
        </p:nvSpPr>
        <p:spPr>
          <a:xfrm>
            <a:off x="7772400" y="3346704"/>
            <a:ext cx="3642055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сильный по основному, сильный по дополнительному, компромисс</a:t>
            </a:r>
            <a:endParaRPr sz="110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10713688-67B4-4BBD-BEA6-176D4AC2D338}"/>
              </a:ext>
            </a:extLst>
          </p:cNvPr>
          <p:cNvSpPr>
            <a:spLocks noGrp="1"/>
          </p:cNvSpPr>
          <p:nvPr/>
        </p:nvSpPr>
        <p:spPr>
          <a:xfrm>
            <a:off x="7772400" y="3822192"/>
            <a:ext cx="3642055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Рискованный вариант даёт 0 баллов</a:t>
            </a:r>
            <a:endParaRPr sz="125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E2352CD3-C6DA-4816-AD2A-D98C6457B699}"/>
              </a:ext>
            </a:extLst>
          </p:cNvPr>
          <p:cNvSpPr>
            <a:spLocks noGrp="1"/>
          </p:cNvSpPr>
          <p:nvPr/>
        </p:nvSpPr>
        <p:spPr>
          <a:xfrm>
            <a:off x="7772400" y="4114800"/>
            <a:ext cx="3642055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нарушает технологию, безопасность или уходит от ответственности — 0 баллов</a:t>
            </a:r>
            <a:endParaRPr sz="11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280B9BB2-D054-44FD-ACBB-BF7ABAD06022}"/>
              </a:ext>
            </a:extLst>
          </p:cNvPr>
          <p:cNvSpPr>
            <a:spLocks noGrp="1"/>
          </p:cNvSpPr>
          <p:nvPr/>
        </p:nvSpPr>
        <p:spPr>
          <a:xfrm>
            <a:off x="7772400" y="4590288"/>
            <a:ext cx="3642055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Нет «лучшего» ответа по обоим качествам</a:t>
            </a:r>
            <a:endParaRPr sz="125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7A99E653-F13B-45C4-9C1B-16135EF262F2}"/>
              </a:ext>
            </a:extLst>
          </p:cNvPr>
          <p:cNvSpPr>
            <a:spLocks noGrp="1"/>
          </p:cNvSpPr>
          <p:nvPr/>
        </p:nvSpPr>
        <p:spPr>
          <a:xfrm>
            <a:off x="7772400" y="4882896"/>
            <a:ext cx="3642055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тест показывает, на что человек опирается первым делом</a:t>
            </a:r>
            <a:endParaRPr sz="11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AA0F4D41-F4A8-496C-BC14-22F0280D25F3}"/>
              </a:ext>
            </a:extLst>
          </p:cNvPr>
          <p:cNvSpPr>
            <a:spLocks noGrp="1"/>
          </p:cNvSpPr>
          <p:nvPr/>
        </p:nvSpPr>
        <p:spPr>
          <a:xfrm>
            <a:off x="7772400" y="5358384"/>
            <a:ext cx="3642055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Оцениваем выбор в ситуации</a:t>
            </a:r>
            <a:endParaRPr sz="125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979DB350-221C-4D20-AC80-6C656E28007D}"/>
              </a:ext>
            </a:extLst>
          </p:cNvPr>
          <p:cNvSpPr>
            <a:spLocks noGrp="1"/>
          </p:cNvSpPr>
          <p:nvPr/>
        </p:nvSpPr>
        <p:spPr>
          <a:xfrm>
            <a:off x="7772400" y="5650992"/>
            <a:ext cx="3642055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баллы отражают разные приоритеты сотрудника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7658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9B70AB-82DE-497F-B78A-346E801C66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705A0E-E3ED-4D71-B5D7-D522799605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9CA579-01B6-4E8D-9BA5-C1CF8D0DF33E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РЕЗУЛЬТАТ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90FF7BA-651E-440B-81E6-39D03501C28F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Профиль сотрудника с объяснением оценки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0A895D-7360-497A-840B-1CE7A3EC4CED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spc="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BI ACADEMY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C1341F2-415B-4DD8-8DE5-9B8635E2DD17}"/>
              </a:ext>
            </a:extLst>
          </p:cNvPr>
          <p:cNvSpPr>
            <a:spLocks noGrp="1"/>
          </p:cNvSpPr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FB4CC"/>
                </a:solidFill>
                <a:latin typeface="Consolas"/>
                <a:ea typeface="Consolas"/>
                <a:cs typeface="Consolas"/>
              </a:rPr>
              <a:t>06</a:t>
            </a:r>
            <a:endParaRPr sz="10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926962B-7BE0-4ECA-A33D-A2F6DBAE1725}"/>
              </a:ext>
            </a:extLst>
          </p:cNvPr>
          <p:cNvSpPr>
            <a:spLocks noGrp="1"/>
          </p:cNvSpPr>
          <p:nvPr/>
        </p:nvSpPr>
        <p:spPr>
          <a:xfrm>
            <a:off x="502920" y="1645920"/>
            <a:ext cx="5394960" cy="3406140"/>
          </a:xfrm>
          <a:prstGeom prst="roundRect">
            <a:avLst>
              <a:gd name="adj" fmla="val 2148"/>
            </a:avLst>
          </a:prstGeom>
          <a:solidFill>
            <a:srgbClr val="0F2240"/>
          </a:solidFill>
          <a:ln w="12700">
            <a:solidFill>
              <a:srgbClr val="24467A"/>
            </a:solidFill>
            <a:prstDash val="solid"/>
          </a:ln>
        </p:spPr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ABB0D736-6A1B-4EC6-8932-56D3A2A91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303520" cy="3314700"/>
          </a:xfrm>
          <a:prstGeom prst="rect">
            <a:avLst/>
          </a:prstGeom>
        </p:spPr>
      </p:pic>
      <p:sp>
        <p:nvSpPr>
          <p:cNvPr id="11" name="Shape 7">
            <a:extLst>
              <a:ext uri="{FF2B5EF4-FFF2-40B4-BE49-F238E27FC236}">
                <a16:creationId xmlns:a16="http://schemas.microsoft.com/office/drawing/2014/main" id="{EEEEF37F-8516-48BD-8F66-952EB661D602}"/>
              </a:ext>
            </a:extLst>
          </p:cNvPr>
          <p:cNvSpPr>
            <a:spLocks noGrp="1"/>
          </p:cNvSpPr>
          <p:nvPr/>
        </p:nvSpPr>
        <p:spPr>
          <a:xfrm>
            <a:off x="6263640" y="1645920"/>
            <a:ext cx="5394960" cy="3406140"/>
          </a:xfrm>
          <a:prstGeom prst="roundRect">
            <a:avLst>
              <a:gd name="adj" fmla="val 2148"/>
            </a:avLst>
          </a:prstGeom>
          <a:solidFill>
            <a:srgbClr val="0F2240"/>
          </a:solidFill>
          <a:ln w="12700">
            <a:solidFill>
              <a:srgbClr val="24467A"/>
            </a:solidFill>
            <a:prstDash val="solid"/>
          </a:ln>
        </p:spPr>
      </p:sp>
      <p:pic>
        <p:nvPicPr>
          <p:cNvPr id="12" name="Image 1">
            <a:extLst>
              <a:ext uri="{FF2B5EF4-FFF2-40B4-BE49-F238E27FC236}">
                <a16:creationId xmlns:a16="http://schemas.microsoft.com/office/drawing/2014/main" id="{D5A29B2C-974D-4A6C-ADBA-0B361D67D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5303520" cy="331470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B2807915-D8EE-4AF1-976C-0617C92F47DD}"/>
              </a:ext>
            </a:extLst>
          </p:cNvPr>
          <p:cNvSpPr>
            <a:spLocks noGrp="1"/>
          </p:cNvSpPr>
          <p:nvPr/>
        </p:nvSpPr>
        <p:spPr>
          <a:xfrm>
            <a:off x="548640" y="51435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Обзор: архетип «Советник команды» и радар</a:t>
            </a:r>
            <a:endParaRPr sz="105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553766E-E907-466E-ADCE-AA8573CF522E}"/>
              </a:ext>
            </a:extLst>
          </p:cNvPr>
          <p:cNvSpPr>
            <a:spLocks noGrp="1"/>
          </p:cNvSpPr>
          <p:nvPr/>
        </p:nvSpPr>
        <p:spPr>
          <a:xfrm>
            <a:off x="6309360" y="51435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Подробно: 4 качества с уровнем и объяснением</a:t>
            </a:r>
            <a:endParaRPr sz="105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12D3E51-E065-48D4-86C9-462CDA871279}"/>
              </a:ext>
            </a:extLst>
          </p:cNvPr>
          <p:cNvSpPr>
            <a:spLocks noGrp="1"/>
          </p:cNvSpPr>
          <p:nvPr/>
        </p:nvSpPr>
        <p:spPr>
          <a:xfrm>
            <a:off x="548640" y="5596128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63B3FF"/>
                </a:solidFill>
                <a:latin typeface="Consolas"/>
                <a:ea typeface="Consolas"/>
                <a:cs typeface="Consolas"/>
              </a:rPr>
              <a:t>83%</a:t>
            </a:r>
            <a:endParaRPr sz="24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F3CB23D-EEAB-43ED-9882-3732C0592D3D}"/>
              </a:ext>
            </a:extLst>
          </p:cNvPr>
          <p:cNvSpPr>
            <a:spLocks noGrp="1"/>
          </p:cNvSpPr>
          <p:nvPr/>
        </p:nvSpPr>
        <p:spPr>
          <a:xfrm>
            <a:off x="1508760" y="5596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Критическое мышление</a:t>
            </a:r>
            <a:endParaRPr sz="120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03B19627-C3F9-476A-AF59-D2FE61B8EDE0}"/>
              </a:ext>
            </a:extLst>
          </p:cNvPr>
          <p:cNvSpPr>
            <a:spLocks noGrp="1"/>
          </p:cNvSpPr>
          <p:nvPr/>
        </p:nvSpPr>
        <p:spPr>
          <a:xfrm>
            <a:off x="3355848" y="5596128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FF8FA3"/>
                </a:solidFill>
                <a:latin typeface="Consolas"/>
                <a:ea typeface="Consolas"/>
                <a:cs typeface="Consolas"/>
              </a:rPr>
              <a:t>74%</a:t>
            </a:r>
            <a:endParaRPr sz="24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B9D31680-191A-41BD-B7F7-B4DB7A9D7C4E}"/>
              </a:ext>
            </a:extLst>
          </p:cNvPr>
          <p:cNvSpPr>
            <a:spLocks noGrp="1"/>
          </p:cNvSpPr>
          <p:nvPr/>
        </p:nvSpPr>
        <p:spPr>
          <a:xfrm>
            <a:off x="4315968" y="5596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Вовлечённость</a:t>
            </a:r>
            <a:endParaRPr sz="120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1CDC7B99-B78A-4E06-A5E2-9EEA293E5E51}"/>
              </a:ext>
            </a:extLst>
          </p:cNvPr>
          <p:cNvSpPr>
            <a:spLocks noGrp="1"/>
          </p:cNvSpPr>
          <p:nvPr/>
        </p:nvSpPr>
        <p:spPr>
          <a:xfrm>
            <a:off x="6163056" y="5596128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4ADE9A"/>
                </a:solidFill>
                <a:latin typeface="Consolas"/>
                <a:ea typeface="Consolas"/>
                <a:cs typeface="Consolas"/>
              </a:rPr>
              <a:t>60%</a:t>
            </a:r>
            <a:endParaRPr sz="24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DCEAF52-EF65-4C36-AB16-5AB76EC135A7}"/>
              </a:ext>
            </a:extLst>
          </p:cNvPr>
          <p:cNvSpPr>
            <a:spLocks noGrp="1"/>
          </p:cNvSpPr>
          <p:nvPr/>
        </p:nvSpPr>
        <p:spPr>
          <a:xfrm>
            <a:off x="7123176" y="5596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Дисциплина</a:t>
            </a:r>
            <a:endParaRPr sz="120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E0F7CC2-9C02-45E1-92D8-8F6A58D5AC38}"/>
              </a:ext>
            </a:extLst>
          </p:cNvPr>
          <p:cNvSpPr>
            <a:spLocks noGrp="1"/>
          </p:cNvSpPr>
          <p:nvPr/>
        </p:nvSpPr>
        <p:spPr>
          <a:xfrm>
            <a:off x="8970264" y="5596128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52%</a:t>
            </a:r>
            <a:endParaRPr sz="240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716D1AC-3F64-46E5-9839-69C668785540}"/>
              </a:ext>
            </a:extLst>
          </p:cNvPr>
          <p:cNvSpPr>
            <a:spLocks noGrp="1"/>
          </p:cNvSpPr>
          <p:nvPr/>
        </p:nvSpPr>
        <p:spPr>
          <a:xfrm>
            <a:off x="9930384" y="559612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Уверенность</a:t>
            </a:r>
            <a:endParaRPr sz="120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F955AD5-3988-4605-B826-65518D9187C1}"/>
              </a:ext>
            </a:extLst>
          </p:cNvPr>
          <p:cNvSpPr>
            <a:spLocks noGrp="1"/>
          </p:cNvSpPr>
          <p:nvPr/>
        </p:nvSpPr>
        <p:spPr>
          <a:xfrm>
            <a:off x="548640" y="61447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Пример из демо-профиля. Низкий процент — повод для развития, а не диагноз.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7364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464EB2-ADFA-43AA-A634-EA377DDE85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93D0675-761C-49B5-867C-251EF20E68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041F3A-5D51-4D7E-9E5C-FEF9E9A6D6DC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ПРОФЕССИОНАЛЬНЫЕ НАВЫКИ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9346DD-1EC3-4FC9-BD21-2E3782F96DE0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Опасное решение учитывается отдельно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4D07A2-3C0F-443F-B158-5296A27ABD3D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spc="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BI ACADEMY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1A51A4-6EBB-4A55-99A0-51FE637A118A}"/>
              </a:ext>
            </a:extLst>
          </p:cNvPr>
          <p:cNvSpPr>
            <a:spLocks noGrp="1"/>
          </p:cNvSpPr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FB4CC"/>
                </a:solidFill>
                <a:latin typeface="Consolas"/>
                <a:ea typeface="Consolas"/>
                <a:cs typeface="Consolas"/>
              </a:rPr>
              <a:t>07</a:t>
            </a:r>
            <a:endParaRPr sz="10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D1BF423-1B69-45F8-B916-2EB80B24B076}"/>
              </a:ext>
            </a:extLst>
          </p:cNvPr>
          <p:cNvSpPr>
            <a:spLocks noGrp="1"/>
          </p:cNvSpPr>
          <p:nvPr/>
        </p:nvSpPr>
        <p:spPr>
          <a:xfrm>
            <a:off x="548640" y="1737360"/>
            <a:ext cx="5669280" cy="4297680"/>
          </a:xfrm>
          <a:prstGeom prst="roundRect">
            <a:avLst>
              <a:gd name="adj" fmla="val 1915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1E370B3-3ABA-4972-867E-947CCCAF2CFC}"/>
              </a:ext>
            </a:extLst>
          </p:cNvPr>
          <p:cNvSpPr>
            <a:spLocks noGrp="1"/>
          </p:cNvSpPr>
          <p:nvPr/>
        </p:nvSpPr>
        <p:spPr>
          <a:xfrm>
            <a:off x="777240" y="184708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spc="2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ТЕСТОВЫЙ СЦЕНАРИЙ B1 · «Мастер участка»</a:t>
            </a:r>
            <a:endParaRPr sz="11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D12275A-100B-4101-A5B5-4B00CD94B5F0}"/>
              </a:ext>
            </a:extLst>
          </p:cNvPr>
          <p:cNvSpPr>
            <a:spLocks noGrp="1"/>
          </p:cNvSpPr>
          <p:nvPr/>
        </p:nvSpPr>
        <p:spPr>
          <a:xfrm>
            <a:off x="777240" y="22402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Ответ тестовой персоны</a:t>
            </a:r>
            <a:endParaRPr sz="13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D92FD29-ACEE-4E83-8CAB-1E7D846B0CAA}"/>
              </a:ext>
            </a:extLst>
          </p:cNvPr>
          <p:cNvSpPr>
            <a:spLocks noGrp="1"/>
          </p:cNvSpPr>
          <p:nvPr/>
        </p:nvSpPr>
        <p:spPr>
          <a:xfrm>
            <a:off x="777240" y="2560320"/>
            <a:ext cx="5212080" cy="1005840"/>
          </a:xfrm>
          <a:prstGeom prst="roundRect">
            <a:avLst>
              <a:gd name="adj" fmla="val 8182"/>
            </a:avLst>
          </a:prstGeom>
          <a:solidFill>
            <a:srgbClr val="2A1A2E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ACFA59A-6A56-4743-ADFA-0678106D1B3A}"/>
              </a:ext>
            </a:extLst>
          </p:cNvPr>
          <p:cNvSpPr>
            <a:spLocks noGrp="1"/>
          </p:cNvSpPr>
          <p:nvPr/>
        </p:nvSpPr>
        <p:spPr>
          <a:xfrm>
            <a:off x="960120" y="260604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i="1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«Потом сам постучу по бетону и посмотрю, если на вид нормально, начнём снимать опалубку.»</a:t>
            </a:r>
            <a:endParaRPr sz="15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794F681-B69A-4F20-9556-95871C1D432B}"/>
              </a:ext>
            </a:extLst>
          </p:cNvPr>
          <p:cNvSpPr>
            <a:spLocks noGrp="1"/>
          </p:cNvSpPr>
          <p:nvPr/>
        </p:nvSpPr>
        <p:spPr>
          <a:xfrm>
            <a:off x="777240" y="36576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Прочность образцов при этом ниже проектной</a:t>
            </a:r>
            <a:endParaRPr sz="11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27DCA91-DA04-44C4-B2F4-FF69FA109392}"/>
              </a:ext>
            </a:extLst>
          </p:cNvPr>
          <p:cNvSpPr>
            <a:spLocks noGrp="1"/>
          </p:cNvSpPr>
          <p:nvPr/>
        </p:nvSpPr>
        <p:spPr>
          <a:xfrm>
            <a:off x="777240" y="41148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Что сделала система</a:t>
            </a:r>
            <a:endParaRPr sz="13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BF061309-4790-48FD-9C9A-A2AC1113ABE3}"/>
              </a:ext>
            </a:extLst>
          </p:cNvPr>
          <p:cNvSpPr>
            <a:spLocks noGrp="1"/>
          </p:cNvSpPr>
          <p:nvPr/>
        </p:nvSpPr>
        <p:spPr>
          <a:xfrm>
            <a:off x="777240" y="4526280"/>
            <a:ext cx="256032" cy="256032"/>
          </a:xfrm>
          <a:prstGeom prst="ellipse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13EF925-8655-406E-825C-6BEE8515ADE0}"/>
              </a:ext>
            </a:extLst>
          </p:cNvPr>
          <p:cNvSpPr>
            <a:spLocks noGrp="1"/>
          </p:cNvSpPr>
          <p:nvPr/>
        </p:nvSpPr>
        <p:spPr>
          <a:xfrm>
            <a:off x="777240" y="452628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0A1A30"/>
                </a:solidFill>
                <a:latin typeface="Segoe UI Semibold"/>
                <a:ea typeface="Segoe UI Semibold"/>
                <a:cs typeface="Segoe UI Semibold"/>
              </a:rPr>
              <a:t>✓</a:t>
            </a:r>
            <a:endParaRPr sz="10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7ABCD27-F7B0-452B-94A0-93015EA87BEA}"/>
              </a:ext>
            </a:extLst>
          </p:cNvPr>
          <p:cNvSpPr>
            <a:spLocks noGrp="1"/>
          </p:cNvSpPr>
          <p:nvPr/>
        </p:nvSpPr>
        <p:spPr>
          <a:xfrm>
            <a:off x="1170432" y="446227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Признак «опасное решение» с цитатой</a:t>
            </a:r>
            <a:endParaRPr sz="12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E94CFBD-C21B-4384-8E85-E19503BB93DC}"/>
              </a:ext>
            </a:extLst>
          </p:cNvPr>
          <p:cNvSpPr>
            <a:spLocks noGrp="1"/>
          </p:cNvSpPr>
          <p:nvPr/>
        </p:nvSpPr>
        <p:spPr>
          <a:xfrm>
            <a:off x="777240" y="5001768"/>
            <a:ext cx="256032" cy="256032"/>
          </a:xfrm>
          <a:prstGeom prst="ellipse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F781D4D-862A-4250-95BA-B3CDD1C8E3CB}"/>
              </a:ext>
            </a:extLst>
          </p:cNvPr>
          <p:cNvSpPr>
            <a:spLocks noGrp="1"/>
          </p:cNvSpPr>
          <p:nvPr/>
        </p:nvSpPr>
        <p:spPr>
          <a:xfrm>
            <a:off x="777240" y="500176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0A1A30"/>
                </a:solidFill>
                <a:latin typeface="Segoe UI Semibold"/>
                <a:ea typeface="Segoe UI Semibold"/>
                <a:cs typeface="Segoe UI Semibold"/>
              </a:rPr>
              <a:t>✓</a:t>
            </a:r>
            <a:endParaRPr sz="10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C846F01-3C5C-4064-A64E-25926551B124}"/>
              </a:ext>
            </a:extLst>
          </p:cNvPr>
          <p:cNvSpPr>
            <a:spLocks noGrp="1"/>
          </p:cNvSpPr>
          <p:nvPr/>
        </p:nvSpPr>
        <p:spPr>
          <a:xfrm>
            <a:off x="1170432" y="493776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Цитата дословно совпала с ответом</a:t>
            </a:r>
            <a:endParaRPr sz="12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CC9885E-3A2F-4026-A254-59CB3FDA5F0D}"/>
              </a:ext>
            </a:extLst>
          </p:cNvPr>
          <p:cNvSpPr>
            <a:spLocks noGrp="1"/>
          </p:cNvSpPr>
          <p:nvPr/>
        </p:nvSpPr>
        <p:spPr>
          <a:xfrm>
            <a:off x="777240" y="5477256"/>
            <a:ext cx="256032" cy="256032"/>
          </a:xfrm>
          <a:prstGeom prst="ellipse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EC47167-8659-4E9A-9FA0-0C4F65A474D4}"/>
              </a:ext>
            </a:extLst>
          </p:cNvPr>
          <p:cNvSpPr>
            <a:spLocks noGrp="1"/>
          </p:cNvSpPr>
          <p:nvPr/>
        </p:nvSpPr>
        <p:spPr>
          <a:xfrm>
            <a:off x="777240" y="54772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0A1A30"/>
                </a:solidFill>
                <a:latin typeface="Segoe UI Semibold"/>
                <a:ea typeface="Segoe UI Semibold"/>
                <a:cs typeface="Segoe UI Semibold"/>
              </a:rPr>
              <a:t>✓</a:t>
            </a:r>
            <a:endParaRPr sz="10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0A92F324-B9A1-417E-8A91-51BF493B3B41}"/>
              </a:ext>
            </a:extLst>
          </p:cNvPr>
          <p:cNvSpPr>
            <a:spLocks noGrp="1"/>
          </p:cNvSpPr>
          <p:nvPr/>
        </p:nvSpPr>
        <p:spPr>
          <a:xfrm>
            <a:off x="1170432" y="541324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Навыки ограничены до 25% с объяснением</a:t>
            </a:r>
            <a:endParaRPr sz="125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4A3D253-2023-4E5F-BCE1-EDA493BADC95}"/>
              </a:ext>
            </a:extLst>
          </p:cNvPr>
          <p:cNvSpPr>
            <a:spLocks noGrp="1"/>
          </p:cNvSpPr>
          <p:nvPr/>
        </p:nvSpPr>
        <p:spPr>
          <a:xfrm>
            <a:off x="6492240" y="1737360"/>
            <a:ext cx="51508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Результаты трёх тестовых персон</a:t>
            </a:r>
            <a:endParaRPr sz="1800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F3E39245-5BBA-477B-B61E-B4DB5FF2CE67}"/>
              </a:ext>
            </a:extLst>
          </p:cNvPr>
          <p:cNvSpPr>
            <a:spLocks noGrp="1"/>
          </p:cNvSpPr>
          <p:nvPr/>
        </p:nvSpPr>
        <p:spPr>
          <a:xfrm>
            <a:off x="6492240" y="4709160"/>
            <a:ext cx="5150815" cy="1325880"/>
          </a:xfrm>
          <a:prstGeom prst="roundRect">
            <a:avLst>
              <a:gd name="adj" fmla="val 6207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5F6DE72E-DCF3-487E-B7A5-B09E9FF42BB8}"/>
              </a:ext>
            </a:extLst>
          </p:cNvPr>
          <p:cNvSpPr>
            <a:spLocks noGrp="1"/>
          </p:cNvSpPr>
          <p:nvPr/>
        </p:nvSpPr>
        <p:spPr>
          <a:xfrm>
            <a:off x="6720840" y="4754880"/>
            <a:ext cx="4693615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Разные специально составленные ответы дали разные профили. Точность оценки сотрудников предстоит проверить на пилоте.</a:t>
            </a:r>
            <a:endParaRPr sz="1300"/>
          </a:p>
        </p:txBody>
      </p:sp>
      <p:graphicFrame>
        <p:nvGraphicFramePr>
          <p:cNvPr id="49" name="Таблица 48">
            <a:extLst>
              <a:ext uri="{FF2B5EF4-FFF2-40B4-BE49-F238E27FC236}">
                <a16:creationId xmlns:a16="http://schemas.microsoft.com/office/drawing/2014/main" id="{ED87A53E-E103-43B6-8852-E3FF106E3EF8}"/>
              </a:ext>
            </a:extLst>
          </p:cNvPr>
          <p:cNvGraphicFramePr/>
          <p:nvPr/>
        </p:nvGraphicFramePr>
        <p:xfrm>
          <a:off x="6496050" y="2257425"/>
          <a:ext cx="5153025" cy="2266952"/>
        </p:xfrm>
        <a:graphic>
          <a:graphicData uri="http://schemas.openxmlformats.org/drawingml/2006/table">
            <a:tbl>
              <a:tblPr/>
              <a:tblGrid>
                <a:gridCol w="210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73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1F5FC"/>
                          </a:solidFill>
                          <a:latin typeface="Segoe UI Semibold"/>
                          <a:ea typeface="Segoe UI Semibold"/>
                          <a:cs typeface="Segoe UI Semibold"/>
                        </a:rPr>
                        <a:t>Тестовая персона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>
                      <a:solidFill>
                        <a:srgbClr val="285280"/>
                      </a:solidFill>
                      <a:prstDash val="soli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006A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1F5FC"/>
                          </a:solidFill>
                          <a:latin typeface="Segoe UI Semibold"/>
                          <a:ea typeface="Segoe UI Semibold"/>
                          <a:cs typeface="Segoe UI Semibold"/>
                        </a:rPr>
                        <a:t>Навыки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>
                      <a:solidFill>
                        <a:srgbClr val="285280"/>
                      </a:solidFill>
                      <a:prstDash val="soli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006A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1F5FC"/>
                          </a:solidFill>
                          <a:latin typeface="Segoe UI Semibold"/>
                          <a:ea typeface="Segoe UI Semibold"/>
                          <a:cs typeface="Segoe UI Semibold"/>
                        </a:rPr>
                        <a:t>Дисциплина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>
                      <a:solidFill>
                        <a:srgbClr val="285280"/>
                      </a:solidFill>
                      <a:prstDash val="soli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006A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1F5FC"/>
                          </a:solidFill>
                          <a:latin typeface="Segoe UI Semibold"/>
                          <a:ea typeface="Segoe UI Semibold"/>
                          <a:cs typeface="Segoe UI Semibold"/>
                        </a:rPr>
                        <a:t>Риск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>
                      <a:solidFill>
                        <a:srgbClr val="285280"/>
                      </a:solidFill>
                      <a:prstDash val="soli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006A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Прораб A1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75–100%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100%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нет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Инженер ПТО C1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50–75%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65%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нет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Мастер B1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0–25%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35%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да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879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40FF43-0DC1-4B92-B851-85C94ED3CB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F097989-CD7C-4FEC-BF5F-163048B599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B1D5C4B-E287-4C4A-9298-9EE343E3473B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РАЗВИТИЕ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9687D6-94C6-467E-8500-E50870380AC9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Персональный план на 30 дней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4D931A-EF3E-4F26-8560-1E660F6A0522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spc="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BI ACADEMY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1C0E583-4D43-49B6-89D4-03FD3C9DF1A0}"/>
              </a:ext>
            </a:extLst>
          </p:cNvPr>
          <p:cNvSpPr>
            <a:spLocks noGrp="1"/>
          </p:cNvSpPr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FB4CC"/>
                </a:solidFill>
                <a:latin typeface="Consolas"/>
                <a:ea typeface="Consolas"/>
                <a:cs typeface="Consolas"/>
              </a:rPr>
              <a:t>08</a:t>
            </a:r>
            <a:endParaRPr sz="10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AEE22AC-1EE7-4C0E-9A08-58E1F7CBE1F9}"/>
              </a:ext>
            </a:extLst>
          </p:cNvPr>
          <p:cNvSpPr>
            <a:spLocks noGrp="1"/>
          </p:cNvSpPr>
          <p:nvPr/>
        </p:nvSpPr>
        <p:spPr>
          <a:xfrm>
            <a:off x="5105095" y="1691640"/>
            <a:ext cx="6583680" cy="4149090"/>
          </a:xfrm>
          <a:prstGeom prst="roundRect">
            <a:avLst>
              <a:gd name="adj" fmla="val 1763"/>
            </a:avLst>
          </a:prstGeom>
          <a:solidFill>
            <a:srgbClr val="0F2240"/>
          </a:solidFill>
          <a:ln w="12700">
            <a:solidFill>
              <a:srgbClr val="24467A"/>
            </a:solidFill>
            <a:prstDash val="solid"/>
          </a:ln>
        </p:spPr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E3221E6F-7B42-4F43-A5A9-4591D041C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815" y="1737360"/>
            <a:ext cx="6492240" cy="405765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2FE072CD-E618-4F5E-BDE3-72F81C9076CA}"/>
              </a:ext>
            </a:extLst>
          </p:cNvPr>
          <p:cNvSpPr>
            <a:spLocks noGrp="1"/>
          </p:cNvSpPr>
          <p:nvPr/>
        </p:nvSpPr>
        <p:spPr>
          <a:xfrm>
            <a:off x="5150815" y="5932170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Маршрут: практика, критерий проверки, тема BuildEX / BIU и комментарий руководителя</a:t>
            </a:r>
            <a:endParaRPr sz="105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2D85831-8BEA-40CB-BDE4-16CED2202C3B}"/>
              </a:ext>
            </a:extLst>
          </p:cNvPr>
          <p:cNvSpPr>
            <a:spLocks noGrp="1"/>
          </p:cNvSpPr>
          <p:nvPr/>
        </p:nvSpPr>
        <p:spPr>
          <a:xfrm>
            <a:off x="548640" y="1783080"/>
            <a:ext cx="54864" cy="6766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7190B87-545E-46B6-9F24-F6CB28448221}"/>
              </a:ext>
            </a:extLst>
          </p:cNvPr>
          <p:cNvSpPr>
            <a:spLocks noGrp="1"/>
          </p:cNvSpPr>
          <p:nvPr/>
        </p:nvSpPr>
        <p:spPr>
          <a:xfrm>
            <a:off x="749808" y="1737360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4 недели — 4 практики</a:t>
            </a:r>
            <a:endParaRPr sz="14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63BFC05-D829-4483-B8CF-DE445F1D2685}"/>
              </a:ext>
            </a:extLst>
          </p:cNvPr>
          <p:cNvSpPr>
            <a:spLocks noGrp="1"/>
          </p:cNvSpPr>
          <p:nvPr/>
        </p:nvSpPr>
        <p:spPr>
          <a:xfrm>
            <a:off x="749808" y="2048256"/>
            <a:ext cx="425196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Дни 1–7, 8–14, 15–21, 22–30. Каждая привязана к слабому ответу</a:t>
            </a:r>
            <a:endParaRPr sz="115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CD3F521-D6DB-41B5-88B0-145AB89E2BDD}"/>
              </a:ext>
            </a:extLst>
          </p:cNvPr>
          <p:cNvSpPr>
            <a:spLocks noGrp="1"/>
          </p:cNvSpPr>
          <p:nvPr/>
        </p:nvSpPr>
        <p:spPr>
          <a:xfrm>
            <a:off x="548640" y="2660904"/>
            <a:ext cx="54864" cy="6766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6327D24-30AC-40AE-B937-0EDBF41EBB2A}"/>
              </a:ext>
            </a:extLst>
          </p:cNvPr>
          <p:cNvSpPr>
            <a:spLocks noGrp="1"/>
          </p:cNvSpPr>
          <p:nvPr/>
        </p:nvSpPr>
        <p:spPr>
          <a:xfrm>
            <a:off x="749808" y="2615184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Критерий «как проверить»</a:t>
            </a:r>
            <a:endParaRPr sz="14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1062E687-45CD-4DB6-BAEE-0F215D074E5A}"/>
              </a:ext>
            </a:extLst>
          </p:cNvPr>
          <p:cNvSpPr>
            <a:spLocks noGrp="1"/>
          </p:cNvSpPr>
          <p:nvPr/>
        </p:nvSpPr>
        <p:spPr>
          <a:xfrm>
            <a:off x="749808" y="2926080"/>
            <a:ext cx="425196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Понятно, получилось или нет: «ни одна работа не началась без допуска»</a:t>
            </a:r>
            <a:endParaRPr sz="115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D13E8F6A-7B4F-4CB9-AE49-0911E4E3AAC5}"/>
              </a:ext>
            </a:extLst>
          </p:cNvPr>
          <p:cNvSpPr>
            <a:spLocks noGrp="1"/>
          </p:cNvSpPr>
          <p:nvPr/>
        </p:nvSpPr>
        <p:spPr>
          <a:xfrm>
            <a:off x="548640" y="3538728"/>
            <a:ext cx="54864" cy="6766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5053EAB1-9A8C-410B-AA39-403DB28C126D}"/>
              </a:ext>
            </a:extLst>
          </p:cNvPr>
          <p:cNvSpPr>
            <a:spLocks noGrp="1"/>
          </p:cNvSpPr>
          <p:nvPr/>
        </p:nvSpPr>
        <p:spPr>
          <a:xfrm>
            <a:off x="749808" y="3493008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Опора на сильную сторону</a:t>
            </a:r>
            <a:endParaRPr sz="140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7D5C9B0-26B5-436B-BD02-9CB61E4ABEEB}"/>
              </a:ext>
            </a:extLst>
          </p:cNvPr>
          <p:cNvSpPr>
            <a:spLocks noGrp="1"/>
          </p:cNvSpPr>
          <p:nvPr/>
        </p:nvSpPr>
        <p:spPr>
          <a:xfrm>
            <a:off x="749808" y="3803904"/>
            <a:ext cx="425196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Развиваем слабое через то, что уже получается</a:t>
            </a:r>
            <a:endParaRPr sz="115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EAAEA858-A149-415B-B16F-6DAAD970F494}"/>
              </a:ext>
            </a:extLst>
          </p:cNvPr>
          <p:cNvSpPr>
            <a:spLocks noGrp="1"/>
          </p:cNvSpPr>
          <p:nvPr/>
        </p:nvSpPr>
        <p:spPr>
          <a:xfrm>
            <a:off x="548640" y="4416552"/>
            <a:ext cx="54864" cy="6766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6A03CDC-0C56-494B-B2C4-D57F41FA762F}"/>
              </a:ext>
            </a:extLst>
          </p:cNvPr>
          <p:cNvSpPr>
            <a:spLocks noGrp="1"/>
          </p:cNvSpPr>
          <p:nvPr/>
        </p:nvSpPr>
        <p:spPr>
          <a:xfrm>
            <a:off x="749808" y="4370832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Темы для изучения</a:t>
            </a:r>
            <a:endParaRPr sz="14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B239B467-C58C-4D6C-BF88-852EBB446B5E}"/>
              </a:ext>
            </a:extLst>
          </p:cNvPr>
          <p:cNvSpPr>
            <a:spLocks noGrp="1"/>
          </p:cNvSpPr>
          <p:nvPr/>
        </p:nvSpPr>
        <p:spPr>
          <a:xfrm>
            <a:off x="749808" y="4681728"/>
            <a:ext cx="425196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Рекомендации тем для BuildEX и BI University. Прохождение курсов пока не отслеживается</a:t>
            </a:r>
            <a:endParaRPr sz="115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EEB46707-B697-4515-97A8-CE458A1F27C8}"/>
              </a:ext>
            </a:extLst>
          </p:cNvPr>
          <p:cNvSpPr>
            <a:spLocks noGrp="1"/>
          </p:cNvSpPr>
          <p:nvPr/>
        </p:nvSpPr>
        <p:spPr>
          <a:xfrm>
            <a:off x="548640" y="5294376"/>
            <a:ext cx="54864" cy="6766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FC978A90-6194-4314-AE78-27B22457CE39}"/>
              </a:ext>
            </a:extLst>
          </p:cNvPr>
          <p:cNvSpPr>
            <a:spLocks noGrp="1"/>
          </p:cNvSpPr>
          <p:nvPr/>
        </p:nvSpPr>
        <p:spPr>
          <a:xfrm>
            <a:off x="749808" y="5248656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Комментарии руководителя</a:t>
            </a:r>
            <a:endParaRPr sz="140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3E91967C-23D6-4D4F-B60D-FA4EA3707DCE}"/>
              </a:ext>
            </a:extLst>
          </p:cNvPr>
          <p:cNvSpPr>
            <a:spLocks noGrp="1"/>
          </p:cNvSpPr>
          <p:nvPr/>
        </p:nvSpPr>
        <p:spPr>
          <a:xfrm>
            <a:off x="749808" y="5559552"/>
            <a:ext cx="425196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Обратная связь прямо в практике + назначение бесед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59001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7DB8E7-6E51-444C-BBB7-1D4E551A9D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86EEB5A-21C3-40C2-A0E5-1122C08AFF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267AAA-36A7-4EF9-83D0-8ACA97C73A0B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ДИНАМИКА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B47892-643D-499D-A26F-7BE2C204F13C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Сравнение первого и повторного теста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FDEC95-E449-4EB1-8A6B-87B83EB7C228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spc="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BI ACADEMY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152E444-2B08-4248-94F9-42825FFF0A23}"/>
              </a:ext>
            </a:extLst>
          </p:cNvPr>
          <p:cNvSpPr>
            <a:spLocks noGrp="1"/>
          </p:cNvSpPr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FB4CC"/>
                </a:solidFill>
                <a:latin typeface="Consolas"/>
                <a:ea typeface="Consolas"/>
                <a:cs typeface="Consolas"/>
              </a:rPr>
              <a:t>09</a:t>
            </a:r>
            <a:endParaRPr sz="10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11CD2C9-9768-4CBC-A1DD-F8D440AFF1E0}"/>
              </a:ext>
            </a:extLst>
          </p:cNvPr>
          <p:cNvSpPr>
            <a:spLocks noGrp="1"/>
          </p:cNvSpPr>
          <p:nvPr/>
        </p:nvSpPr>
        <p:spPr>
          <a:xfrm>
            <a:off x="548640" y="5932170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Демонстрационные данные. Первый и повторный результаты.</a:t>
            </a:r>
            <a:endParaRPr sz="105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EC163008-3A1F-4C7F-A677-1C072F4A72E6}"/>
              </a:ext>
            </a:extLst>
          </p:cNvPr>
          <p:cNvSpPr>
            <a:spLocks noGrp="1"/>
          </p:cNvSpPr>
          <p:nvPr/>
        </p:nvSpPr>
        <p:spPr>
          <a:xfrm>
            <a:off x="7498080" y="1737360"/>
            <a:ext cx="4144975" cy="4251960"/>
          </a:xfrm>
          <a:prstGeom prst="roundRect">
            <a:avLst>
              <a:gd name="adj" fmla="val 1985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03B4EF7-BF23-40D3-9109-28E1D410F04F}"/>
              </a:ext>
            </a:extLst>
          </p:cNvPr>
          <p:cNvSpPr>
            <a:spLocks noGrp="1"/>
          </p:cNvSpPr>
          <p:nvPr/>
        </p:nvSpPr>
        <p:spPr>
          <a:xfrm>
            <a:off x="7726680" y="1847088"/>
            <a:ext cx="368777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Что это даёт</a:t>
            </a:r>
            <a:endParaRPr sz="16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CA53C7B-86B4-42AC-99E0-94FA54DEC5C5}"/>
              </a:ext>
            </a:extLst>
          </p:cNvPr>
          <p:cNvSpPr>
            <a:spLocks noGrp="1"/>
          </p:cNvSpPr>
          <p:nvPr/>
        </p:nvSpPr>
        <p:spPr>
          <a:xfrm>
            <a:off x="7726680" y="2377440"/>
            <a:ext cx="3687775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4ADE9A"/>
                </a:solidFill>
                <a:latin typeface="Segoe UI Semibold"/>
                <a:ea typeface="Segoe UI Semibold"/>
                <a:cs typeface="Segoe UI Semibold"/>
              </a:rPr>
              <a:t>Сотрудник</a:t>
            </a:r>
            <a:endParaRPr sz="135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BCD8DDE-972E-4D32-B437-0BCC6AF7E5E7}"/>
              </a:ext>
            </a:extLst>
          </p:cNvPr>
          <p:cNvSpPr>
            <a:spLocks noGrp="1"/>
          </p:cNvSpPr>
          <p:nvPr/>
        </p:nvSpPr>
        <p:spPr>
          <a:xfrm>
            <a:off x="7726680" y="2688336"/>
            <a:ext cx="3687775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видит, какие оценки изменились после практики</a:t>
            </a:r>
            <a:endParaRPr sz="12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24D780E-72F7-45D3-93B5-2343FF396E02}"/>
              </a:ext>
            </a:extLst>
          </p:cNvPr>
          <p:cNvSpPr>
            <a:spLocks noGrp="1"/>
          </p:cNvSpPr>
          <p:nvPr/>
        </p:nvSpPr>
        <p:spPr>
          <a:xfrm>
            <a:off x="7726680" y="3246120"/>
            <a:ext cx="3687775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4ADE9A"/>
                </a:solidFill>
                <a:latin typeface="Segoe UI Semibold"/>
                <a:ea typeface="Segoe UI Semibold"/>
                <a:cs typeface="Segoe UI Semibold"/>
              </a:rPr>
              <a:t>Руководитель</a:t>
            </a:r>
            <a:endParaRPr sz="135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6EE6029-4D2C-404B-872C-39FBEA265AAC}"/>
              </a:ext>
            </a:extLst>
          </p:cNvPr>
          <p:cNvSpPr>
            <a:spLocks noGrp="1"/>
          </p:cNvSpPr>
          <p:nvPr/>
        </p:nvSpPr>
        <p:spPr>
          <a:xfrm>
            <a:off x="7726680" y="3557016"/>
            <a:ext cx="3687775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сравнивает результаты и обсуждает ответы</a:t>
            </a:r>
            <a:endParaRPr sz="120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A090B5B7-3DD7-44C0-88D8-28844B2AB0F7}"/>
              </a:ext>
            </a:extLst>
          </p:cNvPr>
          <p:cNvSpPr>
            <a:spLocks noGrp="1"/>
          </p:cNvSpPr>
          <p:nvPr/>
        </p:nvSpPr>
        <p:spPr>
          <a:xfrm>
            <a:off x="7726680" y="4114800"/>
            <a:ext cx="3687775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4ADE9A"/>
                </a:solidFill>
                <a:latin typeface="Segoe UI Semibold"/>
                <a:ea typeface="Segoe UI Semibold"/>
                <a:cs typeface="Segoe UI Semibold"/>
              </a:rPr>
              <a:t>Компания</a:t>
            </a:r>
            <a:endParaRPr sz="135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2F93510-C151-48A5-A6B9-587396559707}"/>
              </a:ext>
            </a:extLst>
          </p:cNvPr>
          <p:cNvSpPr>
            <a:spLocks noGrp="1"/>
          </p:cNvSpPr>
          <p:nvPr/>
        </p:nvSpPr>
        <p:spPr>
          <a:xfrm>
            <a:off x="7726680" y="4425696"/>
            <a:ext cx="3687775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получает основу для обсуждения развития</a:t>
            </a:r>
            <a:endParaRPr sz="120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1073A8BC-C990-4391-A53F-DC177A1F797D}"/>
              </a:ext>
            </a:extLst>
          </p:cNvPr>
          <p:cNvSpPr>
            <a:spLocks noGrp="1"/>
          </p:cNvSpPr>
          <p:nvPr/>
        </p:nvSpPr>
        <p:spPr>
          <a:xfrm>
            <a:off x="7726680" y="4937760"/>
            <a:ext cx="3687775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i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Сравниваем при одной версии методики. Изменение оценки ещё не доказывает улучшение работы сотрудника.</a:t>
            </a:r>
            <a:endParaRPr sz="1100"/>
          </a:p>
        </p:txBody>
      </p:sp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3B019FF7-3B13-47B9-8E81-4B0724CE5F42}"/>
              </a:ext>
            </a:extLst>
          </p:cNvPr>
          <p:cNvGraphicFramePr/>
          <p:nvPr/>
        </p:nvGraphicFramePr>
        <p:xfrm>
          <a:off x="552450" y="2009775"/>
          <a:ext cx="6534150" cy="3295650"/>
        </p:xfrm>
        <a:graphic>
          <a:graphicData uri="http://schemas.openxmlformats.org/drawingml/2006/table">
            <a:tbl>
              <a:tblPr/>
              <a:tblGrid>
                <a:gridCol w="31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913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1F5FC"/>
                          </a:solidFill>
                          <a:latin typeface="Segoe UI Semibold"/>
                          <a:ea typeface="Segoe UI Semibold"/>
                          <a:cs typeface="Segoe UI Semibold"/>
                        </a:rPr>
                        <a:t>Качество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>
                      <a:solidFill>
                        <a:srgbClr val="285280"/>
                      </a:solidFill>
                      <a:prstDash val="soli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006A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1F5FC"/>
                          </a:solidFill>
                          <a:latin typeface="Segoe UI Semibold"/>
                          <a:ea typeface="Segoe UI Semibold"/>
                          <a:cs typeface="Segoe UI Semibold"/>
                        </a:rPr>
                        <a:t>Первый тест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>
                      <a:solidFill>
                        <a:srgbClr val="285280"/>
                      </a:solidFill>
                      <a:prstDash val="soli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006A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1F5FC"/>
                          </a:solidFill>
                          <a:latin typeface="Segoe UI Semibold"/>
                          <a:ea typeface="Segoe UI Semibold"/>
                          <a:cs typeface="Segoe UI Semibold"/>
                        </a:rPr>
                        <a:t>Повторный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>
                      <a:solidFill>
                        <a:srgbClr val="285280"/>
                      </a:solidFill>
                      <a:prstDash val="soli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006A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Мышление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78%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83%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Уверенность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40%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52%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Дисциплина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52%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60%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Вовлечённость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75%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74%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567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3CD237-E1C3-49F1-B239-B99BD3412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B8E21F5-F0FA-43AA-80E3-B6791AF316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560129-D010-4950-8923-058CC69B1CAC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ДЛЯ РУКОВОДИТЕЛЯ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435ACC-2731-48AB-ABC3-5313EBB37242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Результаты команды доступны с согласия сотрудников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B41BE62-6E65-4BD2-B585-D20F00197477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spc="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BI ACADEMY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DD625D-F070-48EC-B7B4-BEAE3263C683}"/>
              </a:ext>
            </a:extLst>
          </p:cNvPr>
          <p:cNvSpPr>
            <a:spLocks noGrp="1"/>
          </p:cNvSpPr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FB4CC"/>
                </a:solidFill>
                <a:latin typeface="Consolas"/>
                <a:ea typeface="Consolas"/>
                <a:cs typeface="Consolas"/>
              </a:rPr>
              <a:t>10</a:t>
            </a:r>
            <a:endParaRPr sz="10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7087C9B-A592-450F-938E-4C06BDD8A25B}"/>
              </a:ext>
            </a:extLst>
          </p:cNvPr>
          <p:cNvSpPr>
            <a:spLocks noGrp="1"/>
          </p:cNvSpPr>
          <p:nvPr/>
        </p:nvSpPr>
        <p:spPr>
          <a:xfrm>
            <a:off x="502920" y="1691640"/>
            <a:ext cx="6126480" cy="3863340"/>
          </a:xfrm>
          <a:prstGeom prst="roundRect">
            <a:avLst>
              <a:gd name="adj" fmla="val 1893"/>
            </a:avLst>
          </a:prstGeom>
          <a:solidFill>
            <a:srgbClr val="0F2240"/>
          </a:solidFill>
          <a:ln w="12700">
            <a:solidFill>
              <a:srgbClr val="24467A"/>
            </a:solidFill>
            <a:prstDash val="solid"/>
          </a:ln>
        </p:spPr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F8C1BFA7-AC9F-44A9-BB2D-4193F3A7B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6035040" cy="377190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84AECEB6-416D-4673-A897-25A5C329ED4D}"/>
              </a:ext>
            </a:extLst>
          </p:cNvPr>
          <p:cNvSpPr>
            <a:spLocks noGrp="1"/>
          </p:cNvSpPr>
          <p:nvPr/>
        </p:nvSpPr>
        <p:spPr>
          <a:xfrm>
            <a:off x="548640" y="564642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Кабинет руководителя: код команды, участники, статус теста, результат</a:t>
            </a:r>
            <a:endParaRPr sz="105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4C5FB2D6-0EE4-4C5F-8651-E1ED1FDA87B1}"/>
              </a:ext>
            </a:extLst>
          </p:cNvPr>
          <p:cNvSpPr>
            <a:spLocks noGrp="1"/>
          </p:cNvSpPr>
          <p:nvPr/>
        </p:nvSpPr>
        <p:spPr>
          <a:xfrm>
            <a:off x="7040880" y="1737360"/>
            <a:ext cx="4602175" cy="932688"/>
          </a:xfrm>
          <a:prstGeom prst="roundRect">
            <a:avLst>
              <a:gd name="adj" fmla="val 8824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129D564-3A42-43B6-AE12-E7A2A016624B}"/>
              </a:ext>
            </a:extLst>
          </p:cNvPr>
          <p:cNvSpPr>
            <a:spLocks noGrp="1"/>
          </p:cNvSpPr>
          <p:nvPr/>
        </p:nvSpPr>
        <p:spPr>
          <a:xfrm>
            <a:off x="7223760" y="1801368"/>
            <a:ext cx="423641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Команда по коду</a:t>
            </a:r>
            <a:endParaRPr sz="13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AEC6CCF-2985-4036-92EE-A00D3FB47BC8}"/>
              </a:ext>
            </a:extLst>
          </p:cNvPr>
          <p:cNvSpPr>
            <a:spLocks noGrp="1"/>
          </p:cNvSpPr>
          <p:nvPr/>
        </p:nvSpPr>
        <p:spPr>
          <a:xfrm>
            <a:off x="7223760" y="2084832"/>
            <a:ext cx="4236415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Руководитель создаёт участок, сотрудники вступают по коду приглашения</a:t>
            </a:r>
            <a:endParaRPr sz="110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5AAFD4E-A7C9-42C8-9CF8-CDDE4D773BAF}"/>
              </a:ext>
            </a:extLst>
          </p:cNvPr>
          <p:cNvSpPr>
            <a:spLocks noGrp="1"/>
          </p:cNvSpPr>
          <p:nvPr/>
        </p:nvSpPr>
        <p:spPr>
          <a:xfrm>
            <a:off x="7040880" y="2770632"/>
            <a:ext cx="4602175" cy="932688"/>
          </a:xfrm>
          <a:prstGeom prst="roundRect">
            <a:avLst>
              <a:gd name="adj" fmla="val 8824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09AEFCE-3171-4328-A861-E9954619CD22}"/>
              </a:ext>
            </a:extLst>
          </p:cNvPr>
          <p:cNvSpPr>
            <a:spLocks noGrp="1"/>
          </p:cNvSpPr>
          <p:nvPr/>
        </p:nvSpPr>
        <p:spPr>
          <a:xfrm>
            <a:off x="7223760" y="2834640"/>
            <a:ext cx="423641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Тепловая карта и средние</a:t>
            </a:r>
            <a:endParaRPr sz="13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B8DD042-BADF-4687-85E5-02103F6D3F20}"/>
              </a:ext>
            </a:extLst>
          </p:cNvPr>
          <p:cNvSpPr>
            <a:spLocks noGrp="1"/>
          </p:cNvSpPr>
          <p:nvPr/>
        </p:nvSpPr>
        <p:spPr>
          <a:xfrm>
            <a:off x="7223760" y="3118104"/>
            <a:ext cx="4236415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Показывают оценки команды и общие темы для развития</a:t>
            </a:r>
            <a:endParaRPr sz="110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08A50FC-B7AA-4654-B740-9BC42E37A419}"/>
              </a:ext>
            </a:extLst>
          </p:cNvPr>
          <p:cNvSpPr>
            <a:spLocks noGrp="1"/>
          </p:cNvSpPr>
          <p:nvPr/>
        </p:nvSpPr>
        <p:spPr>
          <a:xfrm>
            <a:off x="7040880" y="3803904"/>
            <a:ext cx="4602175" cy="932688"/>
          </a:xfrm>
          <a:prstGeom prst="roundRect">
            <a:avLst>
              <a:gd name="adj" fmla="val 8824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42DF641-C60F-4F14-AFAC-2EFFC0918094}"/>
              </a:ext>
            </a:extLst>
          </p:cNvPr>
          <p:cNvSpPr>
            <a:spLocks noGrp="1"/>
          </p:cNvSpPr>
          <p:nvPr/>
        </p:nvSpPr>
        <p:spPr>
          <a:xfrm>
            <a:off x="7223760" y="3867912"/>
            <a:ext cx="423641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Назначить беседу</a:t>
            </a:r>
            <a:endParaRPr sz="130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8B60F7BF-EED0-4347-9A04-12960680AA2E}"/>
              </a:ext>
            </a:extLst>
          </p:cNvPr>
          <p:cNvSpPr>
            <a:spLocks noGrp="1"/>
          </p:cNvSpPr>
          <p:nvPr/>
        </p:nvSpPr>
        <p:spPr>
          <a:xfrm>
            <a:off x="7223760" y="4151376"/>
            <a:ext cx="4236415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Руководитель приглашает сотрудника обсудить зоны развития. Сотрудник принимает или отклоняет приглашение</a:t>
            </a:r>
            <a:endParaRPr sz="110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B6068A29-C425-4B32-958B-D2F1F48FD551}"/>
              </a:ext>
            </a:extLst>
          </p:cNvPr>
          <p:cNvSpPr>
            <a:spLocks noGrp="1"/>
          </p:cNvSpPr>
          <p:nvPr/>
        </p:nvSpPr>
        <p:spPr>
          <a:xfrm>
            <a:off x="7040880" y="4837176"/>
            <a:ext cx="4602175" cy="932688"/>
          </a:xfrm>
          <a:prstGeom prst="roundRect">
            <a:avLst>
              <a:gd name="adj" fmla="val 8824"/>
            </a:avLst>
          </a:prstGeom>
          <a:solidFill>
            <a:srgbClr val="006ACB"/>
          </a:solidFill>
          <a:ln w="12700">
            <a:solidFill>
              <a:srgbClr val="63B3FF"/>
            </a:solidFill>
            <a:prstDash val="solid"/>
          </a:ln>
        </p:spPr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CBFFC9B7-36B3-4DB5-8DF9-D08545D53ADD}"/>
              </a:ext>
            </a:extLst>
          </p:cNvPr>
          <p:cNvSpPr>
            <a:spLocks noGrp="1"/>
          </p:cNvSpPr>
          <p:nvPr/>
        </p:nvSpPr>
        <p:spPr>
          <a:xfrm>
            <a:off x="7223760" y="4901184"/>
            <a:ext cx="423641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Согласие — явное и отзываемое</a:t>
            </a:r>
            <a:endParaRPr sz="13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C3ADBB9E-DFB2-4017-905F-53ED21441A1B}"/>
              </a:ext>
            </a:extLst>
          </p:cNvPr>
          <p:cNvSpPr>
            <a:spLocks noGrp="1"/>
          </p:cNvSpPr>
          <p:nvPr/>
        </p:nvSpPr>
        <p:spPr>
          <a:xfrm>
            <a:off x="7223760" y="5184648"/>
            <a:ext cx="4236415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Без галочки результаты не открываются. Выйти из команды можно в любой момент</a:t>
            </a:r>
            <a:endParaRPr sz="110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454CECC5-8117-4293-880B-D4FF9F6C3763}"/>
              </a:ext>
            </a:extLst>
          </p:cNvPr>
          <p:cNvSpPr>
            <a:spLocks noGrp="1"/>
          </p:cNvSpPr>
          <p:nvPr/>
        </p:nvSpPr>
        <p:spPr>
          <a:xfrm>
            <a:off x="548640" y="614476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«Инструмент развития, а не увольнения» — так прямо написано на странице «Этика и данные».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99079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C22429-2683-43E0-95EC-50381A3717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00D57F-8D80-4E0A-A7A8-914F03FA15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887938-C898-459F-81B8-7020C8683B07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ПРОВЕРКА РЕЗУЛЬТАТОВ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919DBD-3A64-497B-9440-0D64E11FBE65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Одинаковые ответы дали одинаковые проценты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A1619D2-F63D-4496-8352-3233144C380D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spc="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BI ACADEMY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142A4D-715B-4D5F-A3A3-F20EF5FF7044}"/>
              </a:ext>
            </a:extLst>
          </p:cNvPr>
          <p:cNvSpPr>
            <a:spLocks noGrp="1"/>
          </p:cNvSpPr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FB4CC"/>
                </a:solidFill>
                <a:latin typeface="Consolas"/>
                <a:ea typeface="Consolas"/>
                <a:cs typeface="Consolas"/>
              </a:rPr>
              <a:t>11</a:t>
            </a:r>
            <a:endParaRPr sz="100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EFB7A71-A9C1-4A0A-B180-8B9DD364F647}"/>
              </a:ext>
            </a:extLst>
          </p:cNvPr>
          <p:cNvGraphicFramePr/>
          <p:nvPr/>
        </p:nvGraphicFramePr>
        <p:xfrm>
          <a:off x="552450" y="1847850"/>
          <a:ext cx="6096000" cy="3381375"/>
        </p:xfrm>
        <a:graphic>
          <a:graphicData uri="http://schemas.openxmlformats.org/drawingml/2006/table">
            <a:tbl>
              <a:tblPr/>
              <a:tblGrid>
                <a:gridCol w="395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5FC"/>
                          </a:solidFill>
                          <a:latin typeface="Segoe UI Semibold"/>
                          <a:ea typeface="Segoe UI Semibold"/>
                          <a:cs typeface="Segoe UI Semibold"/>
                        </a:rPr>
                        <a:t>Качество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>
                      <a:solidFill>
                        <a:srgbClr val="285280"/>
                      </a:solidFill>
                      <a:prstDash val="soli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006A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1F5FC"/>
                          </a:solidFill>
                          <a:latin typeface="Segoe UI Semibold"/>
                          <a:ea typeface="Segoe UI Semibold"/>
                          <a:cs typeface="Segoe UI Semibold"/>
                        </a:rPr>
                        <a:t>Во всех 6 оценках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>
                      <a:solidFill>
                        <a:srgbClr val="285280"/>
                      </a:solidFill>
                      <a:prstDash val="soli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006A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Критическое мышление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85%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Уверенность в себе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53%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Дисциплина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100%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Вовлечённость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52%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6 из 6">
            <a:extLst>
              <a:ext uri="{FF2B5EF4-FFF2-40B4-BE49-F238E27FC236}">
                <a16:creationId xmlns:a16="http://schemas.microsoft.com/office/drawing/2014/main" id="{4EB1DCCC-2059-4E83-B3E9-CC57D74197B9}"/>
              </a:ext>
            </a:extLst>
          </p:cNvPr>
          <p:cNvSpPr>
            <a:spLocks noGrp="1"/>
          </p:cNvSpPr>
          <p:nvPr/>
        </p:nvSpPr>
        <p:spPr>
          <a:xfrm>
            <a:off x="7219950" y="1828800"/>
            <a:ext cx="43815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65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465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465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465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465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465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465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465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465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465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465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4650" b="1">
                <a:solidFill>
                  <a:srgbClr val="FFD66C"/>
                </a:solidFill>
                <a:latin typeface="Segoe UI Semibold"/>
                <a:ea typeface="Segoe UI Semibold"/>
                <a:cs typeface="Segoe UI Semibold"/>
              </a:rPr>
              <a:t>6 из 6</a:t>
            </a:r>
          </a:p>
        </p:txBody>
      </p:sp>
      <p:sp>
        <p:nvSpPr>
          <p:cNvPr id="10" name="результатов совпали&#10;по четырём качествам">
            <a:extLst>
              <a:ext uri="{FF2B5EF4-FFF2-40B4-BE49-F238E27FC236}">
                <a16:creationId xmlns:a16="http://schemas.microsoft.com/office/drawing/2014/main" id="{693FA5A8-8879-4D24-93F8-366D20F311C9}"/>
              </a:ext>
            </a:extLst>
          </p:cNvPr>
          <p:cNvSpPr>
            <a:spLocks noGrp="1"/>
          </p:cNvSpPr>
          <p:nvPr/>
        </p:nvSpPr>
        <p:spPr>
          <a:xfrm>
            <a:off x="7219950" y="2762250"/>
            <a:ext cx="43815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defRPr>
            </a:defPPr>
            <a:lvl1pPr>
              <a:def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defRPr>
            </a:lvl1pPr>
            <a:lvl2pPr>
              <a:def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defRPr>
            </a:lvl2pPr>
            <a:lvl3pPr>
              <a:def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defRPr>
            </a:lvl3pPr>
            <a:lvl4pPr>
              <a:def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defRPr>
            </a:lvl4pPr>
            <a:lvl5pPr>
              <a:def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defRPr>
            </a:lvl5pPr>
            <a:lvl6pPr>
              <a:def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defRPr>
            </a:lvl6pPr>
            <a:lvl7pPr>
              <a:def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defRPr>
            </a:lvl7pPr>
            <a:lvl8pPr>
              <a:def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defRPr>
            </a:lvl8pPr>
            <a:lvl9pPr>
              <a:def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defRPr>
            </a:lvl9pPr>
          </a:lstStyle>
          <a:p>
            <a:pPr>
              <a:def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rPr>
              <a:t>результатов совпали</a:t>
            </a:r>
          </a:p>
          <a:p>
            <a:pPr>
              <a:def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250" b="1">
                <a:solidFill>
                  <a:srgbClr val="F1F5FC"/>
                </a:solidFill>
                <a:latin typeface="Segoe UI Semibold"/>
                <a:ea typeface="Segoe UI Semibold"/>
                <a:cs typeface="Segoe UI Semibold"/>
              </a:rPr>
              <a:t>по четырём качествам</a:t>
            </a:r>
          </a:p>
        </p:txBody>
      </p:sp>
      <p:sp>
        <p:nvSpPr>
          <p:cNvPr id="11" name="Один набор из 15 ответов&#10;оценили шесть раз.">
            <a:extLst>
              <a:ext uri="{FF2B5EF4-FFF2-40B4-BE49-F238E27FC236}">
                <a16:creationId xmlns:a16="http://schemas.microsoft.com/office/drawing/2014/main" id="{8A93B219-34FC-40C4-8E7A-85E0A5077754}"/>
              </a:ext>
            </a:extLst>
          </p:cNvPr>
          <p:cNvSpPr>
            <a:spLocks noGrp="1"/>
          </p:cNvSpPr>
          <p:nvPr/>
        </p:nvSpPr>
        <p:spPr>
          <a:xfrm>
            <a:off x="7219950" y="3829050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Один набор из 15 ответов</a:t>
            </a:r>
          </a:p>
          <a:p>
            <a:pPr>
              <a:defRPr sz="172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оценили шесть раз.</a:t>
            </a:r>
          </a:p>
        </p:txBody>
      </p:sp>
      <p:sp>
        <p:nvSpPr>
          <p:cNvPr id="12" name="Один результат потребовал&#10;повторного запроса.">
            <a:extLst>
              <a:ext uri="{FF2B5EF4-FFF2-40B4-BE49-F238E27FC236}">
                <a16:creationId xmlns:a16="http://schemas.microsoft.com/office/drawing/2014/main" id="{7F22448F-1D96-47DC-92C6-DE6BE3DD55F1}"/>
              </a:ext>
            </a:extLst>
          </p:cNvPr>
          <p:cNvSpPr>
            <a:spLocks noGrp="1"/>
          </p:cNvSpPr>
          <p:nvPr/>
        </p:nvSpPr>
        <p:spPr>
          <a:xfrm>
            <a:off x="7219950" y="4648200"/>
            <a:ext cx="43815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Один результат потребовал</a:t>
            </a:r>
          </a:p>
          <a:p>
            <a: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повторного запроса.</a:t>
            </a:r>
          </a:p>
        </p:txBody>
      </p:sp>
      <p:sp>
        <p:nvSpPr>
          <p:cNvPr id="13" name="Оценки отдельных навыков различались. Точност">
            <a:extLst>
              <a:ext uri="{FF2B5EF4-FFF2-40B4-BE49-F238E27FC236}">
                <a16:creationId xmlns:a16="http://schemas.microsoft.com/office/drawing/2014/main" id="{E8A324D2-9E66-4262-8207-DADC53C9A07D}"/>
              </a:ext>
            </a:extLst>
          </p:cNvPr>
          <p:cNvSpPr>
            <a:spLocks noGrp="1"/>
          </p:cNvSpPr>
          <p:nvPr/>
        </p:nvSpPr>
        <p:spPr>
          <a:xfrm>
            <a:off x="552450" y="5600700"/>
            <a:ext cx="11096625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75" b="0">
                <a:solidFill>
                  <a:srgbClr val="A7BCD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CD2"/>
                </a:solidFill>
                <a:latin typeface="Segoe UI"/>
                <a:ea typeface="Segoe UI"/>
                <a:cs typeface="Segoe UI"/>
              </a:rPr>
              <a:t>Оценки отдельных навыков различались. Точность оценивания сотрудников проверим с экспертами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336684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D9E40B-731F-4E3E-BD9E-2DFF2EE6D7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5EA2315-4E1B-4631-9CB8-AE86F4F059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96BF83-5632-4AB8-9F6B-3A4908F8D3D6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РАСХОДЫ НА ИИ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FAA93F-B136-42C6-969B-8DABF4965F42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Расходы на ИИ: около 7,5 ₸ за тест на русском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020E3A2-BFAB-4018-9B60-C4978D58BBD1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spc="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BI ACADEMY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D5D434-C85B-4BC2-979B-AD8E0C23342F}"/>
              </a:ext>
            </a:extLst>
          </p:cNvPr>
          <p:cNvSpPr>
            <a:spLocks noGrp="1"/>
          </p:cNvSpPr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FB4CC"/>
                </a:solidFill>
                <a:latin typeface="Consolas"/>
                <a:ea typeface="Consolas"/>
                <a:cs typeface="Consolas"/>
              </a:rPr>
              <a:t>12</a:t>
            </a:r>
            <a:endParaRPr sz="10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B400188-C372-4F98-B9C2-D26C5D09FCB3}"/>
              </a:ext>
            </a:extLst>
          </p:cNvPr>
          <p:cNvSpPr>
            <a:spLocks noGrp="1"/>
          </p:cNvSpPr>
          <p:nvPr/>
        </p:nvSpPr>
        <p:spPr>
          <a:xfrm>
            <a:off x="548640" y="17830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006ACB"/>
          </a:solidFill>
          <a:ln w="12700">
            <a:solidFill>
              <a:srgbClr val="63B3FF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0216F0C-32AB-487B-8CC1-F31660219D35}"/>
              </a:ext>
            </a:extLst>
          </p:cNvPr>
          <p:cNvSpPr>
            <a:spLocks noGrp="1"/>
          </p:cNvSpPr>
          <p:nvPr/>
        </p:nvSpPr>
        <p:spPr>
          <a:xfrm>
            <a:off x="548640" y="1920240"/>
            <a:ext cx="36118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8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7,5 ₸</a:t>
            </a:r>
            <a:endParaRPr sz="38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3DF62A3-83D9-49C4-8601-B24211EDE637}"/>
              </a:ext>
            </a:extLst>
          </p:cNvPr>
          <p:cNvSpPr>
            <a:spLocks noGrp="1"/>
          </p:cNvSpPr>
          <p:nvPr/>
        </p:nvSpPr>
        <p:spPr>
          <a:xfrm>
            <a:off x="548640" y="26974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первый тест на русском</a:t>
            </a:r>
            <a:endParaRPr sz="15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C6EF874-DE13-443F-A6D5-485E12C7CEFA}"/>
              </a:ext>
            </a:extLst>
          </p:cNvPr>
          <p:cNvSpPr>
            <a:spLocks noGrp="1"/>
          </p:cNvSpPr>
          <p:nvPr/>
        </p:nvSpPr>
        <p:spPr>
          <a:xfrm>
            <a:off x="731520" y="310896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≈ $0,017 · все запросы к ИИ</a:t>
            </a:r>
            <a:endParaRPr sz="11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773E949-8937-42DA-8E2A-956A48270A12}"/>
              </a:ext>
            </a:extLst>
          </p:cNvPr>
          <p:cNvSpPr>
            <a:spLocks noGrp="1"/>
          </p:cNvSpPr>
          <p:nvPr/>
        </p:nvSpPr>
        <p:spPr>
          <a:xfrm>
            <a:off x="4270248" y="17830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6B11731-54B1-4C5D-8825-4A2FD2EEA7B7}"/>
              </a:ext>
            </a:extLst>
          </p:cNvPr>
          <p:cNvSpPr>
            <a:spLocks noGrp="1"/>
          </p:cNvSpPr>
          <p:nvPr/>
        </p:nvSpPr>
        <p:spPr>
          <a:xfrm>
            <a:off x="4270248" y="1920240"/>
            <a:ext cx="36118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8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75 000 ₸</a:t>
            </a:r>
            <a:endParaRPr sz="38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EC381C4-4102-4C47-B87A-309F81432F79}"/>
              </a:ext>
            </a:extLst>
          </p:cNvPr>
          <p:cNvSpPr>
            <a:spLocks noGrp="1"/>
          </p:cNvSpPr>
          <p:nvPr/>
        </p:nvSpPr>
        <p:spPr>
          <a:xfrm>
            <a:off x="4270248" y="26974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расчёт на 10 000 человек</a:t>
            </a:r>
            <a:endParaRPr sz="15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E8371FD-7D4E-435E-87C6-AEF91AB0CE97}"/>
              </a:ext>
            </a:extLst>
          </p:cNvPr>
          <p:cNvSpPr>
            <a:spLocks noGrp="1"/>
          </p:cNvSpPr>
          <p:nvPr/>
        </p:nvSpPr>
        <p:spPr>
          <a:xfrm>
            <a:off x="4453128" y="310896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≈ $166 по среднему расходу</a:t>
            </a:r>
            <a:endParaRPr sz="11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D193D37-C199-40F4-BA99-F8EF3D54DFD5}"/>
              </a:ext>
            </a:extLst>
          </p:cNvPr>
          <p:cNvSpPr>
            <a:spLocks noGrp="1"/>
          </p:cNvSpPr>
          <p:nvPr/>
        </p:nvSpPr>
        <p:spPr>
          <a:xfrm>
            <a:off x="7991856" y="178308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5644F5F-4F7F-4AC7-BC8C-EA5526D2422B}"/>
              </a:ext>
            </a:extLst>
          </p:cNvPr>
          <p:cNvSpPr>
            <a:spLocks noGrp="1"/>
          </p:cNvSpPr>
          <p:nvPr/>
        </p:nvSpPr>
        <p:spPr>
          <a:xfrm>
            <a:off x="7991856" y="1920240"/>
            <a:ext cx="36118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8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1,5–2 мин</a:t>
            </a:r>
            <a:endParaRPr sz="38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F83E6A7-CF8B-4F78-A6A6-FF6D58FFBA2E}"/>
              </a:ext>
            </a:extLst>
          </p:cNvPr>
          <p:cNvSpPr>
            <a:spLocks noGrp="1"/>
          </p:cNvSpPr>
          <p:nvPr/>
        </p:nvSpPr>
        <p:spPr>
          <a:xfrm>
            <a:off x="7991856" y="26974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ожидание ИИ на русском</a:t>
            </a:r>
            <a:endParaRPr sz="15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69361AB-557A-4CFE-BEEC-F28F8C36EA97}"/>
              </a:ext>
            </a:extLst>
          </p:cNvPr>
          <p:cNvSpPr>
            <a:spLocks noGrp="1"/>
          </p:cNvSpPr>
          <p:nvPr/>
        </p:nvSpPr>
        <p:spPr>
          <a:xfrm>
            <a:off x="8174736" y="310896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5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без времени на чтение и ответы</a:t>
            </a:r>
            <a:endParaRPr sz="115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18DF346-0BB9-4DF6-A907-FBC69FE58445}"/>
              </a:ext>
            </a:extLst>
          </p:cNvPr>
          <p:cNvSpPr>
            <a:spLocks noGrp="1"/>
          </p:cNvSpPr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Стоимость на разных языках и при повторном тесте</a:t>
            </a:r>
            <a:endParaRPr sz="16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7B0EF984-D17E-4C53-8829-670E176AAC03}"/>
              </a:ext>
            </a:extLst>
          </p:cNvPr>
          <p:cNvSpPr>
            <a:spLocks noGrp="1"/>
          </p:cNvSpPr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i="1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Замеры 20–21.10.2026, курс отчёта 455 ₸/$. Только ИИ, без хостинга и сопровождения.</a:t>
            </a:r>
            <a:endParaRPr sz="1000"/>
          </a:p>
        </p:txBody>
      </p:sp>
      <p:graphicFrame>
        <p:nvGraphicFramePr>
          <p:cNvPr id="42" name="Таблица 41">
            <a:extLst>
              <a:ext uri="{FF2B5EF4-FFF2-40B4-BE49-F238E27FC236}">
                <a16:creationId xmlns:a16="http://schemas.microsoft.com/office/drawing/2014/main" id="{3ACB6B65-C11E-45C4-B160-D152FE740654}"/>
              </a:ext>
            </a:extLst>
          </p:cNvPr>
          <p:cNvGraphicFramePr/>
          <p:nvPr/>
        </p:nvGraphicFramePr>
        <p:xfrm>
          <a:off x="552450" y="4533900"/>
          <a:ext cx="11096625" cy="1590675"/>
        </p:xfrm>
        <a:graphic>
          <a:graphicData uri="http://schemas.openxmlformats.org/drawingml/2006/table">
            <a:tbl>
              <a:tblPr/>
              <a:tblGrid>
                <a:gridCol w="642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813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1F5FC"/>
                          </a:solidFill>
                          <a:latin typeface="Segoe UI Semibold"/>
                          <a:ea typeface="Segoe UI Semibold"/>
                          <a:cs typeface="Segoe UI Semibold"/>
                        </a:rPr>
                        <a:t>Сценарий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>
                      <a:solidFill>
                        <a:srgbClr val="285280"/>
                      </a:solidFill>
                      <a:prstDash val="soli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006A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1F5FC"/>
                          </a:solidFill>
                          <a:latin typeface="Segoe UI Semibold"/>
                          <a:ea typeface="Segoe UI Semibold"/>
                          <a:cs typeface="Segoe UI Semibold"/>
                        </a:rPr>
                        <a:t>На человека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>
                      <a:solidFill>
                        <a:srgbClr val="285280"/>
                      </a:solidFill>
                      <a:prstDash val="soli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006A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1F5FC"/>
                          </a:solidFill>
                          <a:latin typeface="Segoe UI Semibold"/>
                          <a:ea typeface="Segoe UI Semibold"/>
                          <a:cs typeface="Segoe UI Semibold"/>
                        </a:rPr>
                        <a:t>На 10 000 человек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>
                      <a:solidFill>
                        <a:srgbClr val="285280"/>
                      </a:solidFill>
                      <a:prstDash val="soli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006A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Русский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≈ 7,5 ₸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≈ 75 000 ₸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Английский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≈ 8,6 ₸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≈ 86 000 ₸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Казахский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≈ 9,2 ₸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≈ 92 000 ₸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1F5FC"/>
                          </a:solidFill>
                          <a:latin typeface="Segoe UI"/>
                          <a:ea typeface="Segoe UI"/>
                          <a:cs typeface="Segoe UI"/>
                        </a:rPr>
                        <a:t>Первый и повторный тест на казахском</a:t>
                      </a:r>
                    </a:p>
                  </a:txBody>
                  <a:tcPr>
                    <a:lnL w="7620">
                      <a:solidFill>
                        <a:srgbClr val="285280"/>
                      </a:solidFill>
                      <a:prstDash val="soli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≈ 20 ₸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A7BCD2"/>
                          </a:solidFill>
                          <a:latin typeface="Segoe UI"/>
                          <a:ea typeface="Segoe UI"/>
                          <a:cs typeface="Segoe UI"/>
                        </a:rPr>
                        <a:t>≈ 200 000 ₸</a:t>
                      </a:r>
                    </a:p>
                  </a:txBody>
                  <a:tcPr>
                    <a:lnL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285280"/>
                      </a:solidFill>
                      <a:prstDash val="solid"/>
                    </a:lnR>
                    <a:lnT w="7620" cap="flat" cmpd="sng" algn="ctr">
                      <a:solidFill>
                        <a:srgbClr val="285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285280"/>
                      </a:solidFill>
                      <a:prstDash val="solid"/>
                    </a:lnB>
                    <a:solidFill>
                      <a:srgbClr val="12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563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1E22F0-C008-4A66-9BCC-F54B528E23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8C4394-6560-4B93-B54C-5234EFBB92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A82435-02A3-4437-9B08-A3AEF9573895}"/>
              </a:ext>
            </a:extLst>
          </p:cNvPr>
          <p:cNvSpPr>
            <a:spLocks noGrp="1"/>
          </p:cNvSpPr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ПОЧЕМУ МЫ</a:t>
            </a:r>
            <a:endParaRPr sz="1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597BBD-6FEF-4711-A972-3A39097BFAC3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Девять причин выбрать BI Academy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5330F6-E796-4C3A-B4A8-BEEF46A50350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spc="300">
                <a:solidFill>
                  <a:srgbClr val="9FB4CC"/>
                </a:solidFill>
                <a:latin typeface="Segoe UI Semibold"/>
                <a:ea typeface="Segoe UI Semibold"/>
                <a:cs typeface="Segoe UI Semibold"/>
              </a:rPr>
              <a:t>BI ACADEMY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553548-CC3E-459A-95AC-0E8424196CC7}"/>
              </a:ext>
            </a:extLst>
          </p:cNvPr>
          <p:cNvSpPr>
            <a:spLocks noGrp="1"/>
          </p:cNvSpPr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9FB4CC"/>
                </a:solidFill>
                <a:latin typeface="Consolas"/>
                <a:ea typeface="Consolas"/>
                <a:cs typeface="Consolas"/>
              </a:rPr>
              <a:t>13</a:t>
            </a:r>
            <a:endParaRPr sz="10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65A8675-0C86-4D81-B04E-FD890434D1B5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4E8058F-DEEB-4587-93A5-2E03FF7F49B6}"/>
              </a:ext>
            </a:extLst>
          </p:cNvPr>
          <p:cNvSpPr>
            <a:spLocks noGrp="1"/>
          </p:cNvSpPr>
          <p:nvPr/>
        </p:nvSpPr>
        <p:spPr>
          <a:xfrm>
            <a:off x="731520" y="1801368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01</a:t>
            </a:r>
            <a:endParaRPr sz="18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A4F3965-7C4B-4423-991C-A72FDE341016}"/>
              </a:ext>
            </a:extLst>
          </p:cNvPr>
          <p:cNvSpPr>
            <a:spLocks noGrp="1"/>
          </p:cNvSpPr>
          <p:nvPr/>
        </p:nvSpPr>
        <p:spPr>
          <a:xfrm>
            <a:off x="1371600" y="180136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Ситуации со стройки</a:t>
            </a:r>
            <a:endParaRPr sz="14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DA64355-0173-443E-A337-412C0EBCA8ED}"/>
              </a:ext>
            </a:extLst>
          </p:cNvPr>
          <p:cNvSpPr>
            <a:spLocks noGrp="1"/>
          </p:cNvSpPr>
          <p:nvPr/>
        </p:nvSpPr>
        <p:spPr>
          <a:xfrm>
            <a:off x="731520" y="2258568"/>
            <a:ext cx="324612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Бетонирование, распалубка, высотные работы и смежные бригады. Ситуации по 12 должностям</a:t>
            </a:r>
            <a:endParaRPr sz="11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6D6C55F-6A5E-4719-8811-60F6161D21C3}"/>
              </a:ext>
            </a:extLst>
          </p:cNvPr>
          <p:cNvSpPr>
            <a:spLocks noGrp="1"/>
          </p:cNvSpPr>
          <p:nvPr/>
        </p:nvSpPr>
        <p:spPr>
          <a:xfrm>
            <a:off x="4270248" y="169164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784A78C-DD36-4645-A44A-A92BCF786397}"/>
              </a:ext>
            </a:extLst>
          </p:cNvPr>
          <p:cNvSpPr>
            <a:spLocks noGrp="1"/>
          </p:cNvSpPr>
          <p:nvPr/>
        </p:nvSpPr>
        <p:spPr>
          <a:xfrm>
            <a:off x="4453128" y="1801368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02</a:t>
            </a:r>
            <a:endParaRPr sz="18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A76800F-BCB2-4BE2-A166-7E1319622B11}"/>
              </a:ext>
            </a:extLst>
          </p:cNvPr>
          <p:cNvSpPr>
            <a:spLocks noGrp="1"/>
          </p:cNvSpPr>
          <p:nvPr/>
        </p:nvSpPr>
        <p:spPr>
          <a:xfrm>
            <a:off x="5093208" y="180136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Рабочие приоритеты</a:t>
            </a:r>
            <a:endParaRPr sz="14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D395A38-E682-4329-9BB6-4CECAFDA8E55}"/>
              </a:ext>
            </a:extLst>
          </p:cNvPr>
          <p:cNvSpPr>
            <a:spLocks noGrp="1"/>
          </p:cNvSpPr>
          <p:nvPr/>
        </p:nvSpPr>
        <p:spPr>
          <a:xfrm>
            <a:off x="4453128" y="2258568"/>
            <a:ext cx="324612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Варианты ответа показывают разные подходы к работе. Рискованный выбор учитывается отдельно</a:t>
            </a:r>
            <a:endParaRPr sz="11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4E9436F-EAC4-4D32-8DD3-756647BBAC99}"/>
              </a:ext>
            </a:extLst>
          </p:cNvPr>
          <p:cNvSpPr>
            <a:spLocks noGrp="1"/>
          </p:cNvSpPr>
          <p:nvPr/>
        </p:nvSpPr>
        <p:spPr>
          <a:xfrm>
            <a:off x="7991856" y="169164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2D0E398-08B9-4BB3-BABF-DF19A0B9A118}"/>
              </a:ext>
            </a:extLst>
          </p:cNvPr>
          <p:cNvSpPr>
            <a:spLocks noGrp="1"/>
          </p:cNvSpPr>
          <p:nvPr/>
        </p:nvSpPr>
        <p:spPr>
          <a:xfrm>
            <a:off x="8174736" y="1801368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03</a:t>
            </a:r>
            <a:endParaRPr sz="18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B2ADD0F-2297-40AE-AC95-A4D63D474F19}"/>
              </a:ext>
            </a:extLst>
          </p:cNvPr>
          <p:cNvSpPr>
            <a:spLocks noGrp="1"/>
          </p:cNvSpPr>
          <p:nvPr/>
        </p:nvSpPr>
        <p:spPr>
          <a:xfrm>
            <a:off x="8814816" y="180136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Адаптивность</a:t>
            </a:r>
            <a:endParaRPr sz="14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5039088-7550-451B-88CF-043A037B0D3A}"/>
              </a:ext>
            </a:extLst>
          </p:cNvPr>
          <p:cNvSpPr>
            <a:spLocks noGrp="1"/>
          </p:cNvSpPr>
          <p:nvPr/>
        </p:nvSpPr>
        <p:spPr>
          <a:xfrm>
            <a:off x="8174736" y="2258568"/>
            <a:ext cx="324612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10 вопросов под должность + 5 открытых, каждый строится на ваших прошлых ответах</a:t>
            </a:r>
            <a:endParaRPr sz="110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B07742F-43CE-469E-95BF-8E252CD0A3E8}"/>
              </a:ext>
            </a:extLst>
          </p:cNvPr>
          <p:cNvSpPr>
            <a:spLocks noGrp="1"/>
          </p:cNvSpPr>
          <p:nvPr/>
        </p:nvSpPr>
        <p:spPr>
          <a:xfrm>
            <a:off x="548640" y="3172968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10AE1A6-1656-4CE6-9BE2-22950670A6ED}"/>
              </a:ext>
            </a:extLst>
          </p:cNvPr>
          <p:cNvSpPr>
            <a:spLocks noGrp="1"/>
          </p:cNvSpPr>
          <p:nvPr/>
        </p:nvSpPr>
        <p:spPr>
          <a:xfrm>
            <a:off x="731520" y="3282696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04</a:t>
            </a:r>
            <a:endParaRPr sz="18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48AD5742-0E1F-43D6-852D-7208BB2895E2}"/>
              </a:ext>
            </a:extLst>
          </p:cNvPr>
          <p:cNvSpPr>
            <a:spLocks noGrp="1"/>
          </p:cNvSpPr>
          <p:nvPr/>
        </p:nvSpPr>
        <p:spPr>
          <a:xfrm>
            <a:off x="1371600" y="3282696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Объяснимо</a:t>
            </a:r>
            <a:endParaRPr sz="14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E5D69E9-78D7-4F40-B8C5-5F0D63830258}"/>
              </a:ext>
            </a:extLst>
          </p:cNvPr>
          <p:cNvSpPr>
            <a:spLocks noGrp="1"/>
          </p:cNvSpPr>
          <p:nvPr/>
        </p:nvSpPr>
        <p:spPr>
          <a:xfrm>
            <a:off x="731520" y="3739896"/>
            <a:ext cx="324612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Результат сопровождают объяснения и цитаты из ответов. Понятно, на чём основана оценка</a:t>
            </a:r>
            <a:endParaRPr sz="110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C49CCA3E-543D-47E5-9B93-1C54D1211A28}"/>
              </a:ext>
            </a:extLst>
          </p:cNvPr>
          <p:cNvSpPr>
            <a:spLocks noGrp="1"/>
          </p:cNvSpPr>
          <p:nvPr/>
        </p:nvSpPr>
        <p:spPr>
          <a:xfrm>
            <a:off x="4270248" y="3172968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1E0C11F-6D75-4F19-8D24-949A23C2C426}"/>
              </a:ext>
            </a:extLst>
          </p:cNvPr>
          <p:cNvSpPr>
            <a:spLocks noGrp="1"/>
          </p:cNvSpPr>
          <p:nvPr/>
        </p:nvSpPr>
        <p:spPr>
          <a:xfrm>
            <a:off x="4453128" y="3282696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05</a:t>
            </a:r>
            <a:endParaRPr sz="18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0B4D252-84F9-47F5-8E15-A4B69C096CC6}"/>
              </a:ext>
            </a:extLst>
          </p:cNvPr>
          <p:cNvSpPr>
            <a:spLocks noGrp="1"/>
          </p:cNvSpPr>
          <p:nvPr/>
        </p:nvSpPr>
        <p:spPr>
          <a:xfrm>
            <a:off x="5093208" y="3282696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Воспроизводимо</a:t>
            </a:r>
            <a:endParaRPr sz="14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576A8C31-BCB6-49E9-BE29-B6314007FD22}"/>
              </a:ext>
            </a:extLst>
          </p:cNvPr>
          <p:cNvSpPr>
            <a:spLocks noGrp="1"/>
          </p:cNvSpPr>
          <p:nvPr/>
        </p:nvSpPr>
        <p:spPr>
          <a:xfrm>
            <a:off x="4453128" y="3739896"/>
            <a:ext cx="324612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В шести оценках одних ответов совпали проценты всех четырёх качеств</a:t>
            </a:r>
            <a:endParaRPr sz="110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A340A853-7723-46F7-A1BA-922E818A7321}"/>
              </a:ext>
            </a:extLst>
          </p:cNvPr>
          <p:cNvSpPr>
            <a:spLocks noGrp="1"/>
          </p:cNvSpPr>
          <p:nvPr/>
        </p:nvSpPr>
        <p:spPr>
          <a:xfrm>
            <a:off x="7991856" y="3172968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7DF65F1A-8C42-42D9-9532-D4F0B1828E19}"/>
              </a:ext>
            </a:extLst>
          </p:cNvPr>
          <p:cNvSpPr>
            <a:spLocks noGrp="1"/>
          </p:cNvSpPr>
          <p:nvPr/>
        </p:nvSpPr>
        <p:spPr>
          <a:xfrm>
            <a:off x="8174736" y="3282696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06</a:t>
            </a:r>
            <a:endParaRPr sz="18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3FE69D31-FA24-4553-A7EE-3BFED2FC2F6A}"/>
              </a:ext>
            </a:extLst>
          </p:cNvPr>
          <p:cNvSpPr>
            <a:spLocks noGrp="1"/>
          </p:cNvSpPr>
          <p:nvPr/>
        </p:nvSpPr>
        <p:spPr>
          <a:xfrm>
            <a:off x="8814816" y="3282696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Выявляет риск</a:t>
            </a:r>
            <a:endParaRPr sz="1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05B2F398-98F1-4F89-B56E-382084674BB0}"/>
              </a:ext>
            </a:extLst>
          </p:cNvPr>
          <p:cNvSpPr>
            <a:spLocks noGrp="1"/>
          </p:cNvSpPr>
          <p:nvPr/>
        </p:nvSpPr>
        <p:spPr>
          <a:xfrm>
            <a:off x="8174736" y="3739896"/>
            <a:ext cx="324612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В тестовом сценарии система выявила опасное решение и ограничила навыки до 25%</a:t>
            </a:r>
            <a:endParaRPr sz="110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783967A6-7347-4E08-A3CA-FF7349806AB1}"/>
              </a:ext>
            </a:extLst>
          </p:cNvPr>
          <p:cNvSpPr>
            <a:spLocks noGrp="1"/>
          </p:cNvSpPr>
          <p:nvPr/>
        </p:nvSpPr>
        <p:spPr>
          <a:xfrm>
            <a:off x="548640" y="4654296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F856A0E-9AE6-45D1-83C9-EF142AAA2634}"/>
              </a:ext>
            </a:extLst>
          </p:cNvPr>
          <p:cNvSpPr>
            <a:spLocks noGrp="1"/>
          </p:cNvSpPr>
          <p:nvPr/>
        </p:nvSpPr>
        <p:spPr>
          <a:xfrm>
            <a:off x="731520" y="4764024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07</a:t>
            </a:r>
            <a:endParaRPr sz="180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FB51C1F7-A92B-46AA-A164-8FB6C0B3F25D}"/>
              </a:ext>
            </a:extLst>
          </p:cNvPr>
          <p:cNvSpPr>
            <a:spLocks noGrp="1"/>
          </p:cNvSpPr>
          <p:nvPr/>
        </p:nvSpPr>
        <p:spPr>
          <a:xfrm>
            <a:off x="1371600" y="476402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Ведёт к действию</a:t>
            </a:r>
            <a:endParaRPr sz="140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8163892B-A53B-408C-86F4-0E0044195257}"/>
              </a:ext>
            </a:extLst>
          </p:cNvPr>
          <p:cNvSpPr>
            <a:spLocks noGrp="1"/>
          </p:cNvSpPr>
          <p:nvPr/>
        </p:nvSpPr>
        <p:spPr>
          <a:xfrm>
            <a:off x="731520" y="5221224"/>
            <a:ext cx="324612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План на 30 дней, критерии успеха, темы BuildEX / BIU, повторный тест</a:t>
            </a:r>
            <a:endParaRPr sz="110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492FCBC5-C4A6-4BAB-A50B-762239638634}"/>
              </a:ext>
            </a:extLst>
          </p:cNvPr>
          <p:cNvSpPr>
            <a:spLocks noGrp="1"/>
          </p:cNvSpPr>
          <p:nvPr/>
        </p:nvSpPr>
        <p:spPr>
          <a:xfrm>
            <a:off x="4270248" y="4654296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08CC187A-B43D-4311-805A-67FE6E925EF4}"/>
              </a:ext>
            </a:extLst>
          </p:cNvPr>
          <p:cNvSpPr>
            <a:spLocks noGrp="1"/>
          </p:cNvSpPr>
          <p:nvPr/>
        </p:nvSpPr>
        <p:spPr>
          <a:xfrm>
            <a:off x="4453128" y="4764024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08</a:t>
            </a:r>
            <a:endParaRPr sz="18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2DFCA191-1E8C-4241-B5EC-DCA911B2126B}"/>
              </a:ext>
            </a:extLst>
          </p:cNvPr>
          <p:cNvSpPr>
            <a:spLocks noGrp="1"/>
          </p:cNvSpPr>
          <p:nvPr/>
        </p:nvSpPr>
        <p:spPr>
          <a:xfrm>
            <a:off x="5093208" y="476402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Работа с командой</a:t>
            </a:r>
            <a:endParaRPr sz="140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F7667246-F30A-4ACC-9757-5270853E995C}"/>
              </a:ext>
            </a:extLst>
          </p:cNvPr>
          <p:cNvSpPr>
            <a:spLocks noGrp="1"/>
          </p:cNvSpPr>
          <p:nvPr/>
        </p:nvSpPr>
        <p:spPr>
          <a:xfrm>
            <a:off x="4453128" y="5221224"/>
            <a:ext cx="324612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Результаты команды, планы и беседы. Доступ к результатам после согласия сотрудника</a:t>
            </a:r>
            <a:endParaRPr sz="1100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D4891B98-552C-430C-96FF-36EB515E1052}"/>
              </a:ext>
            </a:extLst>
          </p:cNvPr>
          <p:cNvSpPr>
            <a:spLocks noGrp="1"/>
          </p:cNvSpPr>
          <p:nvPr/>
        </p:nvSpPr>
        <p:spPr>
          <a:xfrm>
            <a:off x="7991856" y="4654296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F08532FF-C121-4398-A8B0-285B038F49C7}"/>
              </a:ext>
            </a:extLst>
          </p:cNvPr>
          <p:cNvSpPr>
            <a:spLocks noGrp="1"/>
          </p:cNvSpPr>
          <p:nvPr/>
        </p:nvSpPr>
        <p:spPr>
          <a:xfrm>
            <a:off x="8174736" y="4764024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09</a:t>
            </a:r>
            <a:endParaRPr sz="180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181C31C8-1404-43BE-8860-417A9962DD27}"/>
              </a:ext>
            </a:extLst>
          </p:cNvPr>
          <p:cNvSpPr>
            <a:spLocks noGrp="1"/>
          </p:cNvSpPr>
          <p:nvPr/>
        </p:nvSpPr>
        <p:spPr>
          <a:xfrm>
            <a:off x="8814816" y="476402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Работающий прототип</a:t>
            </a:r>
            <a:endParaRPr sz="140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22522F76-D085-445A-B07B-CA32393448C1}"/>
              </a:ext>
            </a:extLst>
          </p:cNvPr>
          <p:cNvSpPr>
            <a:spLocks noGrp="1"/>
          </p:cNvSpPr>
          <p:nvPr/>
        </p:nvSpPr>
        <p:spPr>
          <a:xfrm>
            <a:off x="8174736" y="5221224"/>
            <a:ext cx="3246120" cy="7498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Три языка, работа с телефона и сохранение ответов. Расходы на ИИ измерены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37136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59A0E8-5E5A-4E49-93F3-020537EC34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ACB"/>
          </a:solidFill>
          <a:ln w="12700">
            <a:solidFill>
              <a:srgbClr val="006AC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5602DA-92EE-4CA1-906B-72BA14ACBB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21945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5705E3-98A7-4CD0-A893-C693E5B8E6D0}"/>
              </a:ext>
            </a:extLst>
          </p:cNvPr>
          <p:cNvSpPr>
            <a:spLocks noGrp="1"/>
          </p:cNvSpPr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spc="300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ИТОГ</a:t>
            </a:r>
            <a:endParaRPr sz="13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F3B33C-F812-4DEA-B103-869853DCAFC0}"/>
              </a:ext>
            </a:extLst>
          </p:cNvPr>
          <p:cNvSpPr>
            <a:spLocks noGrp="1"/>
          </p:cNvSpPr>
          <p:nvPr/>
        </p:nvSpPr>
        <p:spPr>
          <a:xfrm>
            <a:off x="548640" y="100584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38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BI Academy помогает понять,</a:t>
            </a:r>
            <a:endParaRPr sz="3800"/>
          </a:p>
          <a:p>
            <a:pPr marL="0" indent="0">
              <a:buNone/>
            </a:pPr>
            <a:r>
              <a:rPr sz="3800" b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что развивать и с чего начать</a:t>
            </a:r>
            <a:endParaRPr sz="38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3C41FE2-F3B0-4CFC-B4C3-4DC7A9F49ADA}"/>
              </a:ext>
            </a:extLst>
          </p:cNvPr>
          <p:cNvSpPr>
            <a:spLocks noGrp="1"/>
          </p:cNvSpPr>
          <p:nvPr/>
        </p:nvSpPr>
        <p:spPr>
          <a:xfrm>
            <a:off x="548640" y="28346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006ACB"/>
          </a:solidFill>
          <a:ln w="12700">
            <a:solidFill>
              <a:srgbClr val="63B3F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7B12D76-4796-4769-85FF-4C7D8FB1E2D0}"/>
              </a:ext>
            </a:extLst>
          </p:cNvPr>
          <p:cNvSpPr>
            <a:spLocks noGrp="1"/>
          </p:cNvSpPr>
          <p:nvPr/>
        </p:nvSpPr>
        <p:spPr>
          <a:xfrm>
            <a:off x="777240" y="2971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Выполнено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092620A-D6D8-4B63-AC8D-37AE3D084F0F}"/>
              </a:ext>
            </a:extLst>
          </p:cNvPr>
          <p:cNvSpPr>
            <a:spLocks noGrp="1"/>
          </p:cNvSpPr>
          <p:nvPr/>
        </p:nvSpPr>
        <p:spPr>
          <a:xfrm>
            <a:off x="777240" y="342900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Тест, профиль и план на 30 дней. Кабинет руководителя и три языка</a:t>
            </a:r>
            <a:endParaRPr sz="12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BA5990C-A07F-444E-B99F-97BDD06623FA}"/>
              </a:ext>
            </a:extLst>
          </p:cNvPr>
          <p:cNvSpPr>
            <a:spLocks noGrp="1"/>
          </p:cNvSpPr>
          <p:nvPr/>
        </p:nvSpPr>
        <p:spPr>
          <a:xfrm>
            <a:off x="3355848" y="28346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A412117-64F5-422F-BCE4-6340A1DF52CF}"/>
              </a:ext>
            </a:extLst>
          </p:cNvPr>
          <p:cNvSpPr>
            <a:spLocks noGrp="1"/>
          </p:cNvSpPr>
          <p:nvPr/>
        </p:nvSpPr>
        <p:spPr>
          <a:xfrm>
            <a:off x="3584448" y="2971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Проверено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B033771-E1A3-4CE4-842D-DF0789F676D2}"/>
              </a:ext>
            </a:extLst>
          </p:cNvPr>
          <p:cNvSpPr>
            <a:spLocks noGrp="1"/>
          </p:cNvSpPr>
          <p:nvPr/>
        </p:nvSpPr>
        <p:spPr>
          <a:xfrm>
            <a:off x="3584448" y="342900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В 6 оценках совпали проценты четырёх качеств. Выявлен риск в тестовом сценарии</a:t>
            </a:r>
            <a:endParaRPr sz="12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DC96AEF-68DD-453B-A07C-FCFBB7C53DA5}"/>
              </a:ext>
            </a:extLst>
          </p:cNvPr>
          <p:cNvSpPr>
            <a:spLocks noGrp="1"/>
          </p:cNvSpPr>
          <p:nvPr/>
        </p:nvSpPr>
        <p:spPr>
          <a:xfrm>
            <a:off x="6163056" y="28346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20FB030-32EA-4AE3-A329-5B5817D973A6}"/>
              </a:ext>
            </a:extLst>
          </p:cNvPr>
          <p:cNvSpPr>
            <a:spLocks noGrp="1"/>
          </p:cNvSpPr>
          <p:nvPr/>
        </p:nvSpPr>
        <p:spPr>
          <a:xfrm>
            <a:off x="6391656" y="2971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Доступно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7DA9762-5869-42DF-82D3-86CA74CC6805}"/>
              </a:ext>
            </a:extLst>
          </p:cNvPr>
          <p:cNvSpPr>
            <a:spLocks noGrp="1"/>
          </p:cNvSpPr>
          <p:nvPr/>
        </p:nvSpPr>
        <p:spPr>
          <a:xfrm>
            <a:off x="6391656" y="342900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На ИИ: около 7,5 ₸ за тест на русском. Расчёт на 10 000 человек: 75 000 ₸</a:t>
            </a:r>
            <a:endParaRPr sz="12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F8C3C41-A8D2-4C88-A0DC-E344ADE00BED}"/>
              </a:ext>
            </a:extLst>
          </p:cNvPr>
          <p:cNvSpPr>
            <a:spLocks noGrp="1"/>
          </p:cNvSpPr>
          <p:nvPr/>
        </p:nvSpPr>
        <p:spPr>
          <a:xfrm>
            <a:off x="8970264" y="28346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12294A"/>
          </a:solidFill>
          <a:ln w="12700">
            <a:solidFill>
              <a:srgbClr val="24467A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094C7C9-3FCD-4A4C-A983-D44C9A51DE11}"/>
              </a:ext>
            </a:extLst>
          </p:cNvPr>
          <p:cNvSpPr>
            <a:spLocks noGrp="1"/>
          </p:cNvSpPr>
          <p:nvPr/>
        </p:nvSpPr>
        <p:spPr>
          <a:xfrm>
            <a:off x="9198864" y="2971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D166"/>
                </a:solidFill>
                <a:latin typeface="Segoe UI Semibold"/>
                <a:ea typeface="Segoe UI Semibold"/>
                <a:cs typeface="Segoe UI Semibold"/>
              </a:rPr>
              <a:t>Честно</a:t>
            </a:r>
            <a:endParaRPr sz="18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E06F3C0-45F3-4A2D-9B5C-6DE04D795655}"/>
              </a:ext>
            </a:extLst>
          </p:cNvPr>
          <p:cNvSpPr>
            <a:spLocks noGrp="1"/>
          </p:cNvSpPr>
          <p:nvPr/>
        </p:nvSpPr>
        <p:spPr>
          <a:xfrm>
            <a:off x="9198864" y="342900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F2F7FD"/>
                </a:solidFill>
                <a:latin typeface="Segoe UI"/>
                <a:ea typeface="Segoe UI"/>
                <a:cs typeface="Segoe UI"/>
              </a:rPr>
              <a:t>Прототип: готовы к пилоту и калибровке с экспертами</a:t>
            </a:r>
            <a:endParaRPr sz="12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A9A3A0E-63D5-4B85-8F6D-8B13027F5146}"/>
              </a:ext>
            </a:extLst>
          </p:cNvPr>
          <p:cNvSpPr>
            <a:spLocks noGrp="1"/>
          </p:cNvSpPr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2000" dirty="0" err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Готовы</a:t>
            </a:r>
            <a:r>
              <a:rPr sz="2000" dirty="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 </a:t>
            </a:r>
            <a:r>
              <a:rPr sz="2000" dirty="0" err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показать</a:t>
            </a:r>
            <a:r>
              <a:rPr sz="2000" dirty="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 </a:t>
            </a:r>
            <a:r>
              <a:rPr sz="2000" dirty="0" err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продукт</a:t>
            </a:r>
            <a:r>
              <a:rPr sz="2000" dirty="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 в </a:t>
            </a:r>
            <a:r>
              <a:rPr sz="2000" dirty="0" err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работе</a:t>
            </a:r>
            <a:r>
              <a:rPr sz="2000" dirty="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 и </a:t>
            </a:r>
            <a:r>
              <a:rPr sz="2000" dirty="0" err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ответить</a:t>
            </a:r>
            <a:r>
              <a:rPr sz="2000" dirty="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 </a:t>
            </a:r>
            <a:r>
              <a:rPr sz="2000" dirty="0" err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на</a:t>
            </a:r>
            <a:r>
              <a:rPr sz="2000" dirty="0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 </a:t>
            </a:r>
            <a:r>
              <a:rPr sz="2000" dirty="0" err="1">
                <a:solidFill>
                  <a:srgbClr val="F2F7FD"/>
                </a:solidFill>
                <a:latin typeface="Segoe UI Semibold"/>
                <a:ea typeface="Segoe UI Semibold"/>
                <a:cs typeface="Segoe UI Semibold"/>
              </a:rPr>
              <a:t>вопросы</a:t>
            </a:r>
            <a:endParaRPr lang="en-US" sz="2000" dirty="0">
              <a:solidFill>
                <a:srgbClr val="F2F7FD"/>
              </a:solidFill>
              <a:latin typeface="Segoe UI Semibold"/>
              <a:ea typeface="Segoe UI Semibold"/>
              <a:cs typeface="Segoe UI Semibold"/>
            </a:endParaRPr>
          </a:p>
          <a:p>
            <a:r>
              <a:rPr lang="ru-RU" sz="2000" dirty="0">
                <a:solidFill>
                  <a:srgbClr val="9FB4CC"/>
                </a:solidFill>
                <a:latin typeface="Segoe UI"/>
                <a:cs typeface="Segoe UI"/>
              </a:rPr>
              <a:t>Доступ – </a:t>
            </a:r>
            <a:r>
              <a:rPr lang="en-US" sz="2000" dirty="0">
                <a:solidFill>
                  <a:srgbClr val="9FB4CC"/>
                </a:solidFill>
                <a:latin typeface="Segoe UI"/>
                <a:cs typeface="Segoe UI"/>
              </a:rPr>
              <a:t>bigroup.pin-planet.org</a:t>
            </a:r>
            <a:endParaRPr lang="en-US" sz="2000" dirty="0"/>
          </a:p>
          <a:p>
            <a:pPr marL="0" indent="0">
              <a:buNone/>
            </a:pPr>
            <a:endParaRPr sz="2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DC2FF26-D805-4206-B2E8-45F195AE1215}"/>
              </a:ext>
            </a:extLst>
          </p:cNvPr>
          <p:cNvSpPr>
            <a:spLocks noGrp="1"/>
          </p:cNvSpPr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9FB4CC"/>
                </a:solidFill>
                <a:latin typeface="Segoe UI"/>
                <a:ea typeface="Segoe UI"/>
                <a:cs typeface="Segoe UI"/>
              </a:rPr>
              <a:t>Наседкин Максим · Чапанов Альберт · Варварюк Андрей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61639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2651</Words>
  <Application>Microsoft Office PowerPoint</Application>
  <DocSecurity>0</DocSecurity>
  <PresentationFormat>Широкоэкранный</PresentationFormat>
  <Paragraphs>331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Segoe UI</vt:lpstr>
      <vt:lpstr>Segoe UI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Максим Наседкин</cp:lastModifiedBy>
  <cp:revision>4</cp:revision>
  <dcterms:created xsi:type="dcterms:W3CDTF">2026-10-21T07:18:50Z</dcterms:created>
  <dcterms:modified xsi:type="dcterms:W3CDTF">2026-10-21T16:33:56Z</dcterms:modified>
</cp:coreProperties>
</file>