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30438478ec4b3f" /><Relationship Type="http://schemas.openxmlformats.org/officeDocument/2006/relationships/extended-properties" Target="/docProps/app.xml" Id="R74447ae6e3b34117" /><Relationship Type="http://schemas.openxmlformats.org/officeDocument/2006/relationships/officeDocument" Target="/ppt/presentation.xml" Id="R65fbe1eb134d4d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3eed7a55214915"/>
  </p:sldMasterIdLst>
  <p:notesMasterIdLst>
    <p:notesMasterId xmlns:r="http://schemas.openxmlformats.org/officeDocument/2006/relationships" r:id="R28c4ceba4b4446ec"/>
  </p:notesMasterIdLst>
  <p:sldIdLst>
    <p:sldId xmlns:r="http://schemas.openxmlformats.org/officeDocument/2006/relationships" id="256" r:id="R0c78b214829f43dd"/>
    <p:sldId xmlns:r="http://schemas.openxmlformats.org/officeDocument/2006/relationships" id="257" r:id="R55c0fc87a4584ba7"/>
    <p:sldId xmlns:r="http://schemas.openxmlformats.org/officeDocument/2006/relationships" id="258" r:id="Rb2529514c1d04be6"/>
    <p:sldId xmlns:r="http://schemas.openxmlformats.org/officeDocument/2006/relationships" id="259" r:id="R58c72f9e558646a9"/>
    <p:sldId xmlns:r="http://schemas.openxmlformats.org/officeDocument/2006/relationships" id="260" r:id="R328ca999e0654ad4"/>
    <p:sldId xmlns:r="http://schemas.openxmlformats.org/officeDocument/2006/relationships" id="261" r:id="Rdb9c145bbf774bad"/>
    <p:sldId xmlns:r="http://schemas.openxmlformats.org/officeDocument/2006/relationships" id="262" r:id="R06d67749b06a47e5"/>
    <p:sldId xmlns:r="http://schemas.openxmlformats.org/officeDocument/2006/relationships" id="263" r:id="R9f1625437f68492f"/>
    <p:sldId xmlns:r="http://schemas.openxmlformats.org/officeDocument/2006/relationships" id="264" r:id="R7c319603a85e4303"/>
    <p:sldId xmlns:r="http://schemas.openxmlformats.org/officeDocument/2006/relationships" id="265" r:id="Rc72f619d69e3456b"/>
    <p:sldId xmlns:r="http://schemas.openxmlformats.org/officeDocument/2006/relationships" id="266" r:id="Rbd8208d25fc64752"/>
    <p:sldId xmlns:r="http://schemas.openxmlformats.org/officeDocument/2006/relationships" id="267" r:id="R9eb0b0bb68e5419a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378d08aebd48b5" /><Relationship Type="http://schemas.openxmlformats.org/officeDocument/2006/relationships/slideMaster" Target="/ppt/slideMasters/slideMaster1.xml" Id="R093eed7a55214915" /><Relationship Type="http://schemas.openxmlformats.org/officeDocument/2006/relationships/notesMaster" Target="/ppt/notesMasters/notesMaster1.xml" Id="R28c4ceba4b4446ec" /><Relationship Type="http://schemas.openxmlformats.org/officeDocument/2006/relationships/presProps" Target="/ppt/presProps.xml" Id="R87e6d56ce23142b7" /><Relationship Type="http://schemas.openxmlformats.org/officeDocument/2006/relationships/viewProps" Target="/ppt/viewProps.xml" Id="R160ffc05af1943f6" /><Relationship Type="http://schemas.openxmlformats.org/officeDocument/2006/relationships/tableStyles" Target="/ppt/tableStyles.xml" Id="R25c8cc13f44146af" /><Relationship Type="http://schemas.openxmlformats.org/officeDocument/2006/relationships/slide" Target="/ppt/slides/slide1.xml" Id="R0c78b214829f43dd" /><Relationship Type="http://schemas.openxmlformats.org/officeDocument/2006/relationships/slide" Target="/ppt/slides/slide2.xml" Id="R55c0fc87a4584ba7" /><Relationship Type="http://schemas.openxmlformats.org/officeDocument/2006/relationships/slide" Target="/ppt/slides/slide3.xml" Id="Rb2529514c1d04be6" /><Relationship Type="http://schemas.openxmlformats.org/officeDocument/2006/relationships/slide" Target="/ppt/slides/slide4.xml" Id="R58c72f9e558646a9" /><Relationship Type="http://schemas.openxmlformats.org/officeDocument/2006/relationships/slide" Target="/ppt/slides/slide5.xml" Id="R328ca999e0654ad4" /><Relationship Type="http://schemas.openxmlformats.org/officeDocument/2006/relationships/slide" Target="/ppt/slides/slide6.xml" Id="Rdb9c145bbf774bad" /><Relationship Type="http://schemas.openxmlformats.org/officeDocument/2006/relationships/slide" Target="/ppt/slides/slide7.xml" Id="R06d67749b06a47e5" /><Relationship Type="http://schemas.openxmlformats.org/officeDocument/2006/relationships/slide" Target="/ppt/slides/slide8.xml" Id="R9f1625437f68492f" /><Relationship Type="http://schemas.openxmlformats.org/officeDocument/2006/relationships/slide" Target="/ppt/slides/slide9.xml" Id="R7c319603a85e4303" /><Relationship Type="http://schemas.openxmlformats.org/officeDocument/2006/relationships/slide" Target="/ppt/slides/slide10.xml" Id="Rc72f619d69e3456b" /><Relationship Type="http://schemas.openxmlformats.org/officeDocument/2006/relationships/slide" Target="/ppt/slides/slide11.xml" Id="Rbd8208d25fc64752" /><Relationship Type="http://schemas.openxmlformats.org/officeDocument/2006/relationships/slide" Target="/ppt/slides/slide12.xml" Id="R9eb0b0bb68e541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5660f8e4504a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7369d168a640f1" /><Relationship Type="http://schemas.openxmlformats.org/officeDocument/2006/relationships/notesMaster" Target="/ppt/notesMasters/notesMaster1.xml" Id="R232dab95bb3645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44ee6a413f43c6" /><Relationship Type="http://schemas.openxmlformats.org/officeDocument/2006/relationships/notesMaster" Target="/ppt/notesMasters/notesMaster1.xml" Id="R0825327dc2af4e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7b927e7ff64142" /><Relationship Type="http://schemas.openxmlformats.org/officeDocument/2006/relationships/notesMaster" Target="/ppt/notesMasters/notesMaster1.xml" Id="R616bcdd32abc44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e8b2e818504ab8" /><Relationship Type="http://schemas.openxmlformats.org/officeDocument/2006/relationships/notesMaster" Target="/ppt/notesMasters/notesMaster1.xml" Id="R68437cb978854e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7acd0809c34c12" /><Relationship Type="http://schemas.openxmlformats.org/officeDocument/2006/relationships/notesMaster" Target="/ppt/notesMasters/notesMaster1.xml" Id="R312aece305ef43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681e1333d84bf5" /><Relationship Type="http://schemas.openxmlformats.org/officeDocument/2006/relationships/notesMaster" Target="/ppt/notesMasters/notesMaster1.xml" Id="R8d8e1777fe344d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04b193900f4548" /><Relationship Type="http://schemas.openxmlformats.org/officeDocument/2006/relationships/notesMaster" Target="/ppt/notesMasters/notesMaster1.xml" Id="R3e859332be1d4a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b4fb1b2d07427f" /><Relationship Type="http://schemas.openxmlformats.org/officeDocument/2006/relationships/notesMaster" Target="/ppt/notesMasters/notesMaster1.xml" Id="Red340e6c72844f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b29ec65bb84cd5" /><Relationship Type="http://schemas.openxmlformats.org/officeDocument/2006/relationships/notesMaster" Target="/ppt/notesMasters/notesMaster1.xml" Id="R387cdad6018547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67ed5739b94e9e" /><Relationship Type="http://schemas.openxmlformats.org/officeDocument/2006/relationships/notesMaster" Target="/ppt/notesMasters/notesMaster1.xml" Id="R62995ad2c7e54d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1bf7295fd84ff8" /><Relationship Type="http://schemas.openxmlformats.org/officeDocument/2006/relationships/notesMaster" Target="/ppt/notesMasters/notesMaster1.xml" Id="Rf7532e9433d040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64703ef61944e6" /><Relationship Type="http://schemas.openxmlformats.org/officeDocument/2006/relationships/notesMaster" Target="/ppt/notesMasters/notesMaster1.xml" Id="R0c080f903d7a43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Команда указана пользователем. Скриншот действующего интерфейса, снят 21.10.2026 с сохранённым результатом A1 реального запроса к модели. Ответы A1 составлены для тестовой персоны. Источники: README.md; docs/реальные проверки/runs/A1/attempt.json; src/dynamic/DynamicResultsPage.tsx.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функций: src/dynamic/DynamicResultsPage.tsx; DynamicDevelopmentPage.tsx; ProgressPanel.tsx; src/auth/ManagerTeamsPage.tsx; src/meetings/MeetingPlanner.tsx. Сравнение с ограниченными форматами: тест, выдающий один итоговый балл, и отдельный чат без подключённой системы учёта. Это позиционирование продукта, не утверждение об отсутствии этих возможностей у всех конкурентов.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src/auth/ManagerTeamsPage.tsx; src/auth/ManagerEmployeeCard.tsx; src/dynamic/ProgressPanel.tsx; src/features/team/TeamPage.tsx; src/meetings/MeetingPlanner.tsx. Описана практическая полезность реализованных функций, не измеренный экономический эффект.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Мобильный скриншот /demo, блок четырёх качеств при ширине 390 пикселей, текущая production-сборка 21.10.2026. Источники: src/i18n; src/dynamic/use-localized-attempt.ts; server/content-translations.ts; src/features/results/ProfileTabs.tsx; README.md, Аккаунты и доступ; docs/реальные проверки/ОТЧЁТ.md, раздел 4а. Переводы могут требовать времени при первом запросе.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Скриншот обновлённого интерфейса /results?tab=details, сохранённый ответ A1 из реального прохождения тестовой персоны. Источники: docs/реальные проверки/runs/A1/attempt.json; README.md; server/dynamic*.ts; src/dynamic/DynamicAssessmentPage.tsx. Банк расширяется, поэтому точное число вопросов здесь не фиксируется.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Скриншот /demo?view=route, первый блок маршрута, снят 21.10.2026. Это пример на вымышленных данных, не новый реальный замер ИИ. Источники: src/dynamic/DynamicDevelopmentPage.tsx; src/auth/ManagerEmployeeCard.tsx. Прямой интеграции с BuildEX и BIU нет, запись и прохождение курсов система не отслеживает.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Скриншот текущего /demo?tab=progress, 21.10.2026. Данные и улучшения примера составлены вручную и не являются результатами пилота. Источники: src/dynamic/ProgressPanel.tsx; src/dynamic/progress.ts; src/content/dynamic-demo.ts. В рабочем аккаунте сравниваются сохранённые оценки и содержание ответов, при наличии отображается серединное прохождение.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Скриншот /team/demo, вкладка «Качества сотрудников», текущая production-сборка 21.10.2026. Это вымышленная команда. Источники: src/auth/ManagerTeamsPage.tsx; src/features/team/TeamPage.tsx; src/meetings/MeetingPlanner.tsx. Согласие проверяет сервер, назначение бесед реализовано в рабочих кабинетах.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docs/реальные проверки/ОТЧЁТ.md, разделы 1 и 5; summary.json; A1, R1–R5. Повторяемость четырёх итоговых качеств не означает 100% точность оценки квалификации. Отдельные профессиональные критерии и навыки смещались на один уровень шкалы 0–4. Девять из десяти оценок приняты с первого раза, одна после повторного запроса. Сервер проверяет дословное совпадение цитат с ответами.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docs/реальные проверки/runs/B1/attempt.json; docs/реальные проверки/ОТЧЁТ.md, раздел 2. Скриншоты обновлённого /results?tab=details сняты 21.10.2026 с реальным сохранённым результатом B1. Это один проверочный сценарий, не гарантия выявления всех нарушений и не доказательство снижения аварийности.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docs/реальные проверки/ОТЧЁТ.md, разделы 3, 4, 4а; summary.json. Базовое среднее $0,0166, казахский $0,0201, английский $0,0188. Первый плюс повторный тест с анализом на казахском около $0,044, или 20 ₸ при курсе отчёта 455 ₸/$. Это исторические замеры и оценка только модельных расходов. Перевод добавляет 13–20 секунд ожидания, сохраняется и не повторяется при переключении на уже переведённый язык. 91–112 секунд — базовое ожидание ИИ по четырём полным прохождениям, не общая длительность теста.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Состав команды указан пользователем. Основания преимуществ: реализованные страницы и серверные функции проекта, docs/реальные проверки/ОТЧЁТ.md. Это работающий прототип для пилота. Результаты на тестовых персонах не подтверждают квалификацию реальных сотрудников.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abe39b9af8497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3576535d73463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892af8d6a44d3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86b0a6443847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dfcba3878e46b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112df567734d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899518-B7C9-49C9-8C0F-511E2A825B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CFA970A-5074-4BFF-964E-B0709DD094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DF35106-5F30-48CE-B53C-4EB4BF6B8A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F13D8B-052C-44F7-AF90-C7482424AC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7E9C66A-1583-479F-AFC7-EA8DA4E62C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0603B09-C7D3-4B1D-86A1-92CDEFA4C2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CD5AAF5-8948-4C83-ABA2-6CEE064718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6AB7D92-CE22-41C4-A03A-11C1602684A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7BC2A8-8A95-42B1-B10A-3624FEFA18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AAC0250-C9C6-4936-96F7-61137F4938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323e929dd8401d" /><Relationship Type="http://schemas.openxmlformats.org/officeDocument/2006/relationships/slideLayout" Target="/ppt/slideLayouts/slideLayout1.xml" Id="R39de929e52564eff" /><Relationship Type="http://schemas.openxmlformats.org/officeDocument/2006/relationships/slideLayout" Target="/ppt/slideLayouts/slideLayout2.xml" Id="Rdc6ad8d76e7a4a37" /><Relationship Type="http://schemas.openxmlformats.org/officeDocument/2006/relationships/slideLayout" Target="/ppt/slideLayouts/slideLayout3.xml" Id="R762016b3854a48b3" /><Relationship Type="http://schemas.openxmlformats.org/officeDocument/2006/relationships/slideLayout" Target="/ppt/slideLayouts/slideLayout4.xml" Id="R2507ef0ebd594fb7" /><Relationship Type="http://schemas.openxmlformats.org/officeDocument/2006/relationships/slideLayout" Target="/ppt/slideLayouts/slideLayout5.xml" Id="R36c5bc11254b44af" /><Relationship Type="http://schemas.openxmlformats.org/officeDocument/2006/relationships/slideLayout" Target="/ppt/slideLayouts/slideLayout6.xml" Id="Rd6237f506c5949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de929e52564eff"/>
    <p:sldLayoutId xmlns:r="http://schemas.openxmlformats.org/officeDocument/2006/relationships" id="2147483650" r:id="Rdc6ad8d76e7a4a37"/>
    <p:sldLayoutId xmlns:r="http://schemas.openxmlformats.org/officeDocument/2006/relationships" id="2147483651" r:id="R762016b3854a48b3"/>
    <p:sldLayoutId xmlns:r="http://schemas.openxmlformats.org/officeDocument/2006/relationships" id="2147483652" r:id="R2507ef0ebd594fb7"/>
    <p:sldLayoutId xmlns:r="http://schemas.openxmlformats.org/officeDocument/2006/relationships" id="2147483653" r:id="R36c5bc11254b44af"/>
    <p:sldLayoutId xmlns:r="http://schemas.openxmlformats.org/officeDocument/2006/relationships" id="2147483654" r:id="Rd6237f506c5949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39612c72f543d1" /><Relationship Type="http://schemas.openxmlformats.org/officeDocument/2006/relationships/image" Target="/ppt/media/image.png" Id="R2d275616548a43f3" /><Relationship Type="http://schemas.openxmlformats.org/officeDocument/2006/relationships/notesSlide" Target="/ppt/notesSlides/notesSlide1.xml" Id="R2a95327e28a848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e3b9f2f5fc4ee6" /><Relationship Type="http://schemas.openxmlformats.org/officeDocument/2006/relationships/notesSlide" Target="/ppt/notesSlides/notesSlide2.xml" Id="Rb924df32c34742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34c78d5fa540b4" /><Relationship Type="http://schemas.openxmlformats.org/officeDocument/2006/relationships/notesSlide" Target="/ppt/notesSlides/notesSlide3.xml" Id="R022be38907a94e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d7447be415432d" /><Relationship Type="http://schemas.openxmlformats.org/officeDocument/2006/relationships/image" Target="/ppt/media/image2.png" Id="R824fd0c46b6c4a26" /><Relationship Type="http://schemas.openxmlformats.org/officeDocument/2006/relationships/notesSlide" Target="/ppt/notesSlides/notesSlide4.xml" Id="Rc109a639fe5845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ad4641d58c4b7f" /><Relationship Type="http://schemas.openxmlformats.org/officeDocument/2006/relationships/image" Target="/ppt/media/image3.png" Id="Rae6e2c9e32c44ee3" /><Relationship Type="http://schemas.openxmlformats.org/officeDocument/2006/relationships/notesSlide" Target="/ppt/notesSlides/notesSlide5.xml" Id="R05a27c41638d48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e593c455a64cc9" /><Relationship Type="http://schemas.openxmlformats.org/officeDocument/2006/relationships/image" Target="/ppt/media/image4.png" Id="R31eb3bf0f0ef42a0" /><Relationship Type="http://schemas.openxmlformats.org/officeDocument/2006/relationships/notesSlide" Target="/ppt/notesSlides/notesSlide6.xml" Id="R8d3e7537f51043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ef762f802540c9" /><Relationship Type="http://schemas.openxmlformats.org/officeDocument/2006/relationships/image" Target="/ppt/media/image5.png" Id="Rf3b81f082dd84520" /><Relationship Type="http://schemas.openxmlformats.org/officeDocument/2006/relationships/notesSlide" Target="/ppt/notesSlides/notesSlide7.xml" Id="Re6317bdc02484a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deb3f9cd924d21" /><Relationship Type="http://schemas.openxmlformats.org/officeDocument/2006/relationships/image" Target="/ppt/media/image6.png" Id="R42b34d428f5c4735" /><Relationship Type="http://schemas.openxmlformats.org/officeDocument/2006/relationships/notesSlide" Target="/ppt/notesSlides/notesSlide8.xml" Id="Rc12f1c1373f44d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e2ae1f2d4c45d2" /><Relationship Type="http://schemas.openxmlformats.org/officeDocument/2006/relationships/notesSlide" Target="/ppt/notesSlides/notesSlide9.xml" Id="Ra19281b6f3d642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db0b7e8301471b" /><Relationship Type="http://schemas.openxmlformats.org/officeDocument/2006/relationships/image" Target="/ppt/media/image7.png" Id="R7ce936218ebe4aa6" /><Relationship Type="http://schemas.openxmlformats.org/officeDocument/2006/relationships/image" Target="/ppt/media/image8.png" Id="R3de4de752dc949a9" /><Relationship Type="http://schemas.openxmlformats.org/officeDocument/2006/relationships/notesSlide" Target="/ppt/notesSlides/notesSlide10.xml" Id="R02679d377dd148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78a6aebcd546cf" /><Relationship Type="http://schemas.openxmlformats.org/officeDocument/2006/relationships/notesSlide" Target="/ppt/notesSlides/notesSlide11.xml" Id="Redea83d6408a42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9369b15f1d4a39" /><Relationship Type="http://schemas.openxmlformats.org/officeDocument/2006/relationships/notesSlide" Target="/ppt/notesSlides/notesSlide12.xml" Id="Ra0e9d230c91840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DF8D5AA8-B5C4-4EDD-BBC1-C8E8C184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9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Прямая соединительная линия 3">
            <a:extLst xmlns:a="http://schemas.openxmlformats.org/drawingml/2006/main">
              <a:ext uri="{FF2B5EF4-FFF2-40B4-BE49-F238E27FC236}">
                <a16:creationId xmlns:a16="http://schemas.microsoft.com/office/drawing/2014/main" id="{2B4FA7EA-C6B2-4375-B581-909BA411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50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0BDDCE31-D319-468F-AD0A-F4A9A674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62750" cy="633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43F61B-7B1B-40FF-92EC-95CE094B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EB8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BI ACADEMY">
            <a:extLst xmlns:a="http://schemas.openxmlformats.org/drawingml/2006/main">
              <a:ext uri="{FF2B5EF4-FFF2-40B4-BE49-F238E27FC236}">
                <a16:creationId xmlns:a16="http://schemas.microsoft.com/office/drawing/2014/main" id="{13CA8E0D-E562-496E-8181-442DC2C2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C9D7"/>
                </a:solidFill>
                <a:latin typeface="Arial"/>
                <a:ea typeface="Arial"/>
                <a:cs typeface="Arial"/>
              </a:rPr>
              <a:t>BI ACADEMY</a:t>
            </a:r>
          </a:p>
        </p:txBody>
      </p:sp>
      <p:sp>
        <p:nvSpPr>
          <p:cNvPr id="19" name="BI Academy">
            <a:extLst xmlns:a="http://schemas.openxmlformats.org/drawingml/2006/main">
              <a:ext uri="{FF2B5EF4-FFF2-40B4-BE49-F238E27FC236}">
                <a16:creationId xmlns:a16="http://schemas.microsoft.com/office/drawing/2014/main" id="{7AF4AF34-53AA-41EC-A3E2-942459C8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9057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 Academy</a:t>
            </a:r>
          </a:p>
        </p:txBody>
      </p:sp>
      <p:sp>
        <p:nvSpPr>
          <p:cNvPr id="20" name="Развитие сотрудников под задачи стройки">
            <a:extLst xmlns:a="http://schemas.openxmlformats.org/drawingml/2006/main">
              <a:ext uri="{FF2B5EF4-FFF2-40B4-BE49-F238E27FC236}">
                <a16:creationId xmlns:a16="http://schemas.microsoft.com/office/drawing/2014/main" id="{ECB0EC18-453F-4CE4-A2E0-9CE51BC0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BE0F0"/>
                </a:solidFill>
                <a:latin typeface="Arial"/>
                <a:ea typeface="Arial"/>
                <a:cs typeface="Arial"/>
              </a:rPr>
              <a:t>Развитие сотрудников под задачи стройки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6050A4-34EB-49DE-A520-9330B4D5F0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75616548a43f3"/>
          <a:stretch xmlns:a="http://schemas.openxmlformats.org/drawingml/2006/main"/>
        </p:blipFill>
        <p:spPr>
          <a:xfrm xmlns:a="http://schemas.openxmlformats.org/drawingml/2006/main">
            <a:off x="750904" y="2505075"/>
            <a:ext cx="6689691" cy="3352800"/>
          </a:xfrm>
          <a:prstGeom xmlns:a="http://schemas.openxmlformats.org/drawingml/2006/main" prst="rect">
            <a:avLst/>
          </a:prstGeom>
        </p:spPr>
      </p:pic>
      <p:sp>
        <p:nvSpPr>
          <p:cNvPr id="22" name="Для бизнеса">
            <a:extLst xmlns:a="http://schemas.openxmlformats.org/drawingml/2006/main">
              <a:ext uri="{FF2B5EF4-FFF2-40B4-BE49-F238E27FC236}">
                <a16:creationId xmlns:a16="http://schemas.microsoft.com/office/drawing/2014/main" id="{768CE317-AA3E-4B8A-B6EF-F9B971BF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9C9D7"/>
                </a:solidFill>
                <a:latin typeface="Arial"/>
                <a:ea typeface="Arial"/>
                <a:cs typeface="Arial"/>
              </a:rPr>
              <a:t>Для бизнеса</a:t>
            </a:r>
          </a:p>
        </p:txBody>
      </p:sp>
      <p:sp>
        <p:nvSpPr>
          <p:cNvPr id="23" name="Видно, кому и в чём&#10;нужна поддержка">
            <a:extLst xmlns:a="http://schemas.openxmlformats.org/drawingml/2006/main">
              <a:ext uri="{FF2B5EF4-FFF2-40B4-BE49-F238E27FC236}">
                <a16:creationId xmlns:a16="http://schemas.microsoft.com/office/drawing/2014/main" id="{59ED3104-298C-423A-9B3C-55D75002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194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BE0F0"/>
                </a:solidFill>
                <a:latin typeface="Arial"/>
                <a:ea typeface="Arial"/>
                <a:cs typeface="Arial"/>
              </a:rPr>
              <a:t>Видно, кому и в чём</a:t>
            </a:r>
          </a:p>
          <a:p xmlns:a="http://schemas.openxmlformats.org/drawingml/2006/main">
            <a:pPr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BE0F0"/>
                </a:solidFill>
                <a:latin typeface="Arial"/>
                <a:ea typeface="Arial"/>
                <a:cs typeface="Arial"/>
              </a:rPr>
              <a:t>нужна поддержка</a:t>
            </a:r>
          </a:p>
        </p:txBody>
      </p:sp>
      <p:sp>
        <p:nvSpPr>
          <p:cNvPr id="24" name="Для сотрудника">
            <a:extLst xmlns:a="http://schemas.openxmlformats.org/drawingml/2006/main">
              <a:ext uri="{FF2B5EF4-FFF2-40B4-BE49-F238E27FC236}">
                <a16:creationId xmlns:a16="http://schemas.microsoft.com/office/drawing/2014/main" id="{F89BAA4F-58ED-4C12-8679-81230F74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1957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9C9D7"/>
                </a:solidFill>
                <a:latin typeface="Arial"/>
                <a:ea typeface="Arial"/>
                <a:cs typeface="Arial"/>
              </a:rPr>
              <a:t>Для сотрудника</a:t>
            </a:r>
          </a:p>
        </p:txBody>
      </p:sp>
      <p:sp>
        <p:nvSpPr>
          <p:cNvPr id="25" name="Понятный результат&#10;и план на 30 дней">
            <a:extLst xmlns:a="http://schemas.openxmlformats.org/drawingml/2006/main">
              <a:ext uri="{FF2B5EF4-FFF2-40B4-BE49-F238E27FC236}">
                <a16:creationId xmlns:a16="http://schemas.microsoft.com/office/drawing/2014/main" id="{BA37DC92-617E-4C9C-AD17-B2A2895D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72025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BE0F0"/>
                </a:solidFill>
                <a:latin typeface="Arial"/>
                <a:ea typeface="Arial"/>
                <a:cs typeface="Arial"/>
              </a:rPr>
              <a:t>Понятный результат</a:t>
            </a:r>
          </a:p>
          <a:p xmlns:a="http://schemas.openxmlformats.org/drawingml/2006/main">
            <a:pPr>
              <a:defRPr sz="1950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BE0F0"/>
                </a:solidFill>
                <a:latin typeface="Arial"/>
                <a:ea typeface="Arial"/>
                <a:cs typeface="Arial"/>
              </a:rPr>
              <a:t>и план на 30 дней</a:t>
            </a:r>
          </a:p>
        </p:txBody>
      </p:sp>
      <p:sp>
        <p:nvSpPr>
          <p:cNvPr id="26" name="Наседкин Максим · Чапанов Альберт · Варварюк Андрей">
            <a:extLst xmlns:a="http://schemas.openxmlformats.org/drawingml/2006/main">
              <a:ext uri="{FF2B5EF4-FFF2-40B4-BE49-F238E27FC236}">
                <a16:creationId xmlns:a16="http://schemas.microsoft.com/office/drawing/2014/main" id="{E0A45700-3076-4C53-B48F-27A16C6F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0275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EB8D4"/>
                </a:solidFill>
                <a:latin typeface="Arial"/>
                <a:ea typeface="Arial"/>
                <a:cs typeface="Arial"/>
              </a:rPr>
              <a:t>Наседкин Максим · Чапанов Альберт · Варварюк Андрей</a:t>
            </a:r>
          </a:p>
        </p:txBody>
      </p:sp>
    </p:spTree>
    <p:extLst>
      <p:ext uri="{BB962C8B-B14F-4D97-AF65-F5344CB8AC3E}">
        <p14:creationId xmlns:p14="http://schemas.microsoft.com/office/powerpoint/2010/main" val="2587995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89D11-4015-4B52-8C66-9FE1E3A2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BI ACADEMY">
            <a:extLst xmlns:a="http://schemas.openxmlformats.org/drawingml/2006/main">
              <a:ext uri="{FF2B5EF4-FFF2-40B4-BE49-F238E27FC236}">
                <a16:creationId xmlns:a16="http://schemas.microsoft.com/office/drawing/2014/main" id="{E73BEA1E-DB07-4A31-8229-3107C453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BI ACADEMY</a:t>
            </a:r>
          </a:p>
        </p:txBody>
      </p:sp>
      <p:sp>
        <p:nvSpPr>
          <p:cNvPr id="4" name="Наше конкурентное преимущество">
            <a:extLst xmlns:a="http://schemas.openxmlformats.org/drawingml/2006/main">
              <a:ext uri="{FF2B5EF4-FFF2-40B4-BE49-F238E27FC236}">
                <a16:creationId xmlns:a16="http://schemas.microsoft.com/office/drawing/2014/main" id="{1F68121D-D76F-4D3C-A96F-A7F2A310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Наше конкурентное преимущество</a:t>
            </a:r>
          </a:p>
        </p:txBody>
      </p:sp>
      <p:sp>
        <p:nvSpPr>
          <p:cNvPr id="5" name="Оценка, практика и работа руководителя связаны в одном ">
            <a:extLst xmlns:a="http://schemas.openxmlformats.org/drawingml/2006/main">
              <a:ext uri="{FF2B5EF4-FFF2-40B4-BE49-F238E27FC236}">
                <a16:creationId xmlns:a16="http://schemas.microsoft.com/office/drawing/2014/main" id="{C96F4287-DA17-49CB-BE17-6FF3EE88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Оценка, практика и работа руководителя связаны в одном продукте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50A5F-EC18-4E91-9880-FE3D9D0DE3BE}"/>
              </a:ext>
            </a:extLst>
          </p:cNvPr>
          <p:cNvGraphicFramePr/>
          <p:nvPr/>
        </p:nvGraphicFramePr>
        <p:xfrm>
          <a:off xmlns:a="http://schemas.openxmlformats.org/drawingml/2006/main" x="571500" y="2543175"/>
          <a:ext xmlns:a="http://schemas.openxmlformats.org/drawingml/2006/main" cx="11049000" cy="3038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2762250"/>
                <a:gridCol w="2762250"/>
                <a:gridCol w="3619500"/>
              </a:tblGrid>
              <a:tr h="60769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Задача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7DCEC"/>
                      </a:solidFill>
                      <a:prstDash val="soli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>
                      <a:solidFill>
                        <a:srgbClr val="D7DCEC"/>
                      </a:solidFill>
                      <a:prstDash val="soli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6E5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Тест с итоговым баллом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7DCEC"/>
                      </a:solidFill>
                      <a:prstDash val="solid"/>
                    </a:lnR>
                    <a:lnT w="7620">
                      <a:solidFill>
                        <a:srgbClr val="D7DCEC"/>
                      </a:solidFill>
                      <a:prstDash val="soli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6E5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Отдельный чат с ИИ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7DCEC"/>
                      </a:solidFill>
                      <a:prstDash val="solid"/>
                    </a:lnR>
                    <a:lnT w="7620">
                      <a:solidFill>
                        <a:srgbClr val="D7DCEC"/>
                      </a:solidFill>
                      <a:prstDash val="soli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6E5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BI Academy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7DCEC"/>
                      </a:solidFill>
                      <a:prstDash val="solid"/>
                    </a:lnR>
                    <a:lnT w="7620">
                      <a:solidFill>
                        <a:srgbClr val="D7DCEC"/>
                      </a:solidFill>
                      <a:prstDash val="soli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6E59F7"/>
                    </a:solidFill>
                  </a:tcPr>
                </a:tc>
              </a:tr>
              <a:tr h="60769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Учитывать работу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7DCEC"/>
                      </a:solidFill>
                      <a:prstDash val="soli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Одна анкета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7DCEC"/>
                      </a:solidFill>
                      <a:prstDash val="solid"/>
                    </a:lnR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Контекст вводят вручную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7DCEC"/>
                      </a:solidFill>
                      <a:prstDash val="solid"/>
                    </a:lnR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6E59F7"/>
                          </a:solidFill>
                          <a:latin typeface="Arial"/>
                          <a:ea typeface="Arial"/>
                          <a:cs typeface="Arial"/>
                        </a:rPr>
                        <a:t>Должность и ответы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7DCEC"/>
                      </a:solidFill>
                      <a:prstDash val="solid"/>
                    </a:lnR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769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Объяснить оценку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7DCEC"/>
                      </a:solidFill>
                      <a:prstDash val="soli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E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Итоговый показатель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7DCEC"/>
                      </a:solidFill>
                      <a:prstDash val="solid"/>
                    </a:lnR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E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Ответ в свободной форме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7DCEC"/>
                      </a:solidFill>
                      <a:prstDash val="solid"/>
                    </a:lnR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E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6E59F7"/>
                          </a:solidFill>
                          <a:latin typeface="Arial"/>
                          <a:ea typeface="Arial"/>
                          <a:cs typeface="Arial"/>
                        </a:rPr>
                        <a:t>Рубрика и проверка цитат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7DCEC"/>
                      </a:solidFill>
                      <a:prstDash val="solid"/>
                    </a:lnR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ECEAF9"/>
                    </a:solidFill>
                  </a:tcPr>
                </a:tc>
              </a:tr>
              <a:tr h="60769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Поддержать развитие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7DCEC"/>
                      </a:solidFill>
                      <a:prstDash val="soli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Отдельный процесс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7DCEC"/>
                      </a:solidFill>
                      <a:prstDash val="solid"/>
                    </a:lnR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Новый запрос вручную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7DCEC"/>
                      </a:solidFill>
                      <a:prstDash val="solid"/>
                    </a:lnR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6E59F7"/>
                          </a:solidFill>
                          <a:latin typeface="Arial"/>
                          <a:ea typeface="Arial"/>
                          <a:cs typeface="Arial"/>
                        </a:rPr>
                        <a:t>План, отметки, повтор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7DCEC"/>
                      </a:solidFill>
                      <a:prstDash val="solid"/>
                    </a:lnR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769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Работать с командой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7DCEC"/>
                      </a:solidFill>
                      <a:prstDash val="soli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E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Отдельный отчёт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7DCEC"/>
                      </a:solidFill>
                      <a:prstDash val="solid"/>
                    </a:lnR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E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Пересылка результатов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7DCEC"/>
                      </a:solidFill>
                      <a:prstDash val="solid"/>
                    </a:lnR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E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6E59F7"/>
                          </a:solidFill>
                          <a:latin typeface="Arial"/>
                          <a:ea typeface="Arial"/>
                          <a:cs typeface="Arial"/>
                        </a:rPr>
                        <a:t>Сводка, профили, беседы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7DCEC"/>
                      </a:solidFill>
                      <a:prstDash val="solid"/>
                    </a:lnR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ECEAF9"/>
                    </a:solidFill>
                  </a:tcPr>
                </a:tc>
              </a:tr>
            </a:tbl>
          </a:graphicData>
        </a:graphic>
      </p:graphicFrame>
      <p:sp>
        <p:nvSpPr>
          <p:cNvPr id="7" name="Сравнение базовых форматов использования, а не исследов">
            <a:extLst xmlns:a="http://schemas.openxmlformats.org/drawingml/2006/main">
              <a:ext uri="{FF2B5EF4-FFF2-40B4-BE49-F238E27FC236}">
                <a16:creationId xmlns:a16="http://schemas.microsoft.com/office/drawing/2014/main" id="{C6CEAC1F-2077-45B9-85A1-04818772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Сравнение базовых форматов использования, а не исследование конкретных сервисов.</a:t>
            </a:r>
          </a:p>
        </p:txBody>
      </p:sp>
    </p:spTree>
    <p:extLst>
      <p:ext uri="{BB962C8B-B14F-4D97-AF65-F5344CB8AC3E}">
        <p14:creationId xmlns:p14="http://schemas.microsoft.com/office/powerpoint/2010/main" val="8910458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08712C31-F125-4573-8119-9EB1C96B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9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Прямая соединительная линия 3">
            <a:extLst xmlns:a="http://schemas.openxmlformats.org/drawingml/2006/main">
              <a:ext uri="{FF2B5EF4-FFF2-40B4-BE49-F238E27FC236}">
                <a16:creationId xmlns:a16="http://schemas.microsoft.com/office/drawing/2014/main" id="{DFDB06DD-B018-4A9C-9004-3EBD15DF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520C0A-D2C0-4B96-8A42-8953AC06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6" name="BI ACADEMY">
            <a:extLst xmlns:a="http://schemas.openxmlformats.org/drawingml/2006/main">
              <a:ext uri="{FF2B5EF4-FFF2-40B4-BE49-F238E27FC236}">
                <a16:creationId xmlns:a16="http://schemas.microsoft.com/office/drawing/2014/main" id="{4E15F15E-2B5A-41DD-A882-998EC49A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BI ACADEMY</a:t>
            </a:r>
          </a:p>
        </p:txBody>
      </p:sp>
      <p:sp>
        <p:nvSpPr>
          <p:cNvPr id="27" name="Польза для бизнеса">
            <a:extLst xmlns:a="http://schemas.openxmlformats.org/drawingml/2006/main">
              <a:ext uri="{FF2B5EF4-FFF2-40B4-BE49-F238E27FC236}">
                <a16:creationId xmlns:a16="http://schemas.microsoft.com/office/drawing/2014/main" id="{B8E13F44-D412-44C3-8CC3-6065FE02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Польза для бизнеса</a:t>
            </a:r>
          </a:p>
        </p:txBody>
      </p:sp>
      <p:sp>
        <p:nvSpPr>
          <p:cNvPr id="28" name="Руководитель получает данные и инструменты для адресной">
            <a:extLst xmlns:a="http://schemas.openxmlformats.org/drawingml/2006/main">
              <a:ext uri="{FF2B5EF4-FFF2-40B4-BE49-F238E27FC236}">
                <a16:creationId xmlns:a16="http://schemas.microsoft.com/office/drawing/2014/main" id="{63FD4504-4C33-460B-8D99-E44FBDF4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Руководитель получает данные и инструменты для адресной работы с людьми</a:t>
            </a:r>
          </a:p>
        </p:txBody>
      </p:sp>
      <p:sp>
        <p:nvSpPr>
          <p:cNvPr id="29" name="Приоритеты обучения">
            <a:extLst xmlns:a="http://schemas.openxmlformats.org/drawingml/2006/main">
              <a:ext uri="{FF2B5EF4-FFF2-40B4-BE49-F238E27FC236}">
                <a16:creationId xmlns:a16="http://schemas.microsoft.com/office/drawing/2014/main" id="{933C0927-E8D5-439B-89B8-A5CFF19E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Приоритеты обучения</a:t>
            </a:r>
          </a:p>
        </p:txBody>
      </p:sp>
      <p:sp>
        <p:nvSpPr>
          <p:cNvPr id="30" name="Сводка команды и зоны роста показывают,&#10;какие темы стои">
            <a:extLst xmlns:a="http://schemas.openxmlformats.org/drawingml/2006/main">
              <a:ext uri="{FF2B5EF4-FFF2-40B4-BE49-F238E27FC236}">
                <a16:creationId xmlns:a16="http://schemas.microsoft.com/office/drawing/2014/main" id="{4DC8D555-D29D-4AF6-8E3B-6FBB32D4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33650"/>
            <a:ext cx="700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Сводка команды и зоны роста показывают,</a:t>
            </a:r>
          </a:p>
          <a:p xmlns:a="http://schemas.openxmlformats.org/drawingml/2006/main">
            <a: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какие темы стоит обсудить с сотрудниками.</a:t>
            </a:r>
          </a:p>
        </p:txBody>
      </p:sp>
      <p:sp>
        <p:nvSpPr>
          <p:cNvPr id="31" name="Сопровождение развития">
            <a:extLst xmlns:a="http://schemas.openxmlformats.org/drawingml/2006/main">
              <a:ext uri="{FF2B5EF4-FFF2-40B4-BE49-F238E27FC236}">
                <a16:creationId xmlns:a16="http://schemas.microsoft.com/office/drawing/2014/main" id="{01B8D364-4531-4128-AB86-D44B0AF6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Сопровождение развития</a:t>
            </a:r>
          </a:p>
        </p:txBody>
      </p:sp>
      <p:sp>
        <p:nvSpPr>
          <p:cNvPr id="32" name="Практики на 30 дней, отметки выполнения&#10;и комментарии р">
            <a:extLst xmlns:a="http://schemas.openxmlformats.org/drawingml/2006/main">
              <a:ext uri="{FF2B5EF4-FFF2-40B4-BE49-F238E27FC236}">
                <a16:creationId xmlns:a16="http://schemas.microsoft.com/office/drawing/2014/main" id="{24A2A285-FAF4-4CB6-ACCE-146335AF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14700"/>
            <a:ext cx="700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Практики на 30 дней, отметки выполнения</a:t>
            </a:r>
          </a:p>
          <a:p xmlns:a="http://schemas.openxmlformats.org/drawingml/2006/main">
            <a: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и комментарии руководителя в одном месте.</a:t>
            </a:r>
          </a:p>
        </p:txBody>
      </p:sp>
      <p:sp>
        <p:nvSpPr>
          <p:cNvPr id="33" name="Предметный разговор">
            <a:extLst xmlns:a="http://schemas.openxmlformats.org/drawingml/2006/main">
              <a:ext uri="{FF2B5EF4-FFF2-40B4-BE49-F238E27FC236}">
                <a16:creationId xmlns:a16="http://schemas.microsoft.com/office/drawing/2014/main" id="{EB016215-50D9-4529-B189-FCBE01AC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148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Предметный разговор</a:t>
            </a:r>
          </a:p>
        </p:txBody>
      </p:sp>
      <p:sp>
        <p:nvSpPr>
          <p:cNvPr id="34" name="Профиль, ответы и назначение беседы&#10;помогают обсудить к">
            <a:extLst xmlns:a="http://schemas.openxmlformats.org/drawingml/2006/main">
              <a:ext uri="{FF2B5EF4-FFF2-40B4-BE49-F238E27FC236}">
                <a16:creationId xmlns:a16="http://schemas.microsoft.com/office/drawing/2014/main" id="{ADBE1867-A4ED-4EDB-B13C-07C5C7EF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95750"/>
            <a:ext cx="700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Профиль, ответы и назначение беседы</a:t>
            </a:r>
          </a:p>
          <a:p xmlns:a="http://schemas.openxmlformats.org/drawingml/2006/main">
            <a: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помогают обсудить конкретную рабочую ситуацию.</a:t>
            </a:r>
          </a:p>
        </p:txBody>
      </p:sp>
      <p:sp>
        <p:nvSpPr>
          <p:cNvPr id="35" name="Контроль изменений">
            <a:extLst xmlns:a="http://schemas.openxmlformats.org/drawingml/2006/main">
              <a:ext uri="{FF2B5EF4-FFF2-40B4-BE49-F238E27FC236}">
                <a16:creationId xmlns:a16="http://schemas.microsoft.com/office/drawing/2014/main" id="{5AAA676A-E396-4896-B0C3-781D78F3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958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Контроль изменений</a:t>
            </a:r>
          </a:p>
        </p:txBody>
      </p:sp>
      <p:sp>
        <p:nvSpPr>
          <p:cNvPr id="36" name="Повторный тест показывает динамику качеств&#10;и навыков, И">
            <a:extLst xmlns:a="http://schemas.openxmlformats.org/drawingml/2006/main">
              <a:ext uri="{FF2B5EF4-FFF2-40B4-BE49-F238E27FC236}">
                <a16:creationId xmlns:a16="http://schemas.microsoft.com/office/drawing/2014/main" id="{453217C3-C5B5-4AF6-AC61-12EBAFFA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76800"/>
            <a:ext cx="700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Повторный тест показывает динамику качеств</a:t>
            </a:r>
          </a:p>
          <a:p xmlns:a="http://schemas.openxmlformats.org/drawingml/2006/main">
            <a:pPr>
              <a:defRPr sz="187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и навыков, ИИ сравнивает содержание ответов.</a:t>
            </a:r>
          </a:p>
        </p:txBody>
      </p:sp>
      <p:sp>
        <p:nvSpPr>
          <p:cNvPr id="37" name="Функции реализованы. Влияние на производительность и за">
            <a:extLst xmlns:a="http://schemas.openxmlformats.org/drawingml/2006/main">
              <a:ext uri="{FF2B5EF4-FFF2-40B4-BE49-F238E27FC236}">
                <a16:creationId xmlns:a16="http://schemas.microsoft.com/office/drawing/2014/main" id="{3897DE32-F229-4A45-AFA9-01F58D09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Функции реализованы. Влияние на производительность и затраты компании проверяется в пилоте.</a:t>
            </a:r>
          </a:p>
        </p:txBody>
      </p:sp>
    </p:spTree>
    <p:extLst>
      <p:ext uri="{BB962C8B-B14F-4D97-AF65-F5344CB8AC3E}">
        <p14:creationId xmlns:p14="http://schemas.microsoft.com/office/powerpoint/2010/main" val="19506054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08712C31-F125-4573-8119-9EB1C96B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9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Прямая соединительная линия 3">
            <a:extLst xmlns:a="http://schemas.openxmlformats.org/drawingml/2006/main">
              <a:ext uri="{FF2B5EF4-FFF2-40B4-BE49-F238E27FC236}">
                <a16:creationId xmlns:a16="http://schemas.microsoft.com/office/drawing/2014/main" id="{DFDB06DD-B018-4A9C-9004-3EBD15DF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520C0A-D2C0-4B96-8A42-8953AC06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BI ACADEMY">
            <a:extLst xmlns:a="http://schemas.openxmlformats.org/drawingml/2006/main">
              <a:ext uri="{FF2B5EF4-FFF2-40B4-BE49-F238E27FC236}">
                <a16:creationId xmlns:a16="http://schemas.microsoft.com/office/drawing/2014/main" id="{5A324A96-8D7A-490D-AF7A-A7C57ACC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BI ACADEMY</a:t>
            </a:r>
          </a:p>
        </p:txBody>
      </p:sp>
      <p:sp>
        <p:nvSpPr>
          <p:cNvPr id="27" name="Удобно сотруднику">
            <a:extLst xmlns:a="http://schemas.openxmlformats.org/drawingml/2006/main">
              <a:ext uri="{FF2B5EF4-FFF2-40B4-BE49-F238E27FC236}">
                <a16:creationId xmlns:a16="http://schemas.microsoft.com/office/drawing/2014/main" id="{F0E6FCE5-FA30-41BB-8F2C-641C2BCC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Удобно сотруднику</a:t>
            </a:r>
          </a:p>
        </p:txBody>
      </p:sp>
      <p:sp>
        <p:nvSpPr>
          <p:cNvPr id="28" name="Понятные шаги, сохранённые ответы и контроль доступа к ">
            <a:extLst xmlns:a="http://schemas.openxmlformats.org/drawingml/2006/main">
              <a:ext uri="{FF2B5EF4-FFF2-40B4-BE49-F238E27FC236}">
                <a16:creationId xmlns:a16="http://schemas.microsoft.com/office/drawing/2014/main" id="{BB4FFA68-7FB6-458E-83C8-38A1FDC5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Понятные шаги, сохранённые ответы и контроль доступа к своему результату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6C779D-7122-4A92-98F3-77969B5E16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fd0c46b6c4a26"/>
          <a:stretch xmlns:a="http://schemas.openxmlformats.org/drawingml/2006/main"/>
        </p:blipFill>
        <p:spPr>
          <a:xfrm xmlns:a="http://schemas.openxmlformats.org/drawingml/2006/main">
            <a:off x="672290" y="2352675"/>
            <a:ext cx="2132044" cy="3533775"/>
          </a:xfrm>
          <a:prstGeom xmlns:a="http://schemas.openxmlformats.org/drawingml/2006/main" prst="rect">
            <a:avLst/>
          </a:prstGeom>
        </p:spPr>
      </p:pic>
      <p:sp>
        <p:nvSpPr>
          <p:cNvPr id="30" name="RU · ҚАЗ · EN">
            <a:extLst xmlns:a="http://schemas.openxmlformats.org/drawingml/2006/main">
              <a:ext uri="{FF2B5EF4-FFF2-40B4-BE49-F238E27FC236}">
                <a16:creationId xmlns:a16="http://schemas.microsoft.com/office/drawing/2014/main" id="{E50EA29F-5021-4E4F-9BCF-5E45158A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52675"/>
            <a:ext cx="814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RU · ҚАЗ · EN</a:t>
            </a:r>
          </a:p>
        </p:txBody>
      </p:sp>
      <p:sp>
        <p:nvSpPr>
          <p:cNvPr id="31" name="Интерфейс и материалы новой оценки&#10;доступны на трёх язы">
            <a:extLst xmlns:a="http://schemas.openxmlformats.org/drawingml/2006/main">
              <a:ext uri="{FF2B5EF4-FFF2-40B4-BE49-F238E27FC236}">
                <a16:creationId xmlns:a16="http://schemas.microsoft.com/office/drawing/2014/main" id="{762B7395-B718-4249-BBC7-FE0944E9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86050"/>
            <a:ext cx="8143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Интерфейс и материалы новой оценки</a:t>
            </a:r>
          </a:p>
          <a:p xmlns:a="http://schemas.openxmlformats.org/drawingml/2006/main">
            <a: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доступны на трёх языках.</a:t>
            </a:r>
          </a:p>
        </p:txBody>
      </p:sp>
      <p:sp>
        <p:nvSpPr>
          <p:cNvPr id="32" name="Можно продолжить позже">
            <a:extLst xmlns:a="http://schemas.openxmlformats.org/drawingml/2006/main">
              <a:ext uri="{FF2B5EF4-FFF2-40B4-BE49-F238E27FC236}">
                <a16:creationId xmlns:a16="http://schemas.microsoft.com/office/drawing/2014/main" id="{1BF56DC5-2E80-4F4C-A733-860DEA9E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48025"/>
            <a:ext cx="814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Можно продолжить позже</a:t>
            </a:r>
          </a:p>
        </p:txBody>
      </p:sp>
      <p:sp>
        <p:nvSpPr>
          <p:cNvPr id="33" name="Сервер сохраняет ответы и черновик,&#10;после сбоя прохожде">
            <a:extLst xmlns:a="http://schemas.openxmlformats.org/drawingml/2006/main">
              <a:ext uri="{FF2B5EF4-FFF2-40B4-BE49-F238E27FC236}">
                <a16:creationId xmlns:a16="http://schemas.microsoft.com/office/drawing/2014/main" id="{7DD2F8C9-4730-47EE-A295-C0A3B330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81400"/>
            <a:ext cx="8143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Сервер сохраняет ответы и черновик,</a:t>
            </a:r>
          </a:p>
          <a:p xmlns:a="http://schemas.openxmlformats.org/drawingml/2006/main">
            <a: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после сбоя прохождение можно продолжить.</a:t>
            </a:r>
          </a:p>
        </p:txBody>
      </p:sp>
      <p:sp>
        <p:nvSpPr>
          <p:cNvPr id="34" name="Результат легко разобрать">
            <a:extLst xmlns:a="http://schemas.openxmlformats.org/drawingml/2006/main">
              <a:ext uri="{FF2B5EF4-FFF2-40B4-BE49-F238E27FC236}">
                <a16:creationId xmlns:a16="http://schemas.microsoft.com/office/drawing/2014/main" id="{819C53BF-1E1C-4496-A97F-12158441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43375"/>
            <a:ext cx="814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Результат легко разобрать</a:t>
            </a:r>
          </a:p>
        </p:txBody>
      </p:sp>
      <p:sp>
        <p:nvSpPr>
          <p:cNvPr id="35" name="Обзор, подробные основания и прогресс&#10;разнесены по поня">
            <a:extLst xmlns:a="http://schemas.openxmlformats.org/drawingml/2006/main">
              <a:ext uri="{FF2B5EF4-FFF2-40B4-BE49-F238E27FC236}">
                <a16:creationId xmlns:a16="http://schemas.microsoft.com/office/drawing/2014/main" id="{03469EDA-2B2E-4E26-B065-2405F5D9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8143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Обзор, подробные основания и прогресс</a:t>
            </a:r>
          </a:p>
          <a:p xmlns:a="http://schemas.openxmlformats.org/drawingml/2006/main">
            <a: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разнесены по понятным вкладкам.</a:t>
            </a:r>
          </a:p>
        </p:txBody>
      </p:sp>
      <p:sp>
        <p:nvSpPr>
          <p:cNvPr id="36" name="Есть личный контроль">
            <a:extLst xmlns:a="http://schemas.openxmlformats.org/drawingml/2006/main">
              <a:ext uri="{FF2B5EF4-FFF2-40B4-BE49-F238E27FC236}">
                <a16:creationId xmlns:a16="http://schemas.microsoft.com/office/drawing/2014/main" id="{7A0EC3EF-9D52-4170-97A4-021EF66A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38725"/>
            <a:ext cx="814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Есть личный контроль</a:t>
            </a:r>
          </a:p>
        </p:txBody>
      </p:sp>
      <p:sp>
        <p:nvSpPr>
          <p:cNvPr id="37" name="Сотрудник даёт согласие на доступ&#10;руководителя и отмеча">
            <a:extLst xmlns:a="http://schemas.openxmlformats.org/drawingml/2006/main">
              <a:ext uri="{FF2B5EF4-FFF2-40B4-BE49-F238E27FC236}">
                <a16:creationId xmlns:a16="http://schemas.microsoft.com/office/drawing/2014/main" id="{05058F3A-1163-443B-8DBE-A44E541B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72100"/>
            <a:ext cx="8143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Сотрудник даёт согласие на доступ</a:t>
            </a:r>
          </a:p>
          <a:p xmlns:a="http://schemas.openxmlformats.org/drawingml/2006/main">
            <a:pPr>
              <a:defRPr sz="17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руководителя и отмечает свои практики.</a:t>
            </a:r>
          </a:p>
        </p:txBody>
      </p:sp>
      <p:sp>
        <p:nvSpPr>
          <p:cNvPr id="38" name="Актуальный мобильный экран. Локализация сгенерированных">
            <a:extLst xmlns:a="http://schemas.openxmlformats.org/drawingml/2006/main">
              <a:ext uri="{FF2B5EF4-FFF2-40B4-BE49-F238E27FC236}">
                <a16:creationId xmlns:a16="http://schemas.microsoft.com/office/drawing/2014/main" id="{23044023-64FD-4076-A9F6-305D535F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Актуальный мобильный экран. Локализация сгенерированных материалов сохраняется в аккаунте.</a:t>
            </a:r>
          </a:p>
        </p:txBody>
      </p:sp>
    </p:spTree>
    <p:extLst>
      <p:ext uri="{BB962C8B-B14F-4D97-AF65-F5344CB8AC3E}">
        <p14:creationId xmlns:p14="http://schemas.microsoft.com/office/powerpoint/2010/main" val="19506054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08712C31-F125-4573-8119-9EB1C96B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9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Прямая соединительная линия 3">
            <a:extLst xmlns:a="http://schemas.openxmlformats.org/drawingml/2006/main">
              <a:ext uri="{FF2B5EF4-FFF2-40B4-BE49-F238E27FC236}">
                <a16:creationId xmlns:a16="http://schemas.microsoft.com/office/drawing/2014/main" id="{DFDB06DD-B018-4A9C-9004-3EBD15DF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520C0A-D2C0-4B96-8A42-8953AC06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BI ACADEMY">
            <a:extLst xmlns:a="http://schemas.openxmlformats.org/drawingml/2006/main">
              <a:ext uri="{FF2B5EF4-FFF2-40B4-BE49-F238E27FC236}">
                <a16:creationId xmlns:a16="http://schemas.microsoft.com/office/drawing/2014/main" id="{D2C04B0C-F3FD-4E08-A63E-1C0F6559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BI ACADEMY</a:t>
            </a:r>
          </a:p>
        </p:txBody>
      </p:sp>
      <p:sp>
        <p:nvSpPr>
          <p:cNvPr id="27" name="Адаптивный тест на рабочих ситуациях">
            <a:extLst xmlns:a="http://schemas.openxmlformats.org/drawingml/2006/main">
              <a:ext uri="{FF2B5EF4-FFF2-40B4-BE49-F238E27FC236}">
                <a16:creationId xmlns:a16="http://schemas.microsoft.com/office/drawing/2014/main" id="{D7E710A2-9971-468E-B70C-229E8E78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Адаптивный тест на рабочих ситуациях</a:t>
            </a:r>
          </a:p>
        </p:txBody>
      </p:sp>
      <p:sp>
        <p:nvSpPr>
          <p:cNvPr id="28" name="10 ситуаций с выбором ответа и 5 последовательных откры">
            <a:extLst xmlns:a="http://schemas.openxmlformats.org/drawingml/2006/main">
              <a:ext uri="{FF2B5EF4-FFF2-40B4-BE49-F238E27FC236}">
                <a16:creationId xmlns:a16="http://schemas.microsoft.com/office/drawing/2014/main" id="{C0FA1D79-4F8B-4870-8962-39961BBE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10 ситуаций с выбором ответа и 5 последовательных открытых вопросов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5750AF-3AED-4D1B-A0E5-16FBD70F6D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6e2c9e32c44ee3"/>
          <a:stretch xmlns:a="http://schemas.openxmlformats.org/drawingml/2006/main"/>
        </p:blipFill>
        <p:spPr>
          <a:xfrm xmlns:a="http://schemas.openxmlformats.org/drawingml/2006/main">
            <a:off x="571500" y="2430599"/>
            <a:ext cx="11049000" cy="2415902"/>
          </a:xfrm>
          <a:prstGeom xmlns:a="http://schemas.openxmlformats.org/drawingml/2006/main" prst="rect">
            <a:avLst/>
          </a:prstGeom>
        </p:spPr>
      </p:pic>
      <p:sp>
        <p:nvSpPr>
          <p:cNvPr id="30" name="Ситуации по должности">
            <a:extLst xmlns:a="http://schemas.openxmlformats.org/drawingml/2006/main">
              <a:ext uri="{FF2B5EF4-FFF2-40B4-BE49-F238E27FC236}">
                <a16:creationId xmlns:a16="http://schemas.microsoft.com/office/drawing/2014/main" id="{B5E6CF33-0283-4C1F-916A-648BAC3D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24450"/>
            <a:ext cx="566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Ситуации по должности</a:t>
            </a:r>
          </a:p>
        </p:txBody>
      </p:sp>
      <p:sp>
        <p:nvSpPr>
          <p:cNvPr id="31" name="Открытые вопросы учитывают&#10;предыдущие ответы сотрудника">
            <a:extLst xmlns:a="http://schemas.openxmlformats.org/drawingml/2006/main">
              <a:ext uri="{FF2B5EF4-FFF2-40B4-BE49-F238E27FC236}">
                <a16:creationId xmlns:a16="http://schemas.microsoft.com/office/drawing/2014/main" id="{E7826FA5-0B5E-4C1D-9E98-3DAA3FC8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5953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Открытые вопросы учитывают</a:t>
            </a:r>
          </a:p>
          <a:p xmlns:a="http://schemas.openxmlformats.org/drawingml/2006/main">
            <a:pPr>
              <a:defRPr sz="1800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предыдущие ответы сотрудника.</a:t>
            </a:r>
          </a:p>
        </p:txBody>
      </p:sp>
      <p:sp>
        <p:nvSpPr>
          <p:cNvPr id="32" name="«Я так 20 лет делаю»&#10;тоже придётся объяснить.">
            <a:extLst xmlns:a="http://schemas.openxmlformats.org/drawingml/2006/main">
              <a:ext uri="{FF2B5EF4-FFF2-40B4-BE49-F238E27FC236}">
                <a16:creationId xmlns:a16="http://schemas.microsoft.com/office/drawing/2014/main" id="{83F44595-5A1B-4F34-A59D-34F28B50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72075"/>
            <a:ext cx="438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«Я так 20 лет делаю»</a:t>
            </a:r>
          </a:p>
          <a:p xmlns:a="http://schemas.openxmlformats.org/drawingml/2006/main">
            <a: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тоже придётся объяснить.</a:t>
            </a:r>
          </a:p>
        </p:txBody>
      </p:sp>
    </p:spTree>
    <p:extLst>
      <p:ext uri="{BB962C8B-B14F-4D97-AF65-F5344CB8AC3E}">
        <p14:creationId xmlns:p14="http://schemas.microsoft.com/office/powerpoint/2010/main" val="19506054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box">
            <a:extLst xmlns:a="http://schemas.openxmlformats.org/drawingml/2006/main">
              <a:ext uri="{FF2B5EF4-FFF2-40B4-BE49-F238E27FC236}">
                <a16:creationId xmlns:a16="http://schemas.microsoft.com/office/drawing/2014/main" id="{5841C21E-A373-415E-8BCB-9BCD6EFA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9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Прямая соединительная линия 3">
            <a:extLst xmlns:a="http://schemas.openxmlformats.org/drawingml/2006/main">
              <a:ext uri="{FF2B5EF4-FFF2-40B4-BE49-F238E27FC236}">
                <a16:creationId xmlns:a16="http://schemas.microsoft.com/office/drawing/2014/main" id="{ED1D850E-7E81-4F61-8DF5-1431EF4C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EB79EA-F566-4B34-915C-7E89B5A7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8" name="BI ACADEMY">
            <a:extLst xmlns:a="http://schemas.openxmlformats.org/drawingml/2006/main">
              <a:ext uri="{FF2B5EF4-FFF2-40B4-BE49-F238E27FC236}">
                <a16:creationId xmlns:a16="http://schemas.microsoft.com/office/drawing/2014/main" id="{2E4103ED-8960-434B-B4E2-6222D675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BI ACADEMY</a:t>
            </a:r>
          </a:p>
        </p:txBody>
      </p:sp>
      <p:sp>
        <p:nvSpPr>
          <p:cNvPr id="39" name="Персональный маршрут на 30 дней">
            <a:extLst xmlns:a="http://schemas.openxmlformats.org/drawingml/2006/main">
              <a:ext uri="{FF2B5EF4-FFF2-40B4-BE49-F238E27FC236}">
                <a16:creationId xmlns:a16="http://schemas.microsoft.com/office/drawing/2014/main" id="{673A6B6A-CB6F-4191-A577-ED661F77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Персональный маршрут на 30 дней</a:t>
            </a:r>
          </a:p>
        </p:txBody>
      </p:sp>
      <p:sp>
        <p:nvSpPr>
          <p:cNvPr id="40" name="Сотрудник получает конкретную практику с проверяемым ре">
            <a:extLst xmlns:a="http://schemas.openxmlformats.org/drawingml/2006/main">
              <a:ext uri="{FF2B5EF4-FFF2-40B4-BE49-F238E27FC236}">
                <a16:creationId xmlns:a16="http://schemas.microsoft.com/office/drawing/2014/main" id="{7FA3577D-4C7F-44AE-9AB4-D3CC84E6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Сотрудник получает конкретную практику с проверяемым результатом</a:t>
            </a:r>
          </a:p>
        </p:txBody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5621FA-3791-4280-93CF-525D15FB69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eb3bf0f0ef42a0"/>
          <a:stretch xmlns:a="http://schemas.openxmlformats.org/drawingml/2006/main"/>
        </p:blipFill>
        <p:spPr>
          <a:xfrm xmlns:a="http://schemas.openxmlformats.org/drawingml/2006/main">
            <a:off x="646616" y="2409825"/>
            <a:ext cx="10898768" cy="2952750"/>
          </a:xfrm>
          <a:prstGeom xmlns:a="http://schemas.openxmlformats.org/drawingml/2006/main" prst="rect">
            <a:avLst/>
          </a:prstGeom>
        </p:spPr>
      </p:pic>
      <p:sp>
        <p:nvSpPr>
          <p:cNvPr id="42" name="Четыре недели практики">
            <a:extLst xmlns:a="http://schemas.openxmlformats.org/drawingml/2006/main">
              <a:ext uri="{FF2B5EF4-FFF2-40B4-BE49-F238E27FC236}">
                <a16:creationId xmlns:a16="http://schemas.microsoft.com/office/drawing/2014/main" id="{15B5FE4B-C009-4831-8AF5-F3A35BAC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9592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Четыре недели практики</a:t>
            </a:r>
          </a:p>
        </p:txBody>
      </p:sp>
      <p:sp>
        <p:nvSpPr>
          <p:cNvPr id="43" name="Отметки и комментарии руководителя">
            <a:extLst xmlns:a="http://schemas.openxmlformats.org/drawingml/2006/main">
              <a:ext uri="{FF2B5EF4-FFF2-40B4-BE49-F238E27FC236}">
                <a16:creationId xmlns:a16="http://schemas.microsoft.com/office/drawing/2014/main" id="{677F7D6B-0484-4C5E-9100-C979BA67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495925"/>
            <a:ext cx="538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Отметки и комментарии руководителя</a:t>
            </a:r>
          </a:p>
        </p:txBody>
      </p:sp>
      <p:sp>
        <p:nvSpPr>
          <p:cNvPr id="44" name="Действующий экран на вымышленных данных. BuildEX и BIU ">
            <a:extLst xmlns:a="http://schemas.openxmlformats.org/drawingml/2006/main">
              <a:ext uri="{FF2B5EF4-FFF2-40B4-BE49-F238E27FC236}">
                <a16:creationId xmlns:a16="http://schemas.microsoft.com/office/drawing/2014/main" id="{2199BFA7-C7FA-4324-980A-1F81BEE1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Действующий экран на вымышленных данных. BuildEX и BIU указаны как направления обучения.</a:t>
            </a:r>
          </a:p>
        </p:txBody>
      </p:sp>
    </p:spTree>
    <p:extLst>
      <p:ext uri="{BB962C8B-B14F-4D97-AF65-F5344CB8AC3E}">
        <p14:creationId xmlns:p14="http://schemas.microsoft.com/office/powerpoint/2010/main" val="2795186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F33E95E2-B37F-1FBF-8DE7-F2A9CCAE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9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Прямая соединительная линия 5">
            <a:extLst xmlns:a="http://schemas.openxmlformats.org/drawingml/2006/main">
              <a:ext uri="{FF2B5EF4-FFF2-40B4-BE49-F238E27FC236}">
                <a16:creationId xmlns:a16="http://schemas.microsoft.com/office/drawing/2014/main" id="{3F48383F-597A-AB74-F80E-3106ED60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0DF3E-1D0E-4C8C-BB98-F5256A05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9" name="BI ACADEMY">
            <a:extLst xmlns:a="http://schemas.openxmlformats.org/drawingml/2006/main">
              <a:ext uri="{FF2B5EF4-FFF2-40B4-BE49-F238E27FC236}">
                <a16:creationId xmlns:a16="http://schemas.microsoft.com/office/drawing/2014/main" id="{CE7F6122-1126-4C4E-B492-A9DF1AD7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BI ACADEMY</a:t>
            </a:r>
          </a:p>
        </p:txBody>
      </p:sp>
      <p:sp>
        <p:nvSpPr>
          <p:cNvPr id="10" name="Прогресс виден после повторной оценки">
            <a:extLst xmlns:a="http://schemas.openxmlformats.org/drawingml/2006/main">
              <a:ext uri="{FF2B5EF4-FFF2-40B4-BE49-F238E27FC236}">
                <a16:creationId xmlns:a16="http://schemas.microsoft.com/office/drawing/2014/main" id="{ED7EA385-A25F-4C0E-BB29-036AF4A5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Прогресс виден после повторной оценки</a:t>
            </a:r>
          </a:p>
        </p:txBody>
      </p:sp>
      <p:sp>
        <p:nvSpPr>
          <p:cNvPr id="11" name="Первое прохождение остаётся точкой отсчёта для последую">
            <a:extLst xmlns:a="http://schemas.openxmlformats.org/drawingml/2006/main">
              <a:ext uri="{FF2B5EF4-FFF2-40B4-BE49-F238E27FC236}">
                <a16:creationId xmlns:a16="http://schemas.microsoft.com/office/drawing/2014/main" id="{04436C71-93AF-4F72-892A-92C2671E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Первое прохождение остаётся точкой отсчёта для последующих сравнений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892AF-7B83-41F6-8653-1CB03A960C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81f082dd84520"/>
          <a:stretch xmlns:a="http://schemas.openxmlformats.org/drawingml/2006/main"/>
        </p:blipFill>
        <p:spPr>
          <a:xfrm xmlns:a="http://schemas.openxmlformats.org/drawingml/2006/main">
            <a:off x="2030957" y="2352675"/>
            <a:ext cx="8130085" cy="3562350"/>
          </a:xfrm>
          <a:prstGeom xmlns:a="http://schemas.openxmlformats.org/drawingml/2006/main" prst="rect">
            <a:avLst/>
          </a:prstGeom>
        </p:spPr>
      </p:pic>
      <p:sp>
        <p:nvSpPr>
          <p:cNvPr id="13" name="Демонстрационные данные. Изменение процентов само по се">
            <a:extLst xmlns:a="http://schemas.openxmlformats.org/drawingml/2006/main">
              <a:ext uri="{FF2B5EF4-FFF2-40B4-BE49-F238E27FC236}">
                <a16:creationId xmlns:a16="http://schemas.microsoft.com/office/drawing/2014/main" id="{714C1C2E-B216-4581-BF9B-E82CCCBF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Демонстрационные данные. Изменение процентов само по себе не доказывает рост навыка.</a:t>
            </a:r>
          </a:p>
        </p:txBody>
      </p:sp>
    </p:spTree>
    <p:extLst>
      <p:ext uri="{BB962C8B-B14F-4D97-AF65-F5344CB8AC3E}">
        <p14:creationId xmlns:p14="http://schemas.microsoft.com/office/powerpoint/2010/main" val="260741672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BDF98732-3F4F-A99C-8AD9-1B9DA883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9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Прямая соединительная линия 3">
            <a:extLst xmlns:a="http://schemas.openxmlformats.org/drawingml/2006/main">
              <a:ext uri="{FF2B5EF4-FFF2-40B4-BE49-F238E27FC236}">
                <a16:creationId xmlns:a16="http://schemas.microsoft.com/office/drawing/2014/main" id="{6EBB7942-4C28-6BDA-5215-CFD5A5E9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F96C3-704B-43FE-8735-E6E933C2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BI ACADEMY">
            <a:extLst xmlns:a="http://schemas.openxmlformats.org/drawingml/2006/main">
              <a:ext uri="{FF2B5EF4-FFF2-40B4-BE49-F238E27FC236}">
                <a16:creationId xmlns:a16="http://schemas.microsoft.com/office/drawing/2014/main" id="{59DDB6D6-629B-4034-A515-7E771D64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BI ACADEMY</a:t>
            </a:r>
          </a:p>
        </p:txBody>
      </p:sp>
      <p:sp>
        <p:nvSpPr>
          <p:cNvPr id="8" name="Кабинет руководителя для всей команды">
            <a:extLst xmlns:a="http://schemas.openxmlformats.org/drawingml/2006/main">
              <a:ext uri="{FF2B5EF4-FFF2-40B4-BE49-F238E27FC236}">
                <a16:creationId xmlns:a16="http://schemas.microsoft.com/office/drawing/2014/main" id="{885860E5-F429-4A41-97FD-6893EEB8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Кабинет руководителя для всей команды</a:t>
            </a:r>
          </a:p>
        </p:txBody>
      </p:sp>
      <p:sp>
        <p:nvSpPr>
          <p:cNvPr id="9" name="Тепловая карта, профили сотрудников и назначение бесед ">
            <a:extLst xmlns:a="http://schemas.openxmlformats.org/drawingml/2006/main">
              <a:ext uri="{FF2B5EF4-FFF2-40B4-BE49-F238E27FC236}">
                <a16:creationId xmlns:a16="http://schemas.microsoft.com/office/drawing/2014/main" id="{90E2042E-A8D0-44A9-9B8A-FBD395E1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Тепловая карта, профили сотрудников и назначение бесед с одного экрана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B929CE-68DC-4A4E-9465-70B6E01DF1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b34d428f5c4735"/>
          <a:stretch xmlns:a="http://schemas.openxmlformats.org/drawingml/2006/main"/>
        </p:blipFill>
        <p:spPr>
          <a:xfrm xmlns:a="http://schemas.openxmlformats.org/drawingml/2006/main">
            <a:off x="1801288" y="2409825"/>
            <a:ext cx="8589425" cy="3209925"/>
          </a:xfrm>
          <a:prstGeom xmlns:a="http://schemas.openxmlformats.org/drawingml/2006/main" prst="rect">
            <a:avLst/>
          </a:prstGeom>
        </p:spPr>
      </p:pic>
      <p:sp>
        <p:nvSpPr>
          <p:cNvPr id="11" name="Руководитель видит результаты после согласия сотрудника">
            <a:extLst xmlns:a="http://schemas.openxmlformats.org/drawingml/2006/main">
              <a:ext uri="{FF2B5EF4-FFF2-40B4-BE49-F238E27FC236}">
                <a16:creationId xmlns:a16="http://schemas.microsoft.com/office/drawing/2014/main" id="{A9143FB5-19E9-4FA3-97C4-33835979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67375"/>
            <a:ext cx="1104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Руководитель видит результаты после согласия сотрудника</a:t>
            </a:r>
          </a:p>
        </p:txBody>
      </p:sp>
      <p:sp>
        <p:nvSpPr>
          <p:cNvPr id="12" name="Актуальный экран кабинета руководителя. Люди и результа">
            <a:extLst xmlns:a="http://schemas.openxmlformats.org/drawingml/2006/main">
              <a:ext uri="{FF2B5EF4-FFF2-40B4-BE49-F238E27FC236}">
                <a16:creationId xmlns:a16="http://schemas.microsoft.com/office/drawing/2014/main" id="{A0F3F750-8A30-40EE-A0C5-B59C0583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Актуальный экран кабинета руководителя. Люди и результаты демокоманды вымышленные.</a:t>
            </a:r>
          </a:p>
        </p:txBody>
      </p:sp>
    </p:spTree>
    <p:extLst>
      <p:ext uri="{BB962C8B-B14F-4D97-AF65-F5344CB8AC3E}">
        <p14:creationId xmlns:p14="http://schemas.microsoft.com/office/powerpoint/2010/main" val="108364171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909B36E2-CD61-29E0-1290-3D2B45A4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9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Прямая соединительная линия 5">
            <a:extLst xmlns:a="http://schemas.openxmlformats.org/drawingml/2006/main">
              <a:ext uri="{FF2B5EF4-FFF2-40B4-BE49-F238E27FC236}">
                <a16:creationId xmlns:a16="http://schemas.microsoft.com/office/drawing/2014/main" id="{E654E37C-518F-83A0-6FCF-54A5AB0B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77547-35B2-4C27-9E21-8D9C6541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9" name="BI ACADEMY">
            <a:extLst xmlns:a="http://schemas.openxmlformats.org/drawingml/2006/main">
              <a:ext uri="{FF2B5EF4-FFF2-40B4-BE49-F238E27FC236}">
                <a16:creationId xmlns:a16="http://schemas.microsoft.com/office/drawing/2014/main" id="{92E077CB-F231-48F3-A44D-E00AE2C0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BI ACADEMY</a:t>
            </a:r>
          </a:p>
        </p:txBody>
      </p:sp>
      <p:sp>
        <p:nvSpPr>
          <p:cNvPr id="10" name="Результат опирается на проверяемую методику">
            <a:extLst xmlns:a="http://schemas.openxmlformats.org/drawingml/2006/main">
              <a:ext uri="{FF2B5EF4-FFF2-40B4-BE49-F238E27FC236}">
                <a16:creationId xmlns:a16="http://schemas.microsoft.com/office/drawing/2014/main" id="{9592EB2E-8B02-41CB-A88E-36C6A611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Результат опирается на проверяемую методику</a:t>
            </a:r>
          </a:p>
        </p:txBody>
      </p:sp>
      <p:sp>
        <p:nvSpPr>
          <p:cNvPr id="11" name="Одни и те же 15 ответов оценены шесть раз реальными зап">
            <a:extLst xmlns:a="http://schemas.openxmlformats.org/drawingml/2006/main">
              <a:ext uri="{FF2B5EF4-FFF2-40B4-BE49-F238E27FC236}">
                <a16:creationId xmlns:a16="http://schemas.microsoft.com/office/drawing/2014/main" id="{DE8F298E-4F9A-4818-B019-3C6F8F36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Одни и те же 15 ответов оценены шесть раз реальными запросами к ИИ</a:t>
            </a:r>
          </a:p>
        </p:txBody>
      </p:sp>
      <p:sp>
        <p:nvSpPr>
          <p:cNvPr id="12" name="6 из 6">
            <a:extLst xmlns:a="http://schemas.openxmlformats.org/drawingml/2006/main">
              <a:ext uri="{FF2B5EF4-FFF2-40B4-BE49-F238E27FC236}">
                <a16:creationId xmlns:a16="http://schemas.microsoft.com/office/drawing/2014/main" id="{DC077FC5-C5AD-4C2D-98B6-BB9DEF0E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76525"/>
            <a:ext cx="4191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5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defRPr sz="55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defRPr sz="55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defRPr sz="55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defRPr sz="55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defRPr sz="55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defRPr sz="55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defRPr sz="55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defRPr sz="55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defRPr sz="55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5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6 из 6</a:t>
            </a:r>
          </a:p>
        </p:txBody>
      </p:sp>
      <p:sp>
        <p:nvSpPr>
          <p:cNvPr id="13" name="совпали все четыре&#10;итоговых показателя">
            <a:extLst xmlns:a="http://schemas.openxmlformats.org/drawingml/2006/main">
              <a:ext uri="{FF2B5EF4-FFF2-40B4-BE49-F238E27FC236}">
                <a16:creationId xmlns:a16="http://schemas.microsoft.com/office/drawing/2014/main" id="{023FB976-E3C1-44A5-B99B-1819D305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совпали все четыре</a:t>
            </a:r>
          </a:p>
          <a:p xmlns:a="http://schemas.openxmlformats.org/drawingml/2006/main">
            <a:pPr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итоговых показателя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7BE583-B1FB-4AE2-8A40-F4F230C1EE6D}"/>
              </a:ext>
            </a:extLst>
          </p:cNvPr>
          <p:cNvGraphicFramePr/>
          <p:nvPr/>
        </p:nvGraphicFramePr>
        <p:xfrm>
          <a:off xmlns:a="http://schemas.openxmlformats.org/drawingml/2006/main" x="5238750" y="2619375"/>
          <a:ext xmlns:a="http://schemas.openxmlformats.org/drawingml/2006/main" cx="63817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2476500"/>
              </a:tblGrid>
              <a:tr h="5143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Показатель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7DCEC"/>
                      </a:solidFill>
                      <a:prstDash val="soli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T w="7620">
                      <a:solidFill>
                        <a:srgbClr val="D7DCEC"/>
                      </a:solidFill>
                      <a:prstDash val="soli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6E5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Во всех 6 оценках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7DCEC"/>
                      </a:solidFill>
                      <a:prstDash val="solid"/>
                    </a:lnR>
                    <a:lnT w="7620">
                      <a:solidFill>
                        <a:srgbClr val="D7DCEC"/>
                      </a:solidFill>
                      <a:prstDash val="solid"/>
                    </a:lnT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6E59F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Критическое мышление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7DCEC"/>
                      </a:solidFill>
                      <a:prstDash val="soli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85%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7DCEC"/>
                      </a:solidFill>
                      <a:prstDash val="solid"/>
                    </a:lnR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Уверенность в себе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7DCEC"/>
                      </a:solidFill>
                      <a:prstDash val="soli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E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53%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7DCEC"/>
                      </a:solidFill>
                      <a:prstDash val="solid"/>
                    </a:lnR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ECEA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Дисциплина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7DCEC"/>
                      </a:solidFill>
                      <a:prstDash val="soli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7DCEC"/>
                      </a:solidFill>
                      <a:prstDash val="solid"/>
                    </a:lnR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Вовлечённость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D7DCEC"/>
                      </a:solidFill>
                      <a:prstDash val="solid"/>
                    </a:lnL>
                    <a:lnR w="7620">
                      <a:solidFill>
                        <a:srgbClr val="D7DCEC"/>
                      </a:solidFill>
                      <a:prstDash val="solid"/>
                    </a:lnR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ECEA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213A"/>
                          </a:solidFill>
                          <a:latin typeface="Arial"/>
                          <a:ea typeface="Arial"/>
                          <a:cs typeface="Arial"/>
                        </a:rPr>
                        <a:t>52%</a:t>
                      </a:r>
                    </a:p>
                  </a:txBody>
                  <a:tcPr marL="91440" marR="91440" marT="45720" marB="45720">
                    <a:lnR w="7620">
                      <a:solidFill>
                        <a:srgbClr val="D7DCEC"/>
                      </a:solidFill>
                      <a:prstDash val="solid"/>
                    </a:lnR>
                    <a:lnB w="7620">
                      <a:solidFill>
                        <a:srgbClr val="D7DCEC"/>
                      </a:solidFill>
                      <a:prstDash val="solid"/>
                    </a:lnB>
                    <a:solidFill>
                      <a:srgbClr val="ECEAF9"/>
                    </a:solidFill>
                  </a:tcPr>
                </a:tc>
              </a:tr>
            </a:tbl>
          </a:graphicData>
        </a:graphic>
      </p:graphicFrame>
      <p:sp>
        <p:nvSpPr>
          <p:cNvPr id="15" name="Основания с цитатами проходят серверную проверку.">
            <a:extLst xmlns:a="http://schemas.openxmlformats.org/drawingml/2006/main">
              <a:ext uri="{FF2B5EF4-FFF2-40B4-BE49-F238E27FC236}">
                <a16:creationId xmlns:a16="http://schemas.microsoft.com/office/drawing/2014/main" id="{CD0DDBD9-0AC9-4283-8DB1-0B211D1A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0542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Основания с цитатами проходят серверную проверку.</a:t>
            </a:r>
          </a:p>
        </p:txBody>
      </p:sp>
      <p:sp>
        <p:nvSpPr>
          <p:cNvPr id="16" name="Тестовые персоны, 20.10.2026. Навыки иногда отличались ">
            <a:extLst xmlns:a="http://schemas.openxmlformats.org/drawingml/2006/main">
              <a:ext uri="{FF2B5EF4-FFF2-40B4-BE49-F238E27FC236}">
                <a16:creationId xmlns:a16="http://schemas.microsoft.com/office/drawing/2014/main" id="{8C1CB3A2-2806-40F1-B246-D94D331C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Тестовые персоны, 20.10.2026. Навыки иногда отличались на один уровень. Точность требует пилота.</a:t>
            </a:r>
          </a:p>
        </p:txBody>
      </p:sp>
    </p:spTree>
    <p:extLst>
      <p:ext uri="{BB962C8B-B14F-4D97-AF65-F5344CB8AC3E}">
        <p14:creationId xmlns:p14="http://schemas.microsoft.com/office/powerpoint/2010/main" val="10504078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71E842BC-49BA-43E3-80E0-5B2EBAB9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9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Прямая соединительная линия 3">
            <a:extLst xmlns:a="http://schemas.openxmlformats.org/drawingml/2006/main">
              <a:ext uri="{FF2B5EF4-FFF2-40B4-BE49-F238E27FC236}">
                <a16:creationId xmlns:a16="http://schemas.microsoft.com/office/drawing/2014/main" id="{659396AC-175A-4A04-B4F9-25B706DE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C26809-B71C-4545-BC96-EA88D62D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7" name="BI ACADEMY">
            <a:extLst xmlns:a="http://schemas.openxmlformats.org/drawingml/2006/main">
              <a:ext uri="{FF2B5EF4-FFF2-40B4-BE49-F238E27FC236}">
                <a16:creationId xmlns:a16="http://schemas.microsoft.com/office/drawing/2014/main" id="{AB103EAA-9A2A-4881-8B62-3719EE2E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BI ACADEMY</a:t>
            </a:r>
          </a:p>
        </p:txBody>
      </p:sp>
      <p:sp>
        <p:nvSpPr>
          <p:cNvPr id="28" name="Система замечает опасные решения">
            <a:extLst xmlns:a="http://schemas.openxmlformats.org/drawingml/2006/main">
              <a:ext uri="{FF2B5EF4-FFF2-40B4-BE49-F238E27FC236}">
                <a16:creationId xmlns:a16="http://schemas.microsoft.com/office/drawing/2014/main" id="{F41A1FD5-299B-4779-A282-DD2FB594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Система замечает опасные решения</a:t>
            </a:r>
          </a:p>
        </p:txBody>
      </p:sp>
      <p:sp>
        <p:nvSpPr>
          <p:cNvPr id="29" name="Пример B1: «постучу по бетону и посмотрю» при недостато">
            <a:extLst xmlns:a="http://schemas.openxmlformats.org/drawingml/2006/main">
              <a:ext uri="{FF2B5EF4-FFF2-40B4-BE49-F238E27FC236}">
                <a16:creationId xmlns:a16="http://schemas.microsoft.com/office/drawing/2014/main" id="{8B772136-A27F-4359-B64A-87FA15BD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Пример B1: «постучу по бетону и посмотрю» при недостаточной прочности</a:t>
            </a: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70AD7B-EF80-4587-A8A9-6879A1A26F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e936218ebe4aa6"/>
          <a:stretch xmlns:a="http://schemas.openxmlformats.org/drawingml/2006/main"/>
        </p:blipFill>
        <p:spPr>
          <a:xfrm xmlns:a="http://schemas.openxmlformats.org/drawingml/2006/main">
            <a:off x="571500" y="2438944"/>
            <a:ext cx="11049000" cy="1856287"/>
          </a:xfrm>
          <a:prstGeom xmlns:a="http://schemas.openxmlformats.org/drawingml/2006/main" prst="rect">
            <a:avLst/>
          </a:prstGeom>
        </p:spPr>
      </p:pic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A0C340-B485-451B-ABAC-1F0BAB40E7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e4de752dc949a9"/>
          <a:stretch xmlns:a="http://schemas.openxmlformats.org/drawingml/2006/main"/>
        </p:blipFill>
        <p:spPr>
          <a:xfrm xmlns:a="http://schemas.openxmlformats.org/drawingml/2006/main">
            <a:off x="571500" y="4516706"/>
            <a:ext cx="11049000" cy="986888"/>
          </a:xfrm>
          <a:prstGeom xmlns:a="http://schemas.openxmlformats.org/drawingml/2006/main" prst="rect">
            <a:avLst/>
          </a:prstGeom>
        </p:spPr>
      </p:pic>
      <p:sp>
        <p:nvSpPr>
          <p:cNvPr id="32" name="В этом сценарии оценки профессиональных навыков огранич">
            <a:extLst xmlns:a="http://schemas.openxmlformats.org/drawingml/2006/main">
              <a:ext uri="{FF2B5EF4-FFF2-40B4-BE49-F238E27FC236}">
                <a16:creationId xmlns:a16="http://schemas.microsoft.com/office/drawing/2014/main" id="{106A7528-C6F3-46D9-9540-C897EE88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578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6E59F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E59F7"/>
                </a:solidFill>
                <a:latin typeface="Arial"/>
                <a:ea typeface="Arial"/>
                <a:cs typeface="Arial"/>
              </a:rPr>
              <a:t>В этом сценарии оценки профессиональных навыков ограничены до 25%</a:t>
            </a:r>
          </a:p>
        </p:txBody>
      </p:sp>
      <p:sp>
        <p:nvSpPr>
          <p:cNvPr id="33" name="Реальный ответ модели на тестовую персону. Флаг риска п">
            <a:extLst xmlns:a="http://schemas.openxmlformats.org/drawingml/2006/main">
              <a:ext uri="{FF2B5EF4-FFF2-40B4-BE49-F238E27FC236}">
                <a16:creationId xmlns:a16="http://schemas.microsoft.com/office/drawing/2014/main" id="{D10BB5BE-9779-4E1F-8D98-24AC00F4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370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8A"/>
                </a:solidFill>
                <a:latin typeface="Arial"/>
                <a:ea typeface="Arial"/>
                <a:cs typeface="Arial"/>
              </a:rPr>
              <a:t>Реальный ответ модели на тестовую персону. Флаг риска подтверждён цитатой из ответа.</a:t>
            </a:r>
          </a:p>
        </p:txBody>
      </p:sp>
    </p:spTree>
    <p:extLst>
      <p:ext uri="{BB962C8B-B14F-4D97-AF65-F5344CB8AC3E}">
        <p14:creationId xmlns:p14="http://schemas.microsoft.com/office/powerpoint/2010/main" val="7531338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1DC74981-5BF1-43AA-A026-27546280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9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Прямая соединительная линия 3">
            <a:extLst xmlns:a="http://schemas.openxmlformats.org/drawingml/2006/main">
              <a:ext uri="{FF2B5EF4-FFF2-40B4-BE49-F238E27FC236}">
                <a16:creationId xmlns:a16="http://schemas.microsoft.com/office/drawing/2014/main" id="{BE51A888-C6BC-4981-9BCE-FAEF8094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50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7C2CFD-9167-420D-8685-B0F8C416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EB8D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6" name="BI ACADEMY">
            <a:extLst xmlns:a="http://schemas.openxmlformats.org/drawingml/2006/main">
              <a:ext uri="{FF2B5EF4-FFF2-40B4-BE49-F238E27FC236}">
                <a16:creationId xmlns:a16="http://schemas.microsoft.com/office/drawing/2014/main" id="{87EC28C8-E06D-4D07-9E04-E1A4FE76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C9D7"/>
                </a:solidFill>
                <a:latin typeface="Arial"/>
                <a:ea typeface="Arial"/>
                <a:cs typeface="Arial"/>
              </a:rPr>
              <a:t>BI ACADEMY</a:t>
            </a:r>
          </a:p>
        </p:txBody>
      </p:sp>
      <p:sp>
        <p:nvSpPr>
          <p:cNvPr id="27" name="Низкие расходы на ИИ при масштабировании">
            <a:extLst xmlns:a="http://schemas.openxmlformats.org/drawingml/2006/main">
              <a:ext uri="{FF2B5EF4-FFF2-40B4-BE49-F238E27FC236}">
                <a16:creationId xmlns:a16="http://schemas.microsoft.com/office/drawing/2014/main" id="{A68E55FF-8A40-4C53-A915-768B201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Низкие расходы на ИИ при масштабировании</a:t>
            </a:r>
          </a:p>
        </p:txBody>
      </p:sp>
      <p:sp>
        <p:nvSpPr>
          <p:cNvPr id="28" name="Реальные замеры 20–21 октября 2026 года, стоимость за о">
            <a:extLst xmlns:a="http://schemas.openxmlformats.org/drawingml/2006/main">
              <a:ext uri="{FF2B5EF4-FFF2-40B4-BE49-F238E27FC236}">
                <a16:creationId xmlns:a16="http://schemas.microsoft.com/office/drawing/2014/main" id="{3C759563-CF57-4AE0-9FA2-02B09820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BE0F0"/>
                </a:solidFill>
                <a:latin typeface="Arial"/>
                <a:ea typeface="Arial"/>
                <a:cs typeface="Arial"/>
              </a:rPr>
              <a:t>Реальные замеры 20–21 октября 2026 года, стоимость за одно прохождение</a:t>
            </a:r>
          </a:p>
        </p:txBody>
      </p:sp>
      <p:sp>
        <p:nvSpPr>
          <p:cNvPr id="29" name="≈ 7,5 ₸">
            <a:extLst xmlns:a="http://schemas.openxmlformats.org/drawingml/2006/main">
              <a:ext uri="{FF2B5EF4-FFF2-40B4-BE49-F238E27FC236}">
                <a16:creationId xmlns:a16="http://schemas.microsoft.com/office/drawing/2014/main" id="{3E6D4FB4-8F9C-4058-B5B9-3A9F8B7F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defPPr>
            <a:lvl1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39C9D7"/>
                </a:solidFill>
                <a:latin typeface="Arial"/>
                <a:ea typeface="Arial"/>
                <a:cs typeface="Arial"/>
              </a:rPr>
              <a:t>≈ 7,5 ₸</a:t>
            </a:r>
          </a:p>
        </p:txBody>
      </p:sp>
      <p:sp>
        <p:nvSpPr>
          <p:cNvPr id="30" name="Русский язык">
            <a:extLst xmlns:a="http://schemas.openxmlformats.org/drawingml/2006/main">
              <a:ext uri="{FF2B5EF4-FFF2-40B4-BE49-F238E27FC236}">
                <a16:creationId xmlns:a16="http://schemas.microsoft.com/office/drawing/2014/main" id="{39B40DB2-D567-4B14-B80D-D63E72F4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235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Русский язык</a:t>
            </a:r>
          </a:p>
        </p:txBody>
      </p:sp>
      <p:sp>
        <p:nvSpPr>
          <p:cNvPr id="31" name="≈ 9,2 ₸">
            <a:extLst xmlns:a="http://schemas.openxmlformats.org/drawingml/2006/main">
              <a:ext uri="{FF2B5EF4-FFF2-40B4-BE49-F238E27FC236}">
                <a16:creationId xmlns:a16="http://schemas.microsoft.com/office/drawing/2014/main" id="{6E87DEC4-0FC5-48A6-B5A0-E75D80E4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19375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defPPr>
            <a:lvl1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39C9D7"/>
                </a:solidFill>
                <a:latin typeface="Arial"/>
                <a:ea typeface="Arial"/>
                <a:cs typeface="Arial"/>
              </a:rPr>
              <a:t>≈ 9,2 ₸</a:t>
            </a:r>
          </a:p>
        </p:txBody>
      </p:sp>
      <p:sp>
        <p:nvSpPr>
          <p:cNvPr id="32" name="Казахский язык">
            <a:extLst xmlns:a="http://schemas.openxmlformats.org/drawingml/2006/main">
              <a:ext uri="{FF2B5EF4-FFF2-40B4-BE49-F238E27FC236}">
                <a16:creationId xmlns:a16="http://schemas.microsoft.com/office/drawing/2014/main" id="{604D7275-1991-4052-AA5A-D2EC2369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6235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Казахский язык</a:t>
            </a:r>
          </a:p>
        </p:txBody>
      </p:sp>
      <p:sp>
        <p:nvSpPr>
          <p:cNvPr id="33" name="≈ 8,6 ₸">
            <a:extLst xmlns:a="http://schemas.openxmlformats.org/drawingml/2006/main">
              <a:ext uri="{FF2B5EF4-FFF2-40B4-BE49-F238E27FC236}">
                <a16:creationId xmlns:a16="http://schemas.microsoft.com/office/drawing/2014/main" id="{44DAEF02-A483-4C7D-8994-9A4C2974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19375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defPPr>
            <a:lvl1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39C9D7"/>
                </a:solidFill>
                <a:latin typeface="Arial"/>
                <a:ea typeface="Arial"/>
                <a:cs typeface="Arial"/>
              </a:rPr>
              <a:t>≈ 8,6 ₸</a:t>
            </a:r>
          </a:p>
        </p:txBody>
      </p:sp>
      <p:sp>
        <p:nvSpPr>
          <p:cNvPr id="34" name="Английский язык">
            <a:extLst xmlns:a="http://schemas.openxmlformats.org/drawingml/2006/main">
              <a:ext uri="{FF2B5EF4-FFF2-40B4-BE49-F238E27FC236}">
                <a16:creationId xmlns:a16="http://schemas.microsoft.com/office/drawing/2014/main" id="{93DBAB5D-8711-411F-9BAB-73DC061A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6235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Английский язык</a:t>
            </a:r>
          </a:p>
        </p:txBody>
      </p:sp>
      <p:sp>
        <p:nvSpPr>
          <p:cNvPr id="35" name="≈ 20 ₸">
            <a:extLst xmlns:a="http://schemas.openxmlformats.org/drawingml/2006/main">
              <a:ext uri="{FF2B5EF4-FFF2-40B4-BE49-F238E27FC236}">
                <a16:creationId xmlns:a16="http://schemas.microsoft.com/office/drawing/2014/main" id="{37D0AEAB-E8CF-433E-8A77-7CB011C5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29125"/>
            <a:ext cx="3143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defPPr>
            <a:lvl1pPr>
              <a:defRPr sz="4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1pPr>
            <a:lvl2pPr>
              <a:defRPr sz="4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2pPr>
            <a:lvl3pPr>
              <a:defRPr sz="4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3pPr>
            <a:lvl4pPr>
              <a:defRPr sz="4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4pPr>
            <a:lvl5pPr>
              <a:defRPr sz="4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5pPr>
            <a:lvl6pPr>
              <a:defRPr sz="4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6pPr>
            <a:lvl7pPr>
              <a:defRPr sz="4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7pPr>
            <a:lvl8pPr>
              <a:defRPr sz="4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8pPr>
            <a:lvl9pPr>
              <a:defRPr sz="4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9C9D7"/>
                </a:solidFill>
                <a:latin typeface="Arial"/>
                <a:ea typeface="Arial"/>
                <a:cs typeface="Arial"/>
              </a:rPr>
              <a:t>≈ 20 ₸</a:t>
            </a:r>
          </a:p>
        </p:txBody>
      </p:sp>
      <p:sp>
        <p:nvSpPr>
          <p:cNvPr id="36" name="Первый тест + повтор с анализом прогресса&#10;на казахском ">
            <a:extLst xmlns:a="http://schemas.openxmlformats.org/drawingml/2006/main">
              <a:ext uri="{FF2B5EF4-FFF2-40B4-BE49-F238E27FC236}">
                <a16:creationId xmlns:a16="http://schemas.microsoft.com/office/drawing/2014/main" id="{388AE2A3-E6AE-452E-B73D-2DBB2CF0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43865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BE0F0"/>
                </a:solidFill>
                <a:latin typeface="Arial"/>
                <a:ea typeface="Arial"/>
                <a:cs typeface="Arial"/>
              </a:rPr>
              <a:t>Первый тест + повтор с анализом прогресса</a:t>
            </a:r>
          </a:p>
          <a:p xmlns:a="http://schemas.openxmlformats.org/drawingml/2006/main">
            <a:pPr>
              <a:defRPr sz="202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BE0F0"/>
                </a:solidFill>
                <a:latin typeface="Arial"/>
                <a:ea typeface="Arial"/>
                <a:cs typeface="Arial"/>
              </a:rPr>
              <a:t>на казахском для одного сотрудника</a:t>
            </a:r>
          </a:p>
        </p:txBody>
      </p:sp>
      <p:sp>
        <p:nvSpPr>
          <p:cNvPr id="37" name="1,5–2 минуты суммарного ожидания ИИ в базовом прохожден">
            <a:extLst xmlns:a="http://schemas.openxmlformats.org/drawingml/2006/main">
              <a:ext uri="{FF2B5EF4-FFF2-40B4-BE49-F238E27FC236}">
                <a16:creationId xmlns:a16="http://schemas.microsoft.com/office/drawing/2014/main" id="{112360E0-1396-4DE0-8322-395BDEE6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BE0F0"/>
                </a:solidFill>
                <a:latin typeface="Arial"/>
                <a:ea typeface="Arial"/>
                <a:cs typeface="Arial"/>
              </a:rPr>
              <a:t>1,5–2 минуты суммарного ожидания ИИ в базовом прохождении</a:t>
            </a:r>
          </a:p>
        </p:txBody>
      </p:sp>
      <p:sp>
        <p:nvSpPr>
          <p:cNvPr id="38" name="Только ИИ, без хостинга и сопровождения. Курс отчёта 45">
            <a:extLst xmlns:a="http://schemas.openxmlformats.org/drawingml/2006/main">
              <a:ext uri="{FF2B5EF4-FFF2-40B4-BE49-F238E27FC236}">
                <a16:creationId xmlns:a16="http://schemas.microsoft.com/office/drawing/2014/main" id="{CC0B60A5-D7DE-433C-A7DD-A3C8500A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8D4"/>
                </a:solidFill>
                <a:latin typeface="Arial"/>
                <a:ea typeface="Arial"/>
                <a:cs typeface="Arial"/>
              </a:rPr>
              <a:t>Только ИИ, без хостинга и сопровождения. Курс отчёта 455 ₸/$. Время ответов человека не включено.</a:t>
            </a:r>
          </a:p>
        </p:txBody>
      </p:sp>
    </p:spTree>
    <p:extLst>
      <p:ext uri="{BB962C8B-B14F-4D97-AF65-F5344CB8AC3E}">
        <p14:creationId xmlns:p14="http://schemas.microsoft.com/office/powerpoint/2010/main" val="10217066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467A3-E368-4192-A17E-70AECFF6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AEB8D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EB8D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BI ACADEMY">
            <a:extLst xmlns:a="http://schemas.openxmlformats.org/drawingml/2006/main">
              <a:ext uri="{FF2B5EF4-FFF2-40B4-BE49-F238E27FC236}">
                <a16:creationId xmlns:a16="http://schemas.microsoft.com/office/drawing/2014/main" id="{396C5FDF-A0D7-4EB3-B9B5-44EE7591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C9D7"/>
                </a:solidFill>
                <a:latin typeface="Arial"/>
                <a:ea typeface="Arial"/>
                <a:cs typeface="Arial"/>
              </a:rPr>
              <a:t>BI ACADEMY</a:t>
            </a:r>
          </a:p>
        </p:txBody>
      </p:sp>
      <p:sp>
        <p:nvSpPr>
          <p:cNvPr id="4" name="Почему стоит выбрать нашу команду">
            <a:extLst xmlns:a="http://schemas.openxmlformats.org/drawingml/2006/main">
              <a:ext uri="{FF2B5EF4-FFF2-40B4-BE49-F238E27FC236}">
                <a16:creationId xmlns:a16="http://schemas.microsoft.com/office/drawing/2014/main" id="{718ECBC7-712F-4805-8F12-2935FAE8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Почему стоит выбрать нашу команду</a:t>
            </a:r>
          </a:p>
        </p:txBody>
      </p:sp>
      <p:sp>
        <p:nvSpPr>
          <p:cNvPr id="5" name="Мы реализовали полный рабочий путь оценки и развития">
            <a:extLst xmlns:a="http://schemas.openxmlformats.org/drawingml/2006/main">
              <a:ext uri="{FF2B5EF4-FFF2-40B4-BE49-F238E27FC236}">
                <a16:creationId xmlns:a16="http://schemas.microsoft.com/office/drawing/2014/main" id="{98764EC9-A3E0-4AFC-81FA-F5B50788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BE0F0"/>
                </a:solidFill>
                <a:latin typeface="Arial"/>
                <a:ea typeface="Arial"/>
                <a:cs typeface="Arial"/>
              </a:rPr>
              <a:t>Мы реализовали полный рабочий путь оценки и развития</a:t>
            </a:r>
          </a:p>
        </p:txBody>
      </p:sp>
      <p:sp>
        <p:nvSpPr>
          <p:cNvPr id="6" name="Польза для компании">
            <a:extLst xmlns:a="http://schemas.openxmlformats.org/drawingml/2006/main">
              <a:ext uri="{FF2B5EF4-FFF2-40B4-BE49-F238E27FC236}">
                <a16:creationId xmlns:a16="http://schemas.microsoft.com/office/drawing/2014/main" id="{56F7D117-C633-40E5-83E8-CBDBE07D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05075"/>
            <a:ext cx="452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9C9D7"/>
                </a:solidFill>
                <a:latin typeface="Arial"/>
                <a:ea typeface="Arial"/>
                <a:cs typeface="Arial"/>
              </a:rPr>
              <a:t>Польза для компании</a:t>
            </a:r>
          </a:p>
        </p:txBody>
      </p:sp>
      <p:sp>
        <p:nvSpPr>
          <p:cNvPr id="7" name="Сводка команды, приоритеты развития&#10;и инструменты работ">
            <a:extLst xmlns:a="http://schemas.openxmlformats.org/drawingml/2006/main">
              <a:ext uri="{FF2B5EF4-FFF2-40B4-BE49-F238E27FC236}">
                <a16:creationId xmlns:a16="http://schemas.microsoft.com/office/drawing/2014/main" id="{F4D20487-F481-4984-8EDE-31281492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66975"/>
            <a:ext cx="6191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BE0F0"/>
                </a:solidFill>
                <a:latin typeface="Arial"/>
                <a:ea typeface="Arial"/>
                <a:cs typeface="Arial"/>
              </a:rPr>
              <a:t>Сводка команды, приоритеты развития</a:t>
            </a:r>
          </a:p>
          <a:p xmlns:a="http://schemas.openxmlformats.org/drawingml/2006/main">
            <a: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BE0F0"/>
                </a:solidFill>
                <a:latin typeface="Arial"/>
                <a:ea typeface="Arial"/>
                <a:cs typeface="Arial"/>
              </a:rPr>
              <a:t>и инструменты работы руководителя.</a:t>
            </a:r>
          </a:p>
        </p:txBody>
      </p:sp>
      <p:sp>
        <p:nvSpPr>
          <p:cNvPr id="8" name="Удобство для людей">
            <a:extLst xmlns:a="http://schemas.openxmlformats.org/drawingml/2006/main">
              <a:ext uri="{FF2B5EF4-FFF2-40B4-BE49-F238E27FC236}">
                <a16:creationId xmlns:a16="http://schemas.microsoft.com/office/drawing/2014/main" id="{0BFBED22-E2EF-4D19-956F-794D49CC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24225"/>
            <a:ext cx="452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9C9D7"/>
                </a:solidFill>
                <a:latin typeface="Arial"/>
                <a:ea typeface="Arial"/>
                <a:cs typeface="Arial"/>
              </a:rPr>
              <a:t>Удобство для людей</a:t>
            </a:r>
          </a:p>
        </p:txBody>
      </p:sp>
      <p:sp>
        <p:nvSpPr>
          <p:cNvPr id="9" name="Три языка, сохранение ответов, личный план&#10;и понятные о">
            <a:extLst xmlns:a="http://schemas.openxmlformats.org/drawingml/2006/main">
              <a:ext uri="{FF2B5EF4-FFF2-40B4-BE49-F238E27FC236}">
                <a16:creationId xmlns:a16="http://schemas.microsoft.com/office/drawing/2014/main" id="{DA20BE41-DAAA-4C05-9856-B4F68F5D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86125"/>
            <a:ext cx="6191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BE0F0"/>
                </a:solidFill>
                <a:latin typeface="Arial"/>
                <a:ea typeface="Arial"/>
                <a:cs typeface="Arial"/>
              </a:rPr>
              <a:t>Три языка, сохранение ответов, личный план</a:t>
            </a:r>
          </a:p>
          <a:p xmlns:a="http://schemas.openxmlformats.org/drawingml/2006/main">
            <a: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BE0F0"/>
                </a:solidFill>
                <a:latin typeface="Arial"/>
                <a:ea typeface="Arial"/>
                <a:cs typeface="Arial"/>
              </a:rPr>
              <a:t>и понятные основания результата.</a:t>
            </a:r>
          </a:p>
        </p:txBody>
      </p:sp>
      <p:sp>
        <p:nvSpPr>
          <p:cNvPr id="10" name="Проверяемая основа">
            <a:extLst xmlns:a="http://schemas.openxmlformats.org/drawingml/2006/main">
              <a:ext uri="{FF2B5EF4-FFF2-40B4-BE49-F238E27FC236}">
                <a16:creationId xmlns:a16="http://schemas.microsoft.com/office/drawing/2014/main" id="{949E3078-2F19-437E-8C37-E674A885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43375"/>
            <a:ext cx="452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9C9D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9C9D7"/>
                </a:solidFill>
                <a:latin typeface="Arial"/>
                <a:ea typeface="Arial"/>
                <a:cs typeface="Arial"/>
              </a:rPr>
              <a:t>Проверяемая основа</a:t>
            </a:r>
          </a:p>
        </p:txBody>
      </p:sp>
      <p:sp>
        <p:nvSpPr>
          <p:cNvPr id="11" name="Реальные замеры стоимости и повторяемости,&#10;сохранённые ">
            <a:extLst xmlns:a="http://schemas.openxmlformats.org/drawingml/2006/main">
              <a:ext uri="{FF2B5EF4-FFF2-40B4-BE49-F238E27FC236}">
                <a16:creationId xmlns:a16="http://schemas.microsoft.com/office/drawing/2014/main" id="{8026315A-66BA-4E0E-88BE-C999ACA9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6191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BE0F0"/>
                </a:solidFill>
                <a:latin typeface="Arial"/>
                <a:ea typeface="Arial"/>
                <a:cs typeface="Arial"/>
              </a:rPr>
              <a:t>Реальные замеры стоимости и повторяемости,</a:t>
            </a:r>
          </a:p>
          <a:p xmlns:a="http://schemas.openxmlformats.org/drawingml/2006/main">
            <a: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BE0F0"/>
                </a:solidFill>
                <a:latin typeface="Arial"/>
                <a:ea typeface="Arial"/>
                <a:cs typeface="Arial"/>
              </a:rPr>
              <a:t>сохранённые ответы и серверная проверка цитат.</a:t>
            </a:r>
          </a:p>
        </p:txBody>
      </p:sp>
      <p:sp>
        <p:nvSpPr>
          <p:cNvPr id="12" name="Следующий шаг: пилот с сотрудниками и профильными экспе">
            <a:extLst xmlns:a="http://schemas.openxmlformats.org/drawingml/2006/main">
              <a:ext uri="{FF2B5EF4-FFF2-40B4-BE49-F238E27FC236}">
                <a16:creationId xmlns:a16="http://schemas.microsoft.com/office/drawing/2014/main" id="{0FA9CB92-1F95-461B-A8C2-901FD57C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BE0F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BE0F0"/>
                </a:solidFill>
                <a:latin typeface="Arial"/>
                <a:ea typeface="Arial"/>
                <a:cs typeface="Arial"/>
              </a:rPr>
              <a:t>Следующий шаг: пилот с сотрудниками и профильными экспертами</a:t>
            </a:r>
          </a:p>
        </p:txBody>
      </p:sp>
      <p:sp>
        <p:nvSpPr>
          <p:cNvPr id="13" name="Наседкин Максим">
            <a:extLst xmlns:a="http://schemas.openxmlformats.org/drawingml/2006/main">
              <a:ext uri="{FF2B5EF4-FFF2-40B4-BE49-F238E27FC236}">
                <a16:creationId xmlns:a16="http://schemas.microsoft.com/office/drawing/2014/main" id="{9E43CEAC-F04B-4005-9784-CE759A76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3882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Наседкин Максим</a:t>
            </a:r>
          </a:p>
        </p:txBody>
      </p:sp>
      <p:sp>
        <p:nvSpPr>
          <p:cNvPr id="14" name="Чапанов Альберт">
            <a:extLst xmlns:a="http://schemas.openxmlformats.org/drawingml/2006/main">
              <a:ext uri="{FF2B5EF4-FFF2-40B4-BE49-F238E27FC236}">
                <a16:creationId xmlns:a16="http://schemas.microsoft.com/office/drawing/2014/main" id="{96BF2AA5-540E-4BB1-B57B-9FD5376B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83882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Чапанов Альберт</a:t>
            </a:r>
          </a:p>
        </p:txBody>
      </p:sp>
      <p:sp>
        <p:nvSpPr>
          <p:cNvPr id="15" name="Варварюк Андрей">
            <a:extLst xmlns:a="http://schemas.openxmlformats.org/drawingml/2006/main">
              <a:ext uri="{FF2B5EF4-FFF2-40B4-BE49-F238E27FC236}">
                <a16:creationId xmlns:a16="http://schemas.microsoft.com/office/drawing/2014/main" id="{9AB5FEC0-5A66-404A-A060-DDE4B777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83882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Варварюк Андрей</a:t>
            </a:r>
          </a:p>
        </p:txBody>
      </p:sp>
    </p:spTree>
    <p:extLst>
      <p:ext uri="{BB962C8B-B14F-4D97-AF65-F5344CB8AC3E}">
        <p14:creationId xmlns:p14="http://schemas.microsoft.com/office/powerpoint/2010/main" val="15219578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2026-10-20T22:52:48.3230000Z</dcterms:created>
  <dcterms:modified xsi:type="dcterms:W3CDTF">2026-10-20T22:52:48.3230000Z</dcterms:modified>
</coreProperties>
</file>