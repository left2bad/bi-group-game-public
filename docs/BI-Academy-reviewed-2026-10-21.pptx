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Команда указана пользователем. Скриншот действующего интерфейса, снят 21.10.2026 с сохранённым результатом A1 реального запроса к модели. Ответы A1 составлены для тестовой персоны. Источники: README.md; docs/реальные проверки/runs/A1/attempt.json; src/dynamic/DynamicResultsPage.tsx.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Каждая строка связывает потребность с реализованной функцией. Сравнение с конкурентами удалено: исследование конкретных сервисов не проводилось. Источники: README.md; src/dynamic/DynamicAssessmentPage.tsx; src/dynamic/DynamicResultsPage.tsx; src/dynamic/DynamicDevelopmentPage.tsx; src/auth/ManagerTeamsPage.tsx; src/meetings/MeetingPlanner.tsx.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src/auth/ManagerTeamsPage.tsx; src/auth/ManagerEmployeeCard.tsx; src/dynamic/ProgressPanel.tsx; src/features/team/TeamPage.tsx; src/meetings/MeetingPlanner.tsx. Описана практическая полезность реализованных функций, не измеренный экономический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Мобильный скриншот /demo, блок четырёх качеств при ширине 390 пикселей, текущая production-сборка 21.10.2026. Источники: src/i18n; src/dynamic/use-localized-attempt.ts; server/content-translations.ts; src/features/results/ProfileTabs.tsx; README.md, Аккаунты и доступ; docs/реальные проверки/ОТЧЁТ.md, раздел 4а. Переводы могут требовать времени при первом запросе.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обновлённого интерфейса /results?tab=details, сохранённый ответ A1 из реального прохождения тестовой персоны. Источники: docs/реальные проверки/runs/A1/attempt.json; README.md; server/dynamic*.ts; src/dynamic/DynamicAssessmentPage.tsx. Банк расширяется, поэтому точное число вопросов здесь не фиксируется.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/demo?view=route, первый блок маршрута, снят 21.10.2026. Это пример на вымышленных данных, не новый реальный замер ИИ. Источники: src/dynamic/DynamicDevelopmentPage.tsx; src/auth/ManagerEmployeeCard.tsx. Прямой интеграции с BuildEX и BIU нет, запись и прохождение курсов система не отслеживает.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Демонстрационные данные из исходного скриншота progress-demo.png: 78→83,40→52,52→60,75→74. Показаны значения до и после без некорректного обозначения абсолютной разности как относительного процента. Это пример интерфейса сравнения, не данные эксперимента с сотрудниками.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/team/demo, вкладка «Качества сотрудников», текущая production-сборка 21.10.2026. Это вымышленная команда. Источники: src/auth/ManagerTeamsPage.tsx; src/features/team/TeamPage.tsx; src/meetings/MeetingPlanner.tsx. Согласие проверяет сервер, назначение бесед реализовано в рабочих кабинетах.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docs/реальные проверки/ОТЧЁТ.md, разделы 1 и 5; summary.json; A1, R1–R5. Повторяемость четырёх итоговых качеств не означает 100% точность оценки квалификации. Отдельные профессиональные критерии и навыки смещались на один уровень шкалы 0–4. Девять из десяти оценок приняты с первого раза, одна после повторного запроса. Сервер проверяет дословное совпадение цитат с ответами.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docs/реальные проверки/runs/B1/attempt.json; docs/реальные проверки/ОТЧЁТ.md, раздел 2. Скриншоты обновлённого /results?tab=details сняты 21.10.2026 с реальным сохранённым результатом B1. Это один проверочный сценарий, не гарантия выявления всех нарушений и не доказательство снижения аварийности.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docs/реальные проверки/ОТЧЁТ.md, разделы 3, 4, 4а; summary.json. Базовое среднее $0,0166, казахский $0,0201, английский $0,0188. Первый плюс повторный тест с анализом на казахском около $0,044, или 20 ₸ при курсе отчёта 455 ₸/$. Это исторические замеры и оценка только модельных расходов. Перевод добавляет 13–20 секунд ожидания, сохраняется и не повторяется при переключении на уже переведённый язык. 91–112 секунд — базовое ожидание ИИ по четырём полным прохождениям, не общая длительность теста.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Состав команды указан пользователем. Основания преимуществ: реализованные страницы и серверные функции проекта, docs/реальные проверки/ОТЧЁТ.md. Это работающий прототип для пилота. Результаты на тестовых персонах не подтверждают квалификацию реальных сотрудников.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899518-B7C9-49C9-8C0F-511E2A82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CFA970A-5074-4BFF-964E-B0709DD09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DF35106-5F30-48CE-B53C-4EB4BF6B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CF13D8B-052C-44F7-AF90-C7482424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7E9C66A-1583-479F-AFC7-EA8DA4E62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0603B09-C7D3-4B1D-86A1-92CDEFA4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CD5AAF5-8948-4C83-ABA2-6CEE06471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6AB7D92-CE22-41C4-A03A-11C1602684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7BC2A8-8A95-42B1-B10A-3624FEFA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AAC0250-C9C6-4936-96F7-61137F49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ox">
            <a:extLst>
              <a:ext uri="{FF2B5EF4-FFF2-40B4-BE49-F238E27FC236}">
                <a16:creationId xmlns:a16="http://schemas.microsoft.com/office/drawing/2014/main" id="{DF8D5AA8-B5C4-4EDD-BBC1-C8E8C1845B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B4FA7EA-C6B2-4375-B581-909BA4116BDE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4650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0BDDCE31-D319-468F-AD0A-F4A9A674EE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762750" cy="6334125"/>
          </a:xfrm>
          <a:prstGeom prst="rect">
            <a:avLst/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C43F61B-7B1B-40FF-92EC-95CE094BB016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BI ACADEMY">
            <a:extLst>
              <a:ext uri="{FF2B5EF4-FFF2-40B4-BE49-F238E27FC236}">
                <a16:creationId xmlns:a16="http://schemas.microsoft.com/office/drawing/2014/main" id="{13CA8E0D-E562-496E-8181-442DC2C287F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9" name="BI Academy">
            <a:extLst>
              <a:ext uri="{FF2B5EF4-FFF2-40B4-BE49-F238E27FC236}">
                <a16:creationId xmlns:a16="http://schemas.microsoft.com/office/drawing/2014/main" id="{7AF4AF34-53AA-41EC-A3E2-942459C82D7D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572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0" name="Развитие сотрудников под задачи стройки">
            <a:extLst>
              <a:ext uri="{FF2B5EF4-FFF2-40B4-BE49-F238E27FC236}">
                <a16:creationId xmlns:a16="http://schemas.microsoft.com/office/drawing/2014/main" id="{ECB0EC18-453F-4CE4-A2E0-9CE51BC0E767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Развитие сотрудников под задачи стройки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57FA303-4177-405B-9550-A0350DE3A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0904" y="2505075"/>
            <a:ext cx="6689691" cy="3352800"/>
          </a:xfrm>
          <a:prstGeom prst="rect">
            <a:avLst/>
          </a:prstGeom>
        </p:spPr>
      </p:pic>
      <p:sp>
        <p:nvSpPr>
          <p:cNvPr id="22" name="Для бизнеса">
            <a:extLst>
              <a:ext uri="{FF2B5EF4-FFF2-40B4-BE49-F238E27FC236}">
                <a16:creationId xmlns:a16="http://schemas.microsoft.com/office/drawing/2014/main" id="{768CE317-AA3E-4B8A-B6EF-F9B971BF4363}"/>
              </a:ext>
            </a:extLst>
          </p:cNvPr>
          <p:cNvSpPr>
            <a:spLocks noGrp="1"/>
          </p:cNvSpPr>
          <p:nvPr/>
        </p:nvSpPr>
        <p:spPr>
          <a:xfrm>
            <a:off x="8001000" y="26670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Для бизнеса</a:t>
            </a:r>
          </a:p>
        </p:txBody>
      </p:sp>
      <p:sp>
        <p:nvSpPr>
          <p:cNvPr id="23" name="Видно, кому и в чём&#10;нужна поддержка">
            <a:extLst>
              <a:ext uri="{FF2B5EF4-FFF2-40B4-BE49-F238E27FC236}">
                <a16:creationId xmlns:a16="http://schemas.microsoft.com/office/drawing/2014/main" id="{59ED3104-298C-423A-9B3C-55D75002BDF6}"/>
              </a:ext>
            </a:extLst>
          </p:cNvPr>
          <p:cNvSpPr>
            <a:spLocks noGrp="1"/>
          </p:cNvSpPr>
          <p:nvPr/>
        </p:nvSpPr>
        <p:spPr>
          <a:xfrm>
            <a:off x="8001000" y="3219450"/>
            <a:ext cx="3429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Видно, кому и в чём</a:t>
            </a:r>
          </a:p>
          <a:p>
            <a: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нужна поддержка</a:t>
            </a:r>
          </a:p>
        </p:txBody>
      </p:sp>
      <p:sp>
        <p:nvSpPr>
          <p:cNvPr id="24" name="Для сотрудника">
            <a:extLst>
              <a:ext uri="{FF2B5EF4-FFF2-40B4-BE49-F238E27FC236}">
                <a16:creationId xmlns:a16="http://schemas.microsoft.com/office/drawing/2014/main" id="{F89BAA4F-58ED-4C12-8679-81230F742A77}"/>
              </a:ext>
            </a:extLst>
          </p:cNvPr>
          <p:cNvSpPr>
            <a:spLocks noGrp="1"/>
          </p:cNvSpPr>
          <p:nvPr/>
        </p:nvSpPr>
        <p:spPr>
          <a:xfrm>
            <a:off x="8001000" y="421957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Для сотрудника</a:t>
            </a:r>
          </a:p>
        </p:txBody>
      </p:sp>
      <p:sp>
        <p:nvSpPr>
          <p:cNvPr id="25" name="Понятный результат&#10;и план на 30 дней">
            <a:extLst>
              <a:ext uri="{FF2B5EF4-FFF2-40B4-BE49-F238E27FC236}">
                <a16:creationId xmlns:a16="http://schemas.microsoft.com/office/drawing/2014/main" id="{BA37DC92-617E-4C9C-AD17-B2A2895D9B26}"/>
              </a:ext>
            </a:extLst>
          </p:cNvPr>
          <p:cNvSpPr>
            <a:spLocks noGrp="1"/>
          </p:cNvSpPr>
          <p:nvPr/>
        </p:nvSpPr>
        <p:spPr>
          <a:xfrm>
            <a:off x="8001000" y="477202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Понятный результат</a:t>
            </a:r>
          </a:p>
          <a:p>
            <a:pPr>
              <a:buNone/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план на 30 дней</a:t>
            </a:r>
          </a:p>
        </p:txBody>
      </p:sp>
      <p:sp>
        <p:nvSpPr>
          <p:cNvPr id="26" name="Наседкин Максим · Чапанов Альберт · Варварюк Андрей">
            <a:extLst>
              <a:ext uri="{FF2B5EF4-FFF2-40B4-BE49-F238E27FC236}">
                <a16:creationId xmlns:a16="http://schemas.microsoft.com/office/drawing/2014/main" id="{E0A45700-3076-4C53-B48F-27A16C6FB388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Наседкин Максим · Чапанов Альберт · Варварюк Андрей</a:t>
            </a:r>
          </a:p>
        </p:txBody>
      </p:sp>
    </p:spTree>
    <p:extLst>
      <p:ext uri="{BB962C8B-B14F-4D97-AF65-F5344CB8AC3E}">
        <p14:creationId xmlns:p14="http://schemas.microsoft.com/office/powerpoint/2010/main" val="25879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4D89D11-4015-4B52-8C66-9FE1E3A2187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BI ACADEMY">
            <a:extLst>
              <a:ext uri="{FF2B5EF4-FFF2-40B4-BE49-F238E27FC236}">
                <a16:creationId xmlns:a16="http://schemas.microsoft.com/office/drawing/2014/main" id="{E73BEA1E-DB07-4A31-8229-3107C453355B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4" name="Наше конкурентное преимущество">
            <a:extLst>
              <a:ext uri="{FF2B5EF4-FFF2-40B4-BE49-F238E27FC236}">
                <a16:creationId xmlns:a16="http://schemas.microsoft.com/office/drawing/2014/main" id="{1F68121D-D76F-4D3C-A96F-A7F2A31084B9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Оценка и развитие в одном продукте</a:t>
            </a:r>
          </a:p>
        </p:txBody>
      </p:sp>
      <p:sp>
        <p:nvSpPr>
          <p:cNvPr id="5" name="Оценка, практика и работа руководителя связаны в одном ">
            <a:extLst>
              <a:ext uri="{FF2B5EF4-FFF2-40B4-BE49-F238E27FC236}">
                <a16:creationId xmlns:a16="http://schemas.microsoft.com/office/drawing/2014/main" id="{C96F4287-DA17-49CB-BE17-6FF3EE88DAA7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Каждая потребность связана с конкретной функцией BI Academy</a:t>
            </a:r>
          </a:p>
        </p:txBody>
      </p:sp>
      <p:sp>
        <p:nvSpPr>
          <p:cNvPr id="7" name="Сравнение базовых форматов использования, а не исследов">
            <a:extLst>
              <a:ext uri="{FF2B5EF4-FFF2-40B4-BE49-F238E27FC236}">
                <a16:creationId xmlns:a16="http://schemas.microsoft.com/office/drawing/2014/main" id="{C6CEAC1F-2077-45B9-85A1-04818772A2E0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Далее показываем эти функции на экранах работающего продукта.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F7867EF-7CC9-4C78-91EE-C1AF691E02E9}"/>
              </a:ext>
            </a:extLst>
          </p:cNvPr>
          <p:cNvGraphicFramePr/>
          <p:nvPr/>
        </p:nvGraphicFramePr>
        <p:xfrm>
          <a:off x="571500" y="2457450"/>
          <a:ext cx="11049000" cy="333375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нужно пользователю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помогает BI Academy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Пройти тест по своей работе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Подбирает ситуации по должности.</a:t>
                      </a:r>
                    </a:p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Учитывает предыдущие ответы.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Понять свою оценку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Объясняет результат</a:t>
                      </a:r>
                    </a:p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и приводит цитаты из ответов.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Понять, что делать дальше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Даёт план на 30 дней</a:t>
                      </a:r>
                    </a:p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с заданиями и критериями выполнения.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Руководителю: кому нужна помощь?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Показывает результаты команды.</a:t>
                      </a:r>
                    </a:p>
                    <a:p>
                      <a:r>
                        <a:rPr sz="172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открыть профиль и назначить беседу.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04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x">
            <a:extLst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BI ACADEMY">
            <a:extLst>
              <a:ext uri="{FF2B5EF4-FFF2-40B4-BE49-F238E27FC236}">
                <a16:creationId xmlns:a16="http://schemas.microsoft.com/office/drawing/2014/main" id="{4E15F15E-2B5A-41DD-A882-998EC49AC810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Польза для бизнеса">
            <a:extLst>
              <a:ext uri="{FF2B5EF4-FFF2-40B4-BE49-F238E27FC236}">
                <a16:creationId xmlns:a16="http://schemas.microsoft.com/office/drawing/2014/main" id="{B8E13F44-D412-44C3-8CC3-6065FE029207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Польза для бизнеса</a:t>
            </a:r>
          </a:p>
        </p:txBody>
      </p:sp>
      <p:sp>
        <p:nvSpPr>
          <p:cNvPr id="28" name="Руководитель получает данные и инструменты для адресной">
            <a:extLst>
              <a:ext uri="{FF2B5EF4-FFF2-40B4-BE49-F238E27FC236}">
                <a16:creationId xmlns:a16="http://schemas.microsoft.com/office/drawing/2014/main" id="{63FD4504-4C33-460B-8D99-E44FBDF4F2BF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Руководитель видит результаты команды и помогает каждому с развитием</a:t>
            </a:r>
          </a:p>
        </p:txBody>
      </p:sp>
      <p:sp>
        <p:nvSpPr>
          <p:cNvPr id="29" name="Приоритеты обучения">
            <a:extLst>
              <a:ext uri="{FF2B5EF4-FFF2-40B4-BE49-F238E27FC236}">
                <a16:creationId xmlns:a16="http://schemas.microsoft.com/office/drawing/2014/main" id="{933C0927-E8D5-439B-89B8-A5CFF19E08E5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Темы для обучения</a:t>
            </a:r>
          </a:p>
        </p:txBody>
      </p:sp>
      <p:sp>
        <p:nvSpPr>
          <p:cNvPr id="30" name="Сводка команды и зоны роста показывают,&#10;какие темы стои">
            <a:extLst>
              <a:ext uri="{FF2B5EF4-FFF2-40B4-BE49-F238E27FC236}">
                <a16:creationId xmlns:a16="http://schemas.microsoft.com/office/drawing/2014/main" id="{4DC8D555-D29D-4AF6-8E3B-6FBB32D47264}"/>
              </a:ext>
            </a:extLst>
          </p:cNvPr>
          <p:cNvSpPr>
            <a:spLocks noGrp="1"/>
          </p:cNvSpPr>
          <p:nvPr/>
        </p:nvSpPr>
        <p:spPr>
          <a:xfrm>
            <a:off x="4619625" y="2533650"/>
            <a:ext cx="7000875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Сводка команды и зоны роста показывают,</a:t>
            </a:r>
          </a:p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какие темы стоит обсудить с сотрудниками.</a:t>
            </a:r>
          </a:p>
        </p:txBody>
      </p:sp>
      <p:sp>
        <p:nvSpPr>
          <p:cNvPr id="31" name="Сопровождение развития">
            <a:extLst>
              <a:ext uri="{FF2B5EF4-FFF2-40B4-BE49-F238E27FC236}">
                <a16:creationId xmlns:a16="http://schemas.microsoft.com/office/drawing/2014/main" id="{01B8D364-4531-4128-AB86-D44B0AF66287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Выполнение плана</a:t>
            </a:r>
          </a:p>
        </p:txBody>
      </p:sp>
      <p:sp>
        <p:nvSpPr>
          <p:cNvPr id="32" name="Практики на 30 дней, отметки выполнения&#10;и комментарии р">
            <a:extLst>
              <a:ext uri="{FF2B5EF4-FFF2-40B4-BE49-F238E27FC236}">
                <a16:creationId xmlns:a16="http://schemas.microsoft.com/office/drawing/2014/main" id="{24A2A285-FAF4-4CB6-ACCE-146335AF8D24}"/>
              </a:ext>
            </a:extLst>
          </p:cNvPr>
          <p:cNvSpPr>
            <a:spLocks noGrp="1"/>
          </p:cNvSpPr>
          <p:nvPr/>
        </p:nvSpPr>
        <p:spPr>
          <a:xfrm>
            <a:off x="4619625" y="3314700"/>
            <a:ext cx="7000875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Практики на 30 дней, отметки выполнения</a:t>
            </a:r>
          </a:p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 комментарии руководителя в одном месте.</a:t>
            </a:r>
          </a:p>
        </p:txBody>
      </p:sp>
      <p:sp>
        <p:nvSpPr>
          <p:cNvPr id="33" name="Предметный разговор">
            <a:extLst>
              <a:ext uri="{FF2B5EF4-FFF2-40B4-BE49-F238E27FC236}">
                <a16:creationId xmlns:a16="http://schemas.microsoft.com/office/drawing/2014/main" id="{EB016215-50D9-4529-B189-FCBE01AC7A6A}"/>
              </a:ext>
            </a:extLst>
          </p:cNvPr>
          <p:cNvSpPr>
            <a:spLocks noGrp="1"/>
          </p:cNvSpPr>
          <p:nvPr/>
        </p:nvSpPr>
        <p:spPr>
          <a:xfrm>
            <a:off x="571500" y="411480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Беседа с сотрудником</a:t>
            </a:r>
          </a:p>
        </p:txBody>
      </p:sp>
      <p:sp>
        <p:nvSpPr>
          <p:cNvPr id="34" name="Профиль, ответы и назначение беседы&#10;помогают обсудить к">
            <a:extLst>
              <a:ext uri="{FF2B5EF4-FFF2-40B4-BE49-F238E27FC236}">
                <a16:creationId xmlns:a16="http://schemas.microsoft.com/office/drawing/2014/main" id="{ADBE1867-A4ED-4EDB-B13C-07C5C7EFDEB2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7000875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Можно открыть ответы сотрудника</a:t>
            </a:r>
          </a:p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 назначить беседу по результатам теста.</a:t>
            </a:r>
          </a:p>
        </p:txBody>
      </p:sp>
      <p:sp>
        <p:nvSpPr>
          <p:cNvPr id="35" name="Контроль изменений">
            <a:extLst>
              <a:ext uri="{FF2B5EF4-FFF2-40B4-BE49-F238E27FC236}">
                <a16:creationId xmlns:a16="http://schemas.microsoft.com/office/drawing/2014/main" id="{5AAA676A-E396-4896-B0C3-781D78F3F23A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Повторная оценка</a:t>
            </a:r>
          </a:p>
        </p:txBody>
      </p:sp>
      <p:sp>
        <p:nvSpPr>
          <p:cNvPr id="36" name="Повторный тест показывает динамику качеств&#10;и навыков, И">
            <a:extLst>
              <a:ext uri="{FF2B5EF4-FFF2-40B4-BE49-F238E27FC236}">
                <a16:creationId xmlns:a16="http://schemas.microsoft.com/office/drawing/2014/main" id="{453217C3-C5B5-4AF6-AC61-12EBAFFA383E}"/>
              </a:ext>
            </a:extLst>
          </p:cNvPr>
          <p:cNvSpPr>
            <a:spLocks noGrp="1"/>
          </p:cNvSpPr>
          <p:nvPr/>
        </p:nvSpPr>
        <p:spPr>
          <a:xfrm>
            <a:off x="4619625" y="4876800"/>
            <a:ext cx="7000875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Система сравнивает оценки и ответы</a:t>
            </a:r>
          </a:p>
          <a:p>
            <a:pPr>
              <a:buNone/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в первом и повторном прохождениях.</a:t>
            </a:r>
          </a:p>
        </p:txBody>
      </p:sp>
      <p:sp>
        <p:nvSpPr>
          <p:cNvPr id="37" name="Функции реализованы. Влияние на производительность и за">
            <a:extLst>
              <a:ext uri="{FF2B5EF4-FFF2-40B4-BE49-F238E27FC236}">
                <a16:creationId xmlns:a16="http://schemas.microsoft.com/office/drawing/2014/main" id="{3897DE32-F229-4A45-AFA9-01F58D09EB1E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Влияние на работу сотрудников и затраты компании предстоит проверить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x">
            <a:extLst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BI ACADEMY">
            <a:extLst>
              <a:ext uri="{FF2B5EF4-FFF2-40B4-BE49-F238E27FC236}">
                <a16:creationId xmlns:a16="http://schemas.microsoft.com/office/drawing/2014/main" id="{5A324A96-8D7A-490D-AF7A-A7C57ACC6D36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Удобно сотруднику">
            <a:extLst>
              <a:ext uri="{FF2B5EF4-FFF2-40B4-BE49-F238E27FC236}">
                <a16:creationId xmlns:a16="http://schemas.microsoft.com/office/drawing/2014/main" id="{F0E6FCE5-FA30-41BB-8F2C-641C2BCCB555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Удобно сотруднику</a:t>
            </a:r>
          </a:p>
        </p:txBody>
      </p:sp>
      <p:sp>
        <p:nvSpPr>
          <p:cNvPr id="28" name="Понятные шаги, сохранённые ответы и контроль доступа к ">
            <a:extLst>
              <a:ext uri="{FF2B5EF4-FFF2-40B4-BE49-F238E27FC236}">
                <a16:creationId xmlns:a16="http://schemas.microsoft.com/office/drawing/2014/main" id="{BB4FFA68-7FB6-458E-83C8-38A1FDC5A7B1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Три языка, сохранённые ответы и доступ руководителя по согласию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280AF25-F91E-4345-AD1B-00B071B38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2290" y="2352675"/>
            <a:ext cx="2132044" cy="3533775"/>
          </a:xfrm>
          <a:prstGeom prst="rect">
            <a:avLst/>
          </a:prstGeom>
        </p:spPr>
      </p:pic>
      <p:sp>
        <p:nvSpPr>
          <p:cNvPr id="30" name="RU · ҚАЗ · EN">
            <a:extLst>
              <a:ext uri="{FF2B5EF4-FFF2-40B4-BE49-F238E27FC236}">
                <a16:creationId xmlns:a16="http://schemas.microsoft.com/office/drawing/2014/main" id="{E50EA29F-5021-4E4F-9BCF-5E45158AEEB0}"/>
              </a:ext>
            </a:extLst>
          </p:cNvPr>
          <p:cNvSpPr>
            <a:spLocks noGrp="1"/>
          </p:cNvSpPr>
          <p:nvPr/>
        </p:nvSpPr>
        <p:spPr>
          <a:xfrm>
            <a:off x="3333750" y="2352675"/>
            <a:ext cx="814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RU · ҚАЗ · EN</a:t>
            </a:r>
          </a:p>
        </p:txBody>
      </p:sp>
      <p:sp>
        <p:nvSpPr>
          <p:cNvPr id="31" name="Интерфейс и материалы новой оценки&#10;доступны на трёх язы">
            <a:extLst>
              <a:ext uri="{FF2B5EF4-FFF2-40B4-BE49-F238E27FC236}">
                <a16:creationId xmlns:a16="http://schemas.microsoft.com/office/drawing/2014/main" id="{762B7395-B718-4249-BBC7-FE0944E9B822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8143875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Интерфейс и материалы новой оценки</a:t>
            </a:r>
          </a:p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доступны на трёх языках.</a:t>
            </a:r>
          </a:p>
        </p:txBody>
      </p:sp>
      <p:sp>
        <p:nvSpPr>
          <p:cNvPr id="32" name="Можно продолжить позже">
            <a:extLst>
              <a:ext uri="{FF2B5EF4-FFF2-40B4-BE49-F238E27FC236}">
                <a16:creationId xmlns:a16="http://schemas.microsoft.com/office/drawing/2014/main" id="{1BF56DC5-2E80-4F4C-A733-860DEA9EAA79}"/>
              </a:ext>
            </a:extLst>
          </p:cNvPr>
          <p:cNvSpPr>
            <a:spLocks noGrp="1"/>
          </p:cNvSpPr>
          <p:nvPr/>
        </p:nvSpPr>
        <p:spPr>
          <a:xfrm>
            <a:off x="3333750" y="3248025"/>
            <a:ext cx="814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Можно продолжить позже</a:t>
            </a:r>
          </a:p>
        </p:txBody>
      </p:sp>
      <p:sp>
        <p:nvSpPr>
          <p:cNvPr id="33" name="Сервер сохраняет ответы и черновик,&#10;после сбоя прохожде">
            <a:extLst>
              <a:ext uri="{FF2B5EF4-FFF2-40B4-BE49-F238E27FC236}">
                <a16:creationId xmlns:a16="http://schemas.microsoft.com/office/drawing/2014/main" id="{7DD2F8C9-4730-47EE-A295-C0A3B330EBD9}"/>
              </a:ext>
            </a:extLst>
          </p:cNvPr>
          <p:cNvSpPr>
            <a:spLocks noGrp="1"/>
          </p:cNvSpPr>
          <p:nvPr/>
        </p:nvSpPr>
        <p:spPr>
          <a:xfrm>
            <a:off x="3333750" y="3581400"/>
            <a:ext cx="8143875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Ответы и черновик сохраняются.</a:t>
            </a:r>
          </a:p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Тест можно продолжить позже.</a:t>
            </a:r>
          </a:p>
        </p:txBody>
      </p:sp>
      <p:sp>
        <p:nvSpPr>
          <p:cNvPr id="34" name="Результат легко разобрать">
            <a:extLst>
              <a:ext uri="{FF2B5EF4-FFF2-40B4-BE49-F238E27FC236}">
                <a16:creationId xmlns:a16="http://schemas.microsoft.com/office/drawing/2014/main" id="{819C53BF-1E1C-4496-A97F-1215844155C9}"/>
              </a:ext>
            </a:extLst>
          </p:cNvPr>
          <p:cNvSpPr>
            <a:spLocks noGrp="1"/>
          </p:cNvSpPr>
          <p:nvPr/>
        </p:nvSpPr>
        <p:spPr>
          <a:xfrm>
            <a:off x="3333750" y="4143375"/>
            <a:ext cx="814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Оценка с объяснением</a:t>
            </a:r>
          </a:p>
        </p:txBody>
      </p:sp>
      <p:sp>
        <p:nvSpPr>
          <p:cNvPr id="35" name="Обзор, подробные основания и прогресс&#10;разнесены по поня">
            <a:extLst>
              <a:ext uri="{FF2B5EF4-FFF2-40B4-BE49-F238E27FC236}">
                <a16:creationId xmlns:a16="http://schemas.microsoft.com/office/drawing/2014/main" id="{03469EDA-2B2E-4E26-B065-2405F5D97BC5}"/>
              </a:ext>
            </a:extLst>
          </p:cNvPr>
          <p:cNvSpPr>
            <a:spLocks noGrp="1"/>
          </p:cNvSpPr>
          <p:nvPr/>
        </p:nvSpPr>
        <p:spPr>
          <a:xfrm>
            <a:off x="3333750" y="4476750"/>
            <a:ext cx="8143875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Можно посмотреть итоговые проценты</a:t>
            </a:r>
          </a:p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 объяснение оценки по своим ответам.</a:t>
            </a:r>
          </a:p>
        </p:txBody>
      </p:sp>
      <p:sp>
        <p:nvSpPr>
          <p:cNvPr id="36" name="Есть личный контроль">
            <a:extLst>
              <a:ext uri="{FF2B5EF4-FFF2-40B4-BE49-F238E27FC236}">
                <a16:creationId xmlns:a16="http://schemas.microsoft.com/office/drawing/2014/main" id="{7A0EC3EF-9D52-4170-97A4-021EF66AC852}"/>
              </a:ext>
            </a:extLst>
          </p:cNvPr>
          <p:cNvSpPr>
            <a:spLocks noGrp="1"/>
          </p:cNvSpPr>
          <p:nvPr/>
        </p:nvSpPr>
        <p:spPr>
          <a:xfrm>
            <a:off x="3333750" y="5038725"/>
            <a:ext cx="81438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Доступ по согласию</a:t>
            </a:r>
          </a:p>
        </p:txBody>
      </p:sp>
      <p:sp>
        <p:nvSpPr>
          <p:cNvPr id="37" name="Сотрудник даёт согласие на доступ&#10;руководителя и отмеча">
            <a:extLst>
              <a:ext uri="{FF2B5EF4-FFF2-40B4-BE49-F238E27FC236}">
                <a16:creationId xmlns:a16="http://schemas.microsoft.com/office/drawing/2014/main" id="{05058F3A-1163-443B-8DBE-A44E541B6F2F}"/>
              </a:ext>
            </a:extLst>
          </p:cNvPr>
          <p:cNvSpPr>
            <a:spLocks noGrp="1"/>
          </p:cNvSpPr>
          <p:nvPr/>
        </p:nvSpPr>
        <p:spPr>
          <a:xfrm>
            <a:off x="3333750" y="5372100"/>
            <a:ext cx="8143875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Руководитель получает доступ к результату</a:t>
            </a:r>
          </a:p>
          <a:p>
            <a:pPr>
              <a:buNone/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после согласия сотрудника.</a:t>
            </a:r>
          </a:p>
        </p:txBody>
      </p:sp>
      <p:sp>
        <p:nvSpPr>
          <p:cNvPr id="38" name="Актуальный мобильный экран. Локализация сгенерированных">
            <a:extLst>
              <a:ext uri="{FF2B5EF4-FFF2-40B4-BE49-F238E27FC236}">
                <a16:creationId xmlns:a16="http://schemas.microsoft.com/office/drawing/2014/main" id="{23044023-64FD-4076-A9F6-305D535F40FB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Пример результата на экране телефона. Демонстрационные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x">
            <a:extLst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BI ACADEMY">
            <a:extLst>
              <a:ext uri="{FF2B5EF4-FFF2-40B4-BE49-F238E27FC236}">
                <a16:creationId xmlns:a16="http://schemas.microsoft.com/office/drawing/2014/main" id="{D2C04B0C-F3FD-4E08-A63E-1C0F6559A052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Адаптивный тест на рабочих ситуациях">
            <a:extLst>
              <a:ext uri="{FF2B5EF4-FFF2-40B4-BE49-F238E27FC236}">
                <a16:creationId xmlns:a16="http://schemas.microsoft.com/office/drawing/2014/main" id="{D7E710A2-9971-468E-B70C-229E8E78A47D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Адаптивный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тест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на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рабочих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ситуациях</a:t>
            </a:r>
            <a:endParaRPr sz="3450" b="1" dirty="0">
              <a:solidFill>
                <a:srgbClr val="162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10 ситуаций с выбором ответа и 5 последовательных откры">
            <a:extLst>
              <a:ext uri="{FF2B5EF4-FFF2-40B4-BE49-F238E27FC236}">
                <a16:creationId xmlns:a16="http://schemas.microsoft.com/office/drawing/2014/main" id="{C0FA1D79-4F8B-4870-8962-39961BBE3049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10 ситуаций с выбором ответа и 5 последовательных открытых вопросов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F587506-0064-428F-B40C-6B8575206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430599"/>
            <a:ext cx="11049000" cy="2415902"/>
          </a:xfrm>
          <a:prstGeom prst="rect">
            <a:avLst/>
          </a:prstGeom>
        </p:spPr>
      </p:pic>
      <p:sp>
        <p:nvSpPr>
          <p:cNvPr id="30" name="Ситуации по должности">
            <a:extLst>
              <a:ext uri="{FF2B5EF4-FFF2-40B4-BE49-F238E27FC236}">
                <a16:creationId xmlns:a16="http://schemas.microsoft.com/office/drawing/2014/main" id="{B5E6CF33-0283-4C1F-916A-648BAC3D19CB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56673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Ситуации по должности</a:t>
            </a:r>
          </a:p>
        </p:txBody>
      </p:sp>
      <p:sp>
        <p:nvSpPr>
          <p:cNvPr id="31" name="Открытые вопросы учитывают&#10;предыдущие ответы сотрудника">
            <a:extLst>
              <a:ext uri="{FF2B5EF4-FFF2-40B4-BE49-F238E27FC236}">
                <a16:creationId xmlns:a16="http://schemas.microsoft.com/office/drawing/2014/main" id="{E7826FA5-0B5E-4C1D-9E98-3DAA3FC8FEFA}"/>
              </a:ext>
            </a:extLst>
          </p:cNvPr>
          <p:cNvSpPr>
            <a:spLocks noGrp="1"/>
          </p:cNvSpPr>
          <p:nvPr/>
        </p:nvSpPr>
        <p:spPr>
          <a:xfrm>
            <a:off x="571500" y="5534025"/>
            <a:ext cx="5953125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Открытые вопросы учитывают</a:t>
            </a:r>
          </a:p>
          <a:p>
            <a:pPr>
              <a:buNone/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предыдущие ответы сотрудника.</a:t>
            </a:r>
          </a:p>
        </p:txBody>
      </p:sp>
      <p:sp>
        <p:nvSpPr>
          <p:cNvPr id="32" name="«Я так 20 лет делаю»&#10;тоже придётся объяснить.">
            <a:extLst>
              <a:ext uri="{FF2B5EF4-FFF2-40B4-BE49-F238E27FC236}">
                <a16:creationId xmlns:a16="http://schemas.microsoft.com/office/drawing/2014/main" id="{83F44595-5A1B-4F34-A59D-34F28B5005F3}"/>
              </a:ext>
            </a:extLst>
          </p:cNvPr>
          <p:cNvSpPr>
            <a:spLocks noGrp="1"/>
          </p:cNvSpPr>
          <p:nvPr/>
        </p:nvSpPr>
        <p:spPr>
          <a:xfrm>
            <a:off x="7239000" y="5172075"/>
            <a:ext cx="4381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«Я так 20 лет делаю»</a:t>
            </a:r>
          </a:p>
          <a:p>
            <a: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тоже придётся объяснить.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ox">
            <a:extLst>
              <a:ext uri="{FF2B5EF4-FFF2-40B4-BE49-F238E27FC236}">
                <a16:creationId xmlns:a16="http://schemas.microsoft.com/office/drawing/2014/main" id="{5841C21E-A373-415E-8BCB-9BCD6EFA6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D1D850E-7E81-4F61-8DF5-1431EF4C2A47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9EB79EA-F566-4B34-915C-7E89B5A716E2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BI ACADEMY">
            <a:extLst>
              <a:ext uri="{FF2B5EF4-FFF2-40B4-BE49-F238E27FC236}">
                <a16:creationId xmlns:a16="http://schemas.microsoft.com/office/drawing/2014/main" id="{2E4103ED-8960-434B-B4E2-6222D675B82F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39" name="Персональный маршрут на 30 дней">
            <a:extLst>
              <a:ext uri="{FF2B5EF4-FFF2-40B4-BE49-F238E27FC236}">
                <a16:creationId xmlns:a16="http://schemas.microsoft.com/office/drawing/2014/main" id="{673A6B6A-CB6F-4191-A577-ED661F7743B1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Персональный план на 30 дней</a:t>
            </a:r>
          </a:p>
        </p:txBody>
      </p:sp>
      <p:sp>
        <p:nvSpPr>
          <p:cNvPr id="40" name="Сотрудник получает конкретную практику с проверяемым ре">
            <a:extLst>
              <a:ext uri="{FF2B5EF4-FFF2-40B4-BE49-F238E27FC236}">
                <a16:creationId xmlns:a16="http://schemas.microsoft.com/office/drawing/2014/main" id="{7FA3577D-4C7F-44AE-9AB4-D3CC84E64F7A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Для каждого задания указано, что сделать и как проверить выполнение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B969CF4-E1CA-4806-9EF3-F6E7E528F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6616" y="2409825"/>
            <a:ext cx="10898768" cy="2952750"/>
          </a:xfrm>
          <a:prstGeom prst="rect">
            <a:avLst/>
          </a:prstGeom>
        </p:spPr>
      </p:pic>
      <p:sp>
        <p:nvSpPr>
          <p:cNvPr id="42" name="Четыре недели практики">
            <a:extLst>
              <a:ext uri="{FF2B5EF4-FFF2-40B4-BE49-F238E27FC236}">
                <a16:creationId xmlns:a16="http://schemas.microsoft.com/office/drawing/2014/main" id="{15B5FE4B-C009-4831-8AF5-F3A35BAC50C5}"/>
              </a:ext>
            </a:extLst>
          </p:cNvPr>
          <p:cNvSpPr>
            <a:spLocks noGrp="1"/>
          </p:cNvSpPr>
          <p:nvPr/>
        </p:nvSpPr>
        <p:spPr>
          <a:xfrm>
            <a:off x="571500" y="5495925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Четыре недели практики</a:t>
            </a:r>
          </a:p>
        </p:txBody>
      </p:sp>
      <p:sp>
        <p:nvSpPr>
          <p:cNvPr id="43" name="Отметки и комментарии руководителя">
            <a:extLst>
              <a:ext uri="{FF2B5EF4-FFF2-40B4-BE49-F238E27FC236}">
                <a16:creationId xmlns:a16="http://schemas.microsoft.com/office/drawing/2014/main" id="{677F7D6B-0484-4C5E-9100-C979BA67D4E1}"/>
              </a:ext>
            </a:extLst>
          </p:cNvPr>
          <p:cNvSpPr>
            <a:spLocks noGrp="1"/>
          </p:cNvSpPr>
          <p:nvPr/>
        </p:nvSpPr>
        <p:spPr>
          <a:xfrm>
            <a:off x="6238875" y="5495925"/>
            <a:ext cx="5381625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Отметки и комментарии руководителя</a:t>
            </a:r>
          </a:p>
        </p:txBody>
      </p:sp>
      <p:sp>
        <p:nvSpPr>
          <p:cNvPr id="44" name="Действующий экран на вымышленных данных. BuildEX и BIU ">
            <a:extLst>
              <a:ext uri="{FF2B5EF4-FFF2-40B4-BE49-F238E27FC236}">
                <a16:creationId xmlns:a16="http://schemas.microsoft.com/office/drawing/2014/main" id="{2199BFA7-C7FA-4324-980A-1F81BEE178AE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Пример задания из плана. Данные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2795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x">
            <a:extLst>
              <a:ext uri="{FF2B5EF4-FFF2-40B4-BE49-F238E27FC236}">
                <a16:creationId xmlns:a16="http://schemas.microsoft.com/office/drawing/2014/main" id="{F33E95E2-B37F-1FBF-8DE7-F2A9CCAE3D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F48383F-597A-AB74-F80E-3106ED609E73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B0DF3E-1D0E-4C8C-BB98-F5256A052FEF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BI ACADEMY">
            <a:extLst>
              <a:ext uri="{FF2B5EF4-FFF2-40B4-BE49-F238E27FC236}">
                <a16:creationId xmlns:a16="http://schemas.microsoft.com/office/drawing/2014/main" id="{CE7F6122-1126-4C4E-B492-A9DF1AD7CD82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0" name="Прогресс виден после повторной оценки">
            <a:extLst>
              <a:ext uri="{FF2B5EF4-FFF2-40B4-BE49-F238E27FC236}">
                <a16:creationId xmlns:a16="http://schemas.microsoft.com/office/drawing/2014/main" id="{ED7EA385-A25F-4C0E-BB29-036AF4A542F3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Что изменилось после повторного теста</a:t>
            </a:r>
          </a:p>
        </p:txBody>
      </p:sp>
      <p:sp>
        <p:nvSpPr>
          <p:cNvPr id="11" name="Первое прохождение остаётся точкой отсчёта для последую">
            <a:extLst>
              <a:ext uri="{FF2B5EF4-FFF2-40B4-BE49-F238E27FC236}">
                <a16:creationId xmlns:a16="http://schemas.microsoft.com/office/drawing/2014/main" id="{04436C71-93AF-4F72-892A-92C2671E5CCE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Первый и повторный результаты рядом: видно, какие оценки изменились</a:t>
            </a:r>
          </a:p>
        </p:txBody>
      </p:sp>
      <p:sp>
        <p:nvSpPr>
          <p:cNvPr id="13" name="Демонстрационные данные. Изменение процентов само по се">
            <a:extLst>
              <a:ext uri="{FF2B5EF4-FFF2-40B4-BE49-F238E27FC236}">
                <a16:creationId xmlns:a16="http://schemas.microsoft.com/office/drawing/2014/main" id="{714C1C2E-B216-4581-BF9B-E82CCCBF314C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Пример из деморежима. Изменение оценки ещё не доказывает улучшение работы сотрудника.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5FC45A88-BC6C-4B5F-A454-8DBE580601A3}"/>
              </a:ext>
            </a:extLst>
          </p:cNvPr>
          <p:cNvGraphicFramePr/>
          <p:nvPr/>
        </p:nvGraphicFramePr>
        <p:xfrm>
          <a:off x="571500" y="2457450"/>
          <a:ext cx="11049000" cy="314325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Качество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Первый тест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тест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 мышление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78%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83%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Уверенность в себе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Дисциплина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Вовлечённость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75%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41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">
            <a:extLst>
              <a:ext uri="{FF2B5EF4-FFF2-40B4-BE49-F238E27FC236}">
                <a16:creationId xmlns:a16="http://schemas.microsoft.com/office/drawing/2014/main" id="{BDF98732-3F4F-A99C-8AD9-1B9DA8830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EBB7942-4C28-6BDA-5215-CFD5A5E9C492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56F96C3-704B-43FE-8735-E6E933C28B6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BI ACADEMY">
            <a:extLst>
              <a:ext uri="{FF2B5EF4-FFF2-40B4-BE49-F238E27FC236}">
                <a16:creationId xmlns:a16="http://schemas.microsoft.com/office/drawing/2014/main" id="{59DDB6D6-629B-4034-A515-7E771D642893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8" name="Кабинет руководителя для всей команды">
            <a:extLst>
              <a:ext uri="{FF2B5EF4-FFF2-40B4-BE49-F238E27FC236}">
                <a16:creationId xmlns:a16="http://schemas.microsoft.com/office/drawing/2014/main" id="{885860E5-F429-4A41-97FD-6893EEB883CB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Кабинет руководителя для всей команды</a:t>
            </a:r>
          </a:p>
        </p:txBody>
      </p:sp>
      <p:sp>
        <p:nvSpPr>
          <p:cNvPr id="9" name="Тепловая карта, профили сотрудников и назначение бесед ">
            <a:extLst>
              <a:ext uri="{FF2B5EF4-FFF2-40B4-BE49-F238E27FC236}">
                <a16:creationId xmlns:a16="http://schemas.microsoft.com/office/drawing/2014/main" id="{90E2042E-A8D0-44A9-9B8A-FBD395E16AA3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Результаты команды, профили сотрудников и назначение бесед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279C40-3BF6-4EBF-B065-CA54FFB9F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1288" y="2409825"/>
            <a:ext cx="8589425" cy="3209925"/>
          </a:xfrm>
          <a:prstGeom prst="rect">
            <a:avLst/>
          </a:prstGeom>
        </p:spPr>
      </p:pic>
      <p:sp>
        <p:nvSpPr>
          <p:cNvPr id="11" name="Руководитель видит результаты после согласия сотрудника">
            <a:extLst>
              <a:ext uri="{FF2B5EF4-FFF2-40B4-BE49-F238E27FC236}">
                <a16:creationId xmlns:a16="http://schemas.microsoft.com/office/drawing/2014/main" id="{A9143FB5-19E9-4FA3-97C4-33835979B806}"/>
              </a:ext>
            </a:extLst>
          </p:cNvPr>
          <p:cNvSpPr>
            <a:spLocks noGrp="1"/>
          </p:cNvSpPr>
          <p:nvPr/>
        </p:nvSpPr>
        <p:spPr>
          <a:xfrm>
            <a:off x="571500" y="5667375"/>
            <a:ext cx="1104900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Руководитель видит результаты после согласия сотрудника</a:t>
            </a:r>
          </a:p>
        </p:txBody>
      </p:sp>
      <p:sp>
        <p:nvSpPr>
          <p:cNvPr id="12" name="Актуальный экран кабинета руководителя. Люди и результа">
            <a:extLst>
              <a:ext uri="{FF2B5EF4-FFF2-40B4-BE49-F238E27FC236}">
                <a16:creationId xmlns:a16="http://schemas.microsoft.com/office/drawing/2014/main" id="{A0F3F750-8A30-40EE-A0C5-B59C05836ACF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Актуальный экран кабинета руководителя. Люди и результаты демокоманды вымышленные.</a:t>
            </a:r>
          </a:p>
        </p:txBody>
      </p:sp>
    </p:spTree>
    <p:extLst>
      <p:ext uri="{BB962C8B-B14F-4D97-AF65-F5344CB8AC3E}">
        <p14:creationId xmlns:p14="http://schemas.microsoft.com/office/powerpoint/2010/main" val="108364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x">
            <a:extLst>
              <a:ext uri="{FF2B5EF4-FFF2-40B4-BE49-F238E27FC236}">
                <a16:creationId xmlns:a16="http://schemas.microsoft.com/office/drawing/2014/main" id="{909B36E2-CD61-29E0-1290-3D2B45A4D8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654E37C-518F-83A0-6FCF-54A5AB0BD379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D77547-35B2-4C27-9E21-8D9C654160A8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BI ACADEMY">
            <a:extLst>
              <a:ext uri="{FF2B5EF4-FFF2-40B4-BE49-F238E27FC236}">
                <a16:creationId xmlns:a16="http://schemas.microsoft.com/office/drawing/2014/main" id="{92E077CB-F231-48F3-A44D-E00AE2C0751B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0" name="Результат опирается на проверяемую методику">
            <a:extLst>
              <a:ext uri="{FF2B5EF4-FFF2-40B4-BE49-F238E27FC236}">
                <a16:creationId xmlns:a16="http://schemas.microsoft.com/office/drawing/2014/main" id="{9592EB2E-8B02-41CB-A88E-36C6A611B538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Проверили повторяемость оценки</a:t>
            </a:r>
          </a:p>
        </p:txBody>
      </p:sp>
      <p:sp>
        <p:nvSpPr>
          <p:cNvPr id="11" name="Одни и те же 15 ответов оценены шесть раз реальными зап">
            <a:extLst>
              <a:ext uri="{FF2B5EF4-FFF2-40B4-BE49-F238E27FC236}">
                <a16:creationId xmlns:a16="http://schemas.microsoft.com/office/drawing/2014/main" id="{DE8F298E-4F9A-4818-B019-3C6F8F363E25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Шесть раз оценили один и тот же набор из 15 ответов тестовой персоны</a:t>
            </a:r>
          </a:p>
        </p:txBody>
      </p:sp>
      <p:sp>
        <p:nvSpPr>
          <p:cNvPr id="12" name="6 из 6">
            <a:extLst>
              <a:ext uri="{FF2B5EF4-FFF2-40B4-BE49-F238E27FC236}">
                <a16:creationId xmlns:a16="http://schemas.microsoft.com/office/drawing/2014/main" id="{DC077FC5-C5AD-4C2D-98B6-BB9DEF0EAB42}"/>
              </a:ext>
            </a:extLst>
          </p:cNvPr>
          <p:cNvSpPr>
            <a:spLocks noGrp="1"/>
          </p:cNvSpPr>
          <p:nvPr/>
        </p:nvSpPr>
        <p:spPr>
          <a:xfrm>
            <a:off x="571500" y="2676525"/>
            <a:ext cx="4191000" cy="9810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6 из 6</a:t>
            </a:r>
          </a:p>
        </p:txBody>
      </p:sp>
      <p:sp>
        <p:nvSpPr>
          <p:cNvPr id="13" name="совпали все четыре&#10;итоговых показателя">
            <a:extLst>
              <a:ext uri="{FF2B5EF4-FFF2-40B4-BE49-F238E27FC236}">
                <a16:creationId xmlns:a16="http://schemas.microsoft.com/office/drawing/2014/main" id="{023FB976-E3C1-44A5-B99B-1819D3059B87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совпали проценты</a:t>
            </a:r>
          </a:p>
          <a:p>
            <a:pPr>
              <a:buNone/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всех четырёх качеств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0DC109E7-EBD9-482A-975D-0B905D2EEC98}"/>
              </a:ext>
            </a:extLst>
          </p:cNvPr>
          <p:cNvGraphicFramePr/>
          <p:nvPr/>
        </p:nvGraphicFramePr>
        <p:xfrm>
          <a:off x="5238750" y="2619375"/>
          <a:ext cx="6381750" cy="2571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 всех 6 оценках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 мышление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Уверенность в себе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53%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Дисциплина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Вовлечённость</a:t>
                      </a:r>
                    </a:p>
                  </a:txBody>
                  <a:tcPr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 cap="flat" cmpd="sng" algn="ctr">
                      <a:solidFill>
                        <a:srgbClr val="D7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Основания с цитатами проходят серверную проверку.">
            <a:extLst>
              <a:ext uri="{FF2B5EF4-FFF2-40B4-BE49-F238E27FC236}">
                <a16:creationId xmlns:a16="http://schemas.microsoft.com/office/drawing/2014/main" id="{CD0DDBD9-0AC9-4283-8DB1-0B211D1AF9D5}"/>
              </a:ext>
            </a:extLst>
          </p:cNvPr>
          <p:cNvSpPr>
            <a:spLocks noGrp="1"/>
          </p:cNvSpPr>
          <p:nvPr/>
        </p:nvSpPr>
        <p:spPr>
          <a:xfrm>
            <a:off x="571500" y="530542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Точность оценки предстоит проверить с экспертами на пилоте.</a:t>
            </a:r>
          </a:p>
        </p:txBody>
      </p:sp>
      <p:sp>
        <p:nvSpPr>
          <p:cNvPr id="16" name="Тестовые персоны, 20.10.2026. Навыки иногда отличались ">
            <a:extLst>
              <a:ext uri="{FF2B5EF4-FFF2-40B4-BE49-F238E27FC236}">
                <a16:creationId xmlns:a16="http://schemas.microsoft.com/office/drawing/2014/main" id="{8C1CB3A2-2806-40F1-B246-D94D331C9EDD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Замер 20.10.2026. Оценки отдельных навыков различались. Один результат потребовал повтора.</a:t>
            </a:r>
          </a:p>
        </p:txBody>
      </p:sp>
    </p:spTree>
    <p:extLst>
      <p:ext uri="{BB962C8B-B14F-4D97-AF65-F5344CB8AC3E}">
        <p14:creationId xmlns:p14="http://schemas.microsoft.com/office/powerpoint/2010/main" val="105040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x">
            <a:extLst>
              <a:ext uri="{FF2B5EF4-FFF2-40B4-BE49-F238E27FC236}">
                <a16:creationId xmlns:a16="http://schemas.microsoft.com/office/drawing/2014/main" id="{71E842BC-49BA-43E3-80E0-5B2EBAB97B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59396AC-175A-4A04-B4F9-25B706DE02DB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8C26809-B71C-4545-BC96-EA88D62DD061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BI ACADEMY">
            <a:extLst>
              <a:ext uri="{FF2B5EF4-FFF2-40B4-BE49-F238E27FC236}">
                <a16:creationId xmlns:a16="http://schemas.microsoft.com/office/drawing/2014/main" id="{AB103EAA-9A2A-4881-8B62-3719EE2E64E5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8" name="Система замечает опасные решения">
            <a:extLst>
              <a:ext uri="{FF2B5EF4-FFF2-40B4-BE49-F238E27FC236}">
                <a16:creationId xmlns:a16="http://schemas.microsoft.com/office/drawing/2014/main" id="{F41A1FD5-299B-4779-A282-DD2FB5942FD1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Пример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выявленного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опасного</a:t>
            </a:r>
            <a:r>
              <a:rPr sz="3450" b="1" dirty="0">
                <a:solidFill>
                  <a:srgbClr val="16213A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решения</a:t>
            </a:r>
            <a:endParaRPr sz="3450" b="1" dirty="0">
              <a:solidFill>
                <a:srgbClr val="162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Пример B1: «постучу по бетону и посмотрю» при недостато">
            <a:extLst>
              <a:ext uri="{FF2B5EF4-FFF2-40B4-BE49-F238E27FC236}">
                <a16:creationId xmlns:a16="http://schemas.microsoft.com/office/drawing/2014/main" id="{8B772136-A27F-4359-B64A-87FA15BDBA49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Тестовая персона предлагает снимать опалубку после проверки «на глаз»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F8FEB24-8B03-41A1-8AAE-355B5216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438944"/>
            <a:ext cx="11049000" cy="185628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A764570-E969-46AE-B6C9-4E046C8A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4516706"/>
            <a:ext cx="11049000" cy="986888"/>
          </a:xfrm>
          <a:prstGeom prst="rect">
            <a:avLst/>
          </a:prstGeom>
        </p:spPr>
      </p:pic>
      <p:sp>
        <p:nvSpPr>
          <p:cNvPr id="32" name="В этом сценарии оценки профессиональных навыков огранич">
            <a:extLst>
              <a:ext uri="{FF2B5EF4-FFF2-40B4-BE49-F238E27FC236}">
                <a16:creationId xmlns:a16="http://schemas.microsoft.com/office/drawing/2014/main" id="{106A7528-C6F3-46D9-9540-C897EE883BA9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В этом сценарии оценки профессиональных навыков ограничены до 25%</a:t>
            </a:r>
          </a:p>
        </p:txBody>
      </p:sp>
      <p:sp>
        <p:nvSpPr>
          <p:cNvPr id="33" name="Реальный ответ модели на тестовую персону. Флаг риска п">
            <a:extLst>
              <a:ext uri="{FF2B5EF4-FFF2-40B4-BE49-F238E27FC236}">
                <a16:creationId xmlns:a16="http://schemas.microsoft.com/office/drawing/2014/main" id="{D10BB5BE-9779-4E1F-8D98-24AC00F43137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Результат проверки сценария B1. Система объяснила риск и сослалась на ответ.</a:t>
            </a:r>
          </a:p>
        </p:txBody>
      </p:sp>
    </p:spTree>
    <p:extLst>
      <p:ext uri="{BB962C8B-B14F-4D97-AF65-F5344CB8AC3E}">
        <p14:creationId xmlns:p14="http://schemas.microsoft.com/office/powerpoint/2010/main" val="75313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x">
            <a:extLst>
              <a:ext uri="{FF2B5EF4-FFF2-40B4-BE49-F238E27FC236}">
                <a16:creationId xmlns:a16="http://schemas.microsoft.com/office/drawing/2014/main" id="{1DC74981-5BF1-43AA-A026-27546280C1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E59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51A888-C6BC-4981-9BCE-FAEF809426D2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1239500" cy="0"/>
          </a:xfrm>
          <a:prstGeom prst="line">
            <a:avLst/>
          </a:prstGeom>
          <a:noFill/>
          <a:ln w="9525">
            <a:solidFill>
              <a:srgbClr val="4650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77C2CFD-9167-420D-8685-B0F8C4165A72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6" name="BI ACADEMY">
            <a:extLst>
              <a:ext uri="{FF2B5EF4-FFF2-40B4-BE49-F238E27FC236}">
                <a16:creationId xmlns:a16="http://schemas.microsoft.com/office/drawing/2014/main" id="{87EC28C8-E06D-4D07-9E04-E1A4FE76EAB8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Низкие расходы на ИИ при масштабировании">
            <a:extLst>
              <a:ext uri="{FF2B5EF4-FFF2-40B4-BE49-F238E27FC236}">
                <a16:creationId xmlns:a16="http://schemas.microsoft.com/office/drawing/2014/main" id="{A68E55FF-8A40-4C53-A915-768B201E7880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Сколько стоит прохождение теста</a:t>
            </a:r>
          </a:p>
        </p:txBody>
      </p:sp>
      <p:sp>
        <p:nvSpPr>
          <p:cNvPr id="28" name="Реальные замеры 20–21 октября 2026 года, стоимость за о">
            <a:extLst>
              <a:ext uri="{FF2B5EF4-FFF2-40B4-BE49-F238E27FC236}">
                <a16:creationId xmlns:a16="http://schemas.microsoft.com/office/drawing/2014/main" id="{3C759563-CF57-4AE0-9FA2-02B09820CC4C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Расходы на ИИ для одного сотрудника по замерам 20–21 октября 2026 года</a:t>
            </a:r>
          </a:p>
        </p:txBody>
      </p:sp>
      <p:sp>
        <p:nvSpPr>
          <p:cNvPr id="29" name="≈ 7,5 ₸">
            <a:extLst>
              <a:ext uri="{FF2B5EF4-FFF2-40B4-BE49-F238E27FC236}">
                <a16:creationId xmlns:a16="http://schemas.microsoft.com/office/drawing/2014/main" id="{3E6D4FB4-8F9C-4058-B5B9-3A9F8B7FD7EF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7,5 ₸</a:t>
            </a:r>
          </a:p>
        </p:txBody>
      </p:sp>
      <p:sp>
        <p:nvSpPr>
          <p:cNvPr id="30" name="Русский язык">
            <a:extLst>
              <a:ext uri="{FF2B5EF4-FFF2-40B4-BE49-F238E27FC236}">
                <a16:creationId xmlns:a16="http://schemas.microsoft.com/office/drawing/2014/main" id="{39B40DB2-D567-4B14-B80D-D63E72F4D4FD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Русский язык</a:t>
            </a:r>
          </a:p>
        </p:txBody>
      </p:sp>
      <p:sp>
        <p:nvSpPr>
          <p:cNvPr id="31" name="≈ 9,2 ₸">
            <a:extLst>
              <a:ext uri="{FF2B5EF4-FFF2-40B4-BE49-F238E27FC236}">
                <a16:creationId xmlns:a16="http://schemas.microsoft.com/office/drawing/2014/main" id="{6E87DEC4-0FC5-48A6-B5A0-E75D80E45A94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9,2 ₸</a:t>
            </a:r>
          </a:p>
        </p:txBody>
      </p:sp>
      <p:sp>
        <p:nvSpPr>
          <p:cNvPr id="32" name="Казахский язык">
            <a:extLst>
              <a:ext uri="{FF2B5EF4-FFF2-40B4-BE49-F238E27FC236}">
                <a16:creationId xmlns:a16="http://schemas.microsoft.com/office/drawing/2014/main" id="{604D7275-1991-4052-AA5A-D2EC23693E7D}"/>
              </a:ext>
            </a:extLst>
          </p:cNvPr>
          <p:cNvSpPr>
            <a:spLocks noGrp="1"/>
          </p:cNvSpPr>
          <p:nvPr/>
        </p:nvSpPr>
        <p:spPr>
          <a:xfrm>
            <a:off x="4333875" y="356235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Казахский язык</a:t>
            </a:r>
          </a:p>
        </p:txBody>
      </p:sp>
      <p:sp>
        <p:nvSpPr>
          <p:cNvPr id="33" name="≈ 8,6 ₸">
            <a:extLst>
              <a:ext uri="{FF2B5EF4-FFF2-40B4-BE49-F238E27FC236}">
                <a16:creationId xmlns:a16="http://schemas.microsoft.com/office/drawing/2014/main" id="{44DAEF02-A483-4C7D-8994-9A4C2974B35F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8,6 ₸</a:t>
            </a:r>
          </a:p>
        </p:txBody>
      </p:sp>
      <p:sp>
        <p:nvSpPr>
          <p:cNvPr id="34" name="Английский язык">
            <a:extLst>
              <a:ext uri="{FF2B5EF4-FFF2-40B4-BE49-F238E27FC236}">
                <a16:creationId xmlns:a16="http://schemas.microsoft.com/office/drawing/2014/main" id="{93DBAB5D-8711-411F-9BAB-73DC061A12DB}"/>
              </a:ext>
            </a:extLst>
          </p:cNvPr>
          <p:cNvSpPr>
            <a:spLocks noGrp="1"/>
          </p:cNvSpPr>
          <p:nvPr/>
        </p:nvSpPr>
        <p:spPr>
          <a:xfrm>
            <a:off x="8096250" y="356235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Английский язык</a:t>
            </a:r>
          </a:p>
        </p:txBody>
      </p:sp>
      <p:sp>
        <p:nvSpPr>
          <p:cNvPr id="35" name="≈ 20 ₸">
            <a:extLst>
              <a:ext uri="{FF2B5EF4-FFF2-40B4-BE49-F238E27FC236}">
                <a16:creationId xmlns:a16="http://schemas.microsoft.com/office/drawing/2014/main" id="{37D0AEAB-E8CF-433E-8A77-7CB011C59FE6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3143250" cy="7334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20 ₸</a:t>
            </a:r>
          </a:p>
        </p:txBody>
      </p:sp>
      <p:sp>
        <p:nvSpPr>
          <p:cNvPr id="36" name="Первый тест + повтор с анализом прогресса&#10;на казахском ">
            <a:extLst>
              <a:ext uri="{FF2B5EF4-FFF2-40B4-BE49-F238E27FC236}">
                <a16:creationId xmlns:a16="http://schemas.microsoft.com/office/drawing/2014/main" id="{388AE2A3-E6AE-452E-B73D-2DBB2CF02DF0}"/>
              </a:ext>
            </a:extLst>
          </p:cNvPr>
          <p:cNvSpPr>
            <a:spLocks noGrp="1"/>
          </p:cNvSpPr>
          <p:nvPr/>
        </p:nvSpPr>
        <p:spPr>
          <a:xfrm>
            <a:off x="4048125" y="44386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Расчёт для двух тестов на казахском:</a:t>
            </a:r>
          </a:p>
          <a:p>
            <a:pPr>
              <a:buNone/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первый и повторный с анализом изменений</a:t>
            </a:r>
          </a:p>
        </p:txBody>
      </p:sp>
      <p:sp>
        <p:nvSpPr>
          <p:cNvPr id="37" name="1,5–2 минуты суммарного ожидания ИИ в базовом прохожден">
            <a:extLst>
              <a:ext uri="{FF2B5EF4-FFF2-40B4-BE49-F238E27FC236}">
                <a16:creationId xmlns:a16="http://schemas.microsoft.com/office/drawing/2014/main" id="{112360E0-1396-4DE0-8322-395BDEE6F7E7}"/>
              </a:ext>
            </a:extLst>
          </p:cNvPr>
          <p:cNvSpPr>
            <a:spLocks noGrp="1"/>
          </p:cNvSpPr>
          <p:nvPr/>
        </p:nvSpPr>
        <p:spPr>
          <a:xfrm>
            <a:off x="571500" y="538162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Ожидание ИИ: 1,5–2 минуты на русском, перевод добавляет 13–20 секунд</a:t>
            </a:r>
          </a:p>
        </p:txBody>
      </p:sp>
      <p:sp>
        <p:nvSpPr>
          <p:cNvPr id="38" name="Только ИИ, без хостинга и сопровождения. Курс отчёта 45">
            <a:extLst>
              <a:ext uri="{FF2B5EF4-FFF2-40B4-BE49-F238E27FC236}">
                <a16:creationId xmlns:a16="http://schemas.microsoft.com/office/drawing/2014/main" id="{CC0B60A5-D7DE-433C-A7DD-A3C8500A1AEA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Только ИИ, без хостинга и сопровождения. Курс отчёта 455 ₸/$. Время ответов человека не включено.</a:t>
            </a:r>
          </a:p>
        </p:txBody>
      </p:sp>
    </p:spTree>
    <p:extLst>
      <p:ext uri="{BB962C8B-B14F-4D97-AF65-F5344CB8AC3E}">
        <p14:creationId xmlns:p14="http://schemas.microsoft.com/office/powerpoint/2010/main" val="102170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5467A3-E368-4192-A17E-70AECFF6B88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BI ACADEMY">
            <a:extLst>
              <a:ext uri="{FF2B5EF4-FFF2-40B4-BE49-F238E27FC236}">
                <a16:creationId xmlns:a16="http://schemas.microsoft.com/office/drawing/2014/main" id="{396C5FDF-A0D7-4EB3-B9B5-44EE75918F42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4" name="Почему стоит выбрать нашу команду">
            <a:extLst>
              <a:ext uri="{FF2B5EF4-FFF2-40B4-BE49-F238E27FC236}">
                <a16:creationId xmlns:a16="http://schemas.microsoft.com/office/drawing/2014/main" id="{718ECBC7-712F-4805-8F12-2935FAE8E194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стоит выбрать BI Academy</a:t>
            </a:r>
          </a:p>
        </p:txBody>
      </p:sp>
      <p:sp>
        <p:nvSpPr>
          <p:cNvPr id="5" name="Мы реализовали полный рабочий путь оценки и развития">
            <a:extLst>
              <a:ext uri="{FF2B5EF4-FFF2-40B4-BE49-F238E27FC236}">
                <a16:creationId xmlns:a16="http://schemas.microsoft.com/office/drawing/2014/main" id="{98764EC9-A3E0-4AFC-81FA-F5B50788B391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Наша команда связала тест, личный план и работу руководителя</a:t>
            </a:r>
          </a:p>
        </p:txBody>
      </p:sp>
      <p:sp>
        <p:nvSpPr>
          <p:cNvPr id="6" name="Польза для компании">
            <a:extLst>
              <a:ext uri="{FF2B5EF4-FFF2-40B4-BE49-F238E27FC236}">
                <a16:creationId xmlns:a16="http://schemas.microsoft.com/office/drawing/2014/main" id="{56F7D117-C633-40E5-83E8-CBDBE07DA322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4524375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Работа с командой</a:t>
            </a:r>
          </a:p>
        </p:txBody>
      </p:sp>
      <p:sp>
        <p:nvSpPr>
          <p:cNvPr id="7" name="Сводка команды, приоритеты развития&#10;и инструменты работ">
            <a:extLst>
              <a:ext uri="{FF2B5EF4-FFF2-40B4-BE49-F238E27FC236}">
                <a16:creationId xmlns:a16="http://schemas.microsoft.com/office/drawing/2014/main" id="{F4D20487-F481-4984-8EDE-31281492EC23}"/>
              </a:ext>
            </a:extLst>
          </p:cNvPr>
          <p:cNvSpPr>
            <a:spLocks noGrp="1"/>
          </p:cNvSpPr>
          <p:nvPr/>
        </p:nvSpPr>
        <p:spPr>
          <a:xfrm>
            <a:off x="5429250" y="2466975"/>
            <a:ext cx="6191250" cy="7334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Результаты сотрудников, их планы</a:t>
            </a:r>
          </a:p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назначение бесед в одном кабинете.</a:t>
            </a:r>
          </a:p>
        </p:txBody>
      </p:sp>
      <p:sp>
        <p:nvSpPr>
          <p:cNvPr id="8" name="Удобство для людей">
            <a:extLst>
              <a:ext uri="{FF2B5EF4-FFF2-40B4-BE49-F238E27FC236}">
                <a16:creationId xmlns:a16="http://schemas.microsoft.com/office/drawing/2014/main" id="{0BFBED22-E2EF-4D19-956F-794D49CCE4AC}"/>
              </a:ext>
            </a:extLst>
          </p:cNvPr>
          <p:cNvSpPr>
            <a:spLocks noGrp="1"/>
          </p:cNvSpPr>
          <p:nvPr/>
        </p:nvSpPr>
        <p:spPr>
          <a:xfrm>
            <a:off x="571500" y="3324225"/>
            <a:ext cx="4524375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Удобство для людей</a:t>
            </a:r>
          </a:p>
        </p:txBody>
      </p:sp>
      <p:sp>
        <p:nvSpPr>
          <p:cNvPr id="9" name="Три языка, сохранение ответов, личный план&#10;и понятные о">
            <a:extLst>
              <a:ext uri="{FF2B5EF4-FFF2-40B4-BE49-F238E27FC236}">
                <a16:creationId xmlns:a16="http://schemas.microsoft.com/office/drawing/2014/main" id="{DA20BE41-DAAA-4C05-9856-B4F68F5DE83D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6191250" cy="7334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Три языка, сохранение ответов, личный план</a:t>
            </a:r>
          </a:p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понятные основания результата.</a:t>
            </a:r>
          </a:p>
        </p:txBody>
      </p:sp>
      <p:sp>
        <p:nvSpPr>
          <p:cNvPr id="10" name="Проверяемая основа">
            <a:extLst>
              <a:ext uri="{FF2B5EF4-FFF2-40B4-BE49-F238E27FC236}">
                <a16:creationId xmlns:a16="http://schemas.microsoft.com/office/drawing/2014/main" id="{949E3078-2F19-437E-8C37-E674A885AC77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4524375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Проверенные цифры</a:t>
            </a:r>
          </a:p>
        </p:txBody>
      </p:sp>
      <p:sp>
        <p:nvSpPr>
          <p:cNvPr id="11" name="Реальные замеры стоимости и повторяемости,&#10;сохранённые ">
            <a:extLst>
              <a:ext uri="{FF2B5EF4-FFF2-40B4-BE49-F238E27FC236}">
                <a16:creationId xmlns:a16="http://schemas.microsoft.com/office/drawing/2014/main" id="{8026315A-66BA-4E0E-88BE-C999ACA92C80}"/>
              </a:ext>
            </a:extLst>
          </p:cNvPr>
          <p:cNvSpPr>
            <a:spLocks noGrp="1"/>
          </p:cNvSpPr>
          <p:nvPr/>
        </p:nvSpPr>
        <p:spPr>
          <a:xfrm>
            <a:off x="5429250" y="4105275"/>
            <a:ext cx="6191250" cy="7334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Измерили расходы на ИИ</a:t>
            </a:r>
          </a:p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повторяемость итоговых процентов.</a:t>
            </a:r>
          </a:p>
        </p:txBody>
      </p:sp>
      <p:sp>
        <p:nvSpPr>
          <p:cNvPr id="12" name="Следующий шаг: пилот с сотрудниками и профильными экспе">
            <a:extLst>
              <a:ext uri="{FF2B5EF4-FFF2-40B4-BE49-F238E27FC236}">
                <a16:creationId xmlns:a16="http://schemas.microsoft.com/office/drawing/2014/main" id="{0FA9CB92-1F95-461B-A8C2-901FD57CC37A}"/>
              </a:ext>
            </a:extLst>
          </p:cNvPr>
          <p:cNvSpPr>
            <a:spLocks noGrp="1"/>
          </p:cNvSpPr>
          <p:nvPr/>
        </p:nvSpPr>
        <p:spPr>
          <a:xfrm>
            <a:off x="571500" y="5143500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Следующий шаг: пилот с сотрудниками и профильными экспертами</a:t>
            </a:r>
          </a:p>
        </p:txBody>
      </p:sp>
      <p:sp>
        <p:nvSpPr>
          <p:cNvPr id="13" name="Наседкин Максим">
            <a:extLst>
              <a:ext uri="{FF2B5EF4-FFF2-40B4-BE49-F238E27FC236}">
                <a16:creationId xmlns:a16="http://schemas.microsoft.com/office/drawing/2014/main" id="{9E43CEAC-F04B-4005-9784-CE759A763731}"/>
              </a:ext>
            </a:extLst>
          </p:cNvPr>
          <p:cNvSpPr>
            <a:spLocks noGrp="1"/>
          </p:cNvSpPr>
          <p:nvPr/>
        </p:nvSpPr>
        <p:spPr>
          <a:xfrm>
            <a:off x="571500" y="583882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Наседкин Максим</a:t>
            </a:r>
          </a:p>
        </p:txBody>
      </p:sp>
      <p:sp>
        <p:nvSpPr>
          <p:cNvPr id="14" name="Чапанов Альберт">
            <a:extLst>
              <a:ext uri="{FF2B5EF4-FFF2-40B4-BE49-F238E27FC236}">
                <a16:creationId xmlns:a16="http://schemas.microsoft.com/office/drawing/2014/main" id="{96BF2AA5-540E-4BB1-B57B-9FD5376B27F6}"/>
              </a:ext>
            </a:extLst>
          </p:cNvPr>
          <p:cNvSpPr>
            <a:spLocks noGrp="1"/>
          </p:cNvSpPr>
          <p:nvPr/>
        </p:nvSpPr>
        <p:spPr>
          <a:xfrm>
            <a:off x="4333875" y="583882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Чапанов Альберт</a:t>
            </a:r>
          </a:p>
        </p:txBody>
      </p:sp>
      <p:sp>
        <p:nvSpPr>
          <p:cNvPr id="15" name="Варварюк Андрей">
            <a:extLst>
              <a:ext uri="{FF2B5EF4-FFF2-40B4-BE49-F238E27FC236}">
                <a16:creationId xmlns:a16="http://schemas.microsoft.com/office/drawing/2014/main" id="{9AB5FEC0-5A66-404A-A060-DDE4B777876A}"/>
              </a:ext>
            </a:extLst>
          </p:cNvPr>
          <p:cNvSpPr>
            <a:spLocks noGrp="1"/>
          </p:cNvSpPr>
          <p:nvPr/>
        </p:nvSpPr>
        <p:spPr>
          <a:xfrm>
            <a:off x="8096250" y="5838825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Варварюк Андрей</a:t>
            </a:r>
          </a:p>
        </p:txBody>
      </p:sp>
    </p:spTree>
    <p:extLst>
      <p:ext uri="{BB962C8B-B14F-4D97-AF65-F5344CB8AC3E}">
        <p14:creationId xmlns:p14="http://schemas.microsoft.com/office/powerpoint/2010/main" val="1521957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1468</Words>
  <Application>Microsoft Office PowerPoint</Application>
  <DocSecurity>0</DocSecurity>
  <PresentationFormat>Широкоэкранный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Наседкин</cp:lastModifiedBy>
  <cp:revision>1</cp:revision>
  <dcterms:created xsi:type="dcterms:W3CDTF">2026-10-21T06:59:19Z</dcterms:created>
  <dcterms:modified xsi:type="dcterms:W3CDTF">2026-10-21T07:06:48Z</dcterms:modified>
</cp:coreProperties>
</file>